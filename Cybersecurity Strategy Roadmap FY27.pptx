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35"/>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C35"/>
          </a:solidFill>
          <a:ln w="12700">
            <a:solidFill>
              <a:srgbClr val="0F1C35"/>
            </a:solidFill>
            <a:prstDash val="solid"/>
          </a:ln>
        </p:spPr>
      </p:sp>
      <p:sp>
        <p:nvSpPr>
          <p:cNvPr id="3" name="Shape 1"/>
          <p:cNvSpPr/>
          <p:nvPr/>
        </p:nvSpPr>
        <p:spPr>
          <a:xfrm>
            <a:off x="5029200" y="-1371600"/>
            <a:ext cx="5486400" cy="5486400"/>
          </a:xfrm>
          <a:prstGeom prst="ellipse">
            <a:avLst/>
          </a:prstGeom>
          <a:solidFill>
            <a:srgbClr val="00A5B5">
              <a:alpha val="12000"/>
            </a:srgbClr>
          </a:solidFill>
          <a:ln w="12700">
            <a:solidFill>
              <a:srgbClr val="00A5B5">
                <a:alpha val="10000"/>
              </a:srgbClr>
            </a:solidFill>
            <a:prstDash val="solid"/>
          </a:ln>
        </p:spPr>
      </p:sp>
      <p:sp>
        <p:nvSpPr>
          <p:cNvPr id="4" name="Shape 2"/>
          <p:cNvSpPr/>
          <p:nvPr/>
        </p:nvSpPr>
        <p:spPr>
          <a:xfrm>
            <a:off x="0" y="0"/>
            <a:ext cx="64008" cy="5143500"/>
          </a:xfrm>
          <a:prstGeom prst="rect">
            <a:avLst/>
          </a:prstGeom>
          <a:solidFill>
            <a:srgbClr val="00A5B5"/>
          </a:solidFill>
          <a:ln w="12700">
            <a:solidFill>
              <a:srgbClr val="00A5B5"/>
            </a:solidFill>
            <a:prstDash val="solid"/>
          </a:ln>
        </p:spPr>
      </p:sp>
      <p:sp>
        <p:nvSpPr>
          <p:cNvPr id="5" name="Text 3"/>
          <p:cNvSpPr/>
          <p:nvPr/>
        </p:nvSpPr>
        <p:spPr>
          <a:xfrm>
            <a:off x="457200" y="411480"/>
            <a:ext cx="7315200" cy="228600"/>
          </a:xfrm>
          <a:prstGeom prst="rect">
            <a:avLst/>
          </a:prstGeom>
          <a:noFill/>
          <a:ln/>
        </p:spPr>
        <p:txBody>
          <a:bodyPr wrap="square" lIns="0" tIns="0" rIns="0" bIns="0" rtlCol="0" anchor="ctr"/>
          <a:lstStyle/>
          <a:p>
            <a:pPr indent="0" marL="0">
              <a:buNone/>
            </a:pPr>
            <a:r>
              <a:rPr lang="en-US" sz="900" b="1" spc="400" kern="0" dirty="0">
                <a:solidFill>
                  <a:srgbClr val="00A5B5"/>
                </a:solidFill>
                <a:latin typeface="Calibri" pitchFamily="34" charset="0"/>
                <a:ea typeface="Calibri" pitchFamily="34" charset="-122"/>
                <a:cs typeface="Calibri" pitchFamily="34" charset="-120"/>
              </a:rPr>
              <a:t>FLEETPARTNERS  ·  INTERNAL USE ONLY</a:t>
            </a:r>
            <a:endParaRPr lang="en-US" sz="900" dirty="0"/>
          </a:p>
        </p:txBody>
      </p:sp>
      <p:sp>
        <p:nvSpPr>
          <p:cNvPr id="6" name="Text 4"/>
          <p:cNvSpPr/>
          <p:nvPr/>
        </p:nvSpPr>
        <p:spPr>
          <a:xfrm>
            <a:off x="457200" y="685800"/>
            <a:ext cx="7772400" cy="182880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Unaddressed Security Gaps Put FleetPartners at </a:t>
            </a:r>
            <a:pPr indent="0" marL="0">
              <a:buNone/>
            </a:pPr>
            <a:r>
              <a:rPr lang="en-US" sz="2800" b="1" dirty="0">
                <a:solidFill>
                  <a:srgbClr val="00A5B5"/>
                </a:solidFill>
                <a:latin typeface="Calibri" pitchFamily="34" charset="0"/>
                <a:ea typeface="Calibri" pitchFamily="34" charset="-122"/>
                <a:cs typeface="Calibri" pitchFamily="34" charset="-120"/>
              </a:rPr>
              <a:t>Material Risk</a:t>
            </a:r>
            <a:pPr indent="0" marL="0">
              <a:buNone/>
            </a:pPr>
            <a:r>
              <a:rPr lang="en-US" sz="2800" b="1" dirty="0">
                <a:solidFill>
                  <a:srgbClr val="FFFFFF"/>
                </a:solidFill>
                <a:latin typeface="Calibri" pitchFamily="34" charset="0"/>
                <a:ea typeface="Calibri" pitchFamily="34" charset="-122"/>
                <a:cs typeface="Calibri" pitchFamily="34" charset="-120"/>
              </a:rPr>
              <a:t> of Breach,</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Non-Compliance and Customer Attrition</a:t>
            </a:r>
            <a:endParaRPr lang="en-US" sz="2800" dirty="0"/>
          </a:p>
        </p:txBody>
      </p:sp>
      <p:sp>
        <p:nvSpPr>
          <p:cNvPr id="7" name="Text 5"/>
          <p:cNvSpPr/>
          <p:nvPr/>
        </p:nvSpPr>
        <p:spPr>
          <a:xfrm>
            <a:off x="457200" y="2606040"/>
            <a:ext cx="6858000" cy="594360"/>
          </a:xfrm>
          <a:prstGeom prst="rect">
            <a:avLst/>
          </a:prstGeom>
          <a:noFill/>
          <a:ln/>
        </p:spPr>
        <p:txBody>
          <a:bodyPr wrap="square" lIns="0" tIns="0" rIns="0" bIns="0" rtlCol="0" anchor="t"/>
          <a:lstStyle/>
          <a:p>
            <a:pPr indent="0" marL="0">
              <a:buNone/>
            </a:pPr>
            <a:r>
              <a:rPr lang="en-US" sz="1250" dirty="0">
                <a:solidFill>
                  <a:srgbClr val="AABBCC"/>
                </a:solidFill>
                <a:latin typeface="Calibri" pitchFamily="34" charset="0"/>
                <a:ea typeface="Calibri" pitchFamily="34" charset="-122"/>
                <a:cs typeface="Calibri" pitchFamily="34" charset="-120"/>
              </a:rPr>
              <a:t>A 12-Month Cybersecurity Strategy Roadmap to achieve ISO 27001:2022 alignment,</a:t>
            </a:r>
            <a:endParaRPr lang="en-US" sz="1250" dirty="0"/>
          </a:p>
          <a:p>
            <a:pPr indent="0" marL="0">
              <a:buNone/>
            </a:pPr>
            <a:r>
              <a:rPr lang="en-US" sz="1250" dirty="0">
                <a:solidFill>
                  <a:srgbClr val="AABBCC"/>
                </a:solidFill>
                <a:latin typeface="Calibri" pitchFamily="34" charset="0"/>
                <a:ea typeface="Calibri" pitchFamily="34" charset="-122"/>
                <a:cs typeface="Calibri" pitchFamily="34" charset="-120"/>
              </a:rPr>
              <a:t>reduce exposure, and build enduring cyber resilience</a:t>
            </a:r>
            <a:endParaRPr lang="en-US" sz="1250" dirty="0"/>
          </a:p>
        </p:txBody>
      </p:sp>
      <p:sp>
        <p:nvSpPr>
          <p:cNvPr id="8" name="Text 6"/>
          <p:cNvSpPr/>
          <p:nvPr/>
        </p:nvSpPr>
        <p:spPr>
          <a:xfrm>
            <a:off x="457200" y="3401568"/>
            <a:ext cx="1554480" cy="164592"/>
          </a:xfrm>
          <a:prstGeom prst="rect">
            <a:avLst/>
          </a:prstGeom>
          <a:noFill/>
          <a:ln/>
        </p:spPr>
        <p:txBody>
          <a:bodyPr wrap="square" lIns="0" tIns="0" rIns="0" bIns="0" rtlCol="0" anchor="ctr"/>
          <a:lstStyle/>
          <a:p>
            <a:pPr indent="0" marL="0">
              <a:buNone/>
            </a:pPr>
            <a:r>
              <a:rPr lang="en-US" sz="950" b="1" dirty="0">
                <a:solidFill>
                  <a:srgbClr val="CCDCEE"/>
                </a:solidFill>
                <a:latin typeface="Calibri" pitchFamily="34" charset="0"/>
                <a:ea typeface="Calibri" pitchFamily="34" charset="-122"/>
                <a:cs typeface="Calibri" pitchFamily="34" charset="-120"/>
              </a:rPr>
              <a:t>FY27</a:t>
            </a:r>
            <a:endParaRPr lang="en-US" sz="950" dirty="0"/>
          </a:p>
        </p:txBody>
      </p:sp>
      <p:sp>
        <p:nvSpPr>
          <p:cNvPr id="9" name="Text 7"/>
          <p:cNvSpPr/>
          <p:nvPr/>
        </p:nvSpPr>
        <p:spPr>
          <a:xfrm>
            <a:off x="457200" y="3584448"/>
            <a:ext cx="1554480" cy="164592"/>
          </a:xfrm>
          <a:prstGeom prst="rect">
            <a:avLst/>
          </a:prstGeom>
          <a:noFill/>
          <a:ln/>
        </p:spPr>
        <p:txBody>
          <a:bodyPr wrap="square" lIns="0" tIns="0" rIns="0" bIns="0" rtlCol="0" anchor="ctr"/>
          <a:lstStyle/>
          <a:p>
            <a:pPr indent="0" marL="0">
              <a:buNone/>
            </a:pPr>
            <a:r>
              <a:rPr lang="en-US" sz="900" dirty="0">
                <a:solidFill>
                  <a:srgbClr val="7799BB"/>
                </a:solidFill>
                <a:latin typeface="Calibri" pitchFamily="34" charset="0"/>
                <a:ea typeface="Calibri" pitchFamily="34" charset="-122"/>
                <a:cs typeface="Calibri" pitchFamily="34" charset="-120"/>
              </a:rPr>
              <a:t>Oct 2026 — Sep 2027</a:t>
            </a:r>
            <a:endParaRPr lang="en-US" sz="900" dirty="0"/>
          </a:p>
        </p:txBody>
      </p:sp>
      <p:sp>
        <p:nvSpPr>
          <p:cNvPr id="10" name="Shape 8"/>
          <p:cNvSpPr/>
          <p:nvPr/>
        </p:nvSpPr>
        <p:spPr>
          <a:xfrm>
            <a:off x="2103120" y="3401568"/>
            <a:ext cx="9144" cy="347472"/>
          </a:xfrm>
          <a:prstGeom prst="rect">
            <a:avLst/>
          </a:prstGeom>
          <a:solidFill>
            <a:srgbClr val="2A4060"/>
          </a:solidFill>
          <a:ln w="12700">
            <a:solidFill>
              <a:srgbClr val="2A4060"/>
            </a:solidFill>
            <a:prstDash val="solid"/>
          </a:ln>
        </p:spPr>
      </p:sp>
      <p:sp>
        <p:nvSpPr>
          <p:cNvPr id="11" name="Text 9"/>
          <p:cNvSpPr/>
          <p:nvPr/>
        </p:nvSpPr>
        <p:spPr>
          <a:xfrm>
            <a:off x="2377440" y="3401568"/>
            <a:ext cx="1554480" cy="164592"/>
          </a:xfrm>
          <a:prstGeom prst="rect">
            <a:avLst/>
          </a:prstGeom>
          <a:noFill/>
          <a:ln/>
        </p:spPr>
        <p:txBody>
          <a:bodyPr wrap="square" lIns="0" tIns="0" rIns="0" bIns="0" rtlCol="0" anchor="ctr"/>
          <a:lstStyle/>
          <a:p>
            <a:pPr indent="0" marL="0">
              <a:buNone/>
            </a:pPr>
            <a:r>
              <a:rPr lang="en-US" sz="950" b="1" dirty="0">
                <a:solidFill>
                  <a:srgbClr val="CCDCEE"/>
                </a:solidFill>
                <a:latin typeface="Calibri" pitchFamily="34" charset="0"/>
                <a:ea typeface="Calibri" pitchFamily="34" charset="-122"/>
                <a:cs typeface="Calibri" pitchFamily="34" charset="-120"/>
              </a:rPr>
              <a:t>Framework</a:t>
            </a:r>
            <a:endParaRPr lang="en-US" sz="950" dirty="0"/>
          </a:p>
        </p:txBody>
      </p:sp>
      <p:sp>
        <p:nvSpPr>
          <p:cNvPr id="12" name="Text 10"/>
          <p:cNvSpPr/>
          <p:nvPr/>
        </p:nvSpPr>
        <p:spPr>
          <a:xfrm>
            <a:off x="2377440" y="3584448"/>
            <a:ext cx="1554480" cy="164592"/>
          </a:xfrm>
          <a:prstGeom prst="rect">
            <a:avLst/>
          </a:prstGeom>
          <a:noFill/>
          <a:ln/>
        </p:spPr>
        <p:txBody>
          <a:bodyPr wrap="square" lIns="0" tIns="0" rIns="0" bIns="0" rtlCol="0" anchor="ctr"/>
          <a:lstStyle/>
          <a:p>
            <a:pPr indent="0" marL="0">
              <a:buNone/>
            </a:pPr>
            <a:r>
              <a:rPr lang="en-US" sz="900" dirty="0">
                <a:solidFill>
                  <a:srgbClr val="7799BB"/>
                </a:solidFill>
                <a:latin typeface="Calibri" pitchFamily="34" charset="0"/>
                <a:ea typeface="Calibri" pitchFamily="34" charset="-122"/>
                <a:cs typeface="Calibri" pitchFamily="34" charset="-120"/>
              </a:rPr>
              <a:t>ISO 27001:2022</a:t>
            </a:r>
            <a:endParaRPr lang="en-US" sz="900" dirty="0"/>
          </a:p>
        </p:txBody>
      </p:sp>
      <p:sp>
        <p:nvSpPr>
          <p:cNvPr id="13" name="Shape 11"/>
          <p:cNvSpPr/>
          <p:nvPr/>
        </p:nvSpPr>
        <p:spPr>
          <a:xfrm>
            <a:off x="4023360" y="3401568"/>
            <a:ext cx="9144" cy="347472"/>
          </a:xfrm>
          <a:prstGeom prst="rect">
            <a:avLst/>
          </a:prstGeom>
          <a:solidFill>
            <a:srgbClr val="2A4060"/>
          </a:solidFill>
          <a:ln w="12700">
            <a:solidFill>
              <a:srgbClr val="2A4060"/>
            </a:solidFill>
            <a:prstDash val="solid"/>
          </a:ln>
        </p:spPr>
      </p:sp>
      <p:sp>
        <p:nvSpPr>
          <p:cNvPr id="14" name="Text 12"/>
          <p:cNvSpPr/>
          <p:nvPr/>
        </p:nvSpPr>
        <p:spPr>
          <a:xfrm>
            <a:off x="4297680" y="3401568"/>
            <a:ext cx="1554480" cy="164592"/>
          </a:xfrm>
          <a:prstGeom prst="rect">
            <a:avLst/>
          </a:prstGeom>
          <a:noFill/>
          <a:ln/>
        </p:spPr>
        <p:txBody>
          <a:bodyPr wrap="square" lIns="0" tIns="0" rIns="0" bIns="0" rtlCol="0" anchor="ctr"/>
          <a:lstStyle/>
          <a:p>
            <a:pPr indent="0" marL="0">
              <a:buNone/>
            </a:pPr>
            <a:r>
              <a:rPr lang="en-US" sz="950" b="1" dirty="0">
                <a:solidFill>
                  <a:srgbClr val="CCDCEE"/>
                </a:solidFill>
                <a:latin typeface="Calibri" pitchFamily="34" charset="0"/>
                <a:ea typeface="Calibri" pitchFamily="34" charset="-122"/>
                <a:cs typeface="Calibri" pitchFamily="34" charset="-120"/>
              </a:rPr>
              <a:t>Classification</a:t>
            </a:r>
            <a:endParaRPr lang="en-US" sz="950" dirty="0"/>
          </a:p>
        </p:txBody>
      </p:sp>
      <p:sp>
        <p:nvSpPr>
          <p:cNvPr id="15" name="Text 13"/>
          <p:cNvSpPr/>
          <p:nvPr/>
        </p:nvSpPr>
        <p:spPr>
          <a:xfrm>
            <a:off x="4297680" y="3584448"/>
            <a:ext cx="1554480" cy="164592"/>
          </a:xfrm>
          <a:prstGeom prst="rect">
            <a:avLst/>
          </a:prstGeom>
          <a:noFill/>
          <a:ln/>
        </p:spPr>
        <p:txBody>
          <a:bodyPr wrap="square" lIns="0" tIns="0" rIns="0" bIns="0" rtlCol="0" anchor="ctr"/>
          <a:lstStyle/>
          <a:p>
            <a:pPr indent="0" marL="0">
              <a:buNone/>
            </a:pPr>
            <a:r>
              <a:rPr lang="en-US" sz="900" dirty="0">
                <a:solidFill>
                  <a:srgbClr val="7799BB"/>
                </a:solidFill>
                <a:latin typeface="Calibri" pitchFamily="34" charset="0"/>
                <a:ea typeface="Calibri" pitchFamily="34" charset="-122"/>
                <a:cs typeface="Calibri" pitchFamily="34" charset="-120"/>
              </a:rPr>
              <a:t>Confidential</a:t>
            </a:r>
            <a:endParaRPr lang="en-US" sz="900" dirty="0"/>
          </a:p>
        </p:txBody>
      </p:sp>
      <p:sp>
        <p:nvSpPr>
          <p:cNvPr id="16" name="Shape 14"/>
          <p:cNvSpPr/>
          <p:nvPr/>
        </p:nvSpPr>
        <p:spPr>
          <a:xfrm>
            <a:off x="5943600" y="3401568"/>
            <a:ext cx="9144" cy="347472"/>
          </a:xfrm>
          <a:prstGeom prst="rect">
            <a:avLst/>
          </a:prstGeom>
          <a:solidFill>
            <a:srgbClr val="2A4060"/>
          </a:solidFill>
          <a:ln w="12700">
            <a:solidFill>
              <a:srgbClr val="2A4060"/>
            </a:solidFill>
            <a:prstDash val="solid"/>
          </a:ln>
        </p:spPr>
      </p:sp>
      <p:sp>
        <p:nvSpPr>
          <p:cNvPr id="17" name="Text 15"/>
          <p:cNvSpPr/>
          <p:nvPr/>
        </p:nvSpPr>
        <p:spPr>
          <a:xfrm>
            <a:off x="6217920" y="3401568"/>
            <a:ext cx="1554480" cy="164592"/>
          </a:xfrm>
          <a:prstGeom prst="rect">
            <a:avLst/>
          </a:prstGeom>
          <a:noFill/>
          <a:ln/>
        </p:spPr>
        <p:txBody>
          <a:bodyPr wrap="square" lIns="0" tIns="0" rIns="0" bIns="0" rtlCol="0" anchor="ctr"/>
          <a:lstStyle/>
          <a:p>
            <a:pPr indent="0" marL="0">
              <a:buNone/>
            </a:pPr>
            <a:r>
              <a:rPr lang="en-US" sz="950" b="1" dirty="0">
                <a:solidFill>
                  <a:srgbClr val="CCDCEE"/>
                </a:solidFill>
                <a:latin typeface="Calibri" pitchFamily="34" charset="0"/>
                <a:ea typeface="Calibri" pitchFamily="34" charset="-122"/>
                <a:cs typeface="Calibri" pitchFamily="34" charset="-120"/>
              </a:rPr>
              <a:t>Version</a:t>
            </a:r>
            <a:endParaRPr lang="en-US" sz="950" dirty="0"/>
          </a:p>
        </p:txBody>
      </p:sp>
      <p:sp>
        <p:nvSpPr>
          <p:cNvPr id="18" name="Text 16"/>
          <p:cNvSpPr/>
          <p:nvPr/>
        </p:nvSpPr>
        <p:spPr>
          <a:xfrm>
            <a:off x="6217920" y="3584448"/>
            <a:ext cx="1554480" cy="164592"/>
          </a:xfrm>
          <a:prstGeom prst="rect">
            <a:avLst/>
          </a:prstGeom>
          <a:noFill/>
          <a:ln/>
        </p:spPr>
        <p:txBody>
          <a:bodyPr wrap="square" lIns="0" tIns="0" rIns="0" bIns="0" rtlCol="0" anchor="ctr"/>
          <a:lstStyle/>
          <a:p>
            <a:pPr indent="0" marL="0">
              <a:buNone/>
            </a:pPr>
            <a:r>
              <a:rPr lang="en-US" sz="900" dirty="0">
                <a:solidFill>
                  <a:srgbClr val="7799BB"/>
                </a:solidFill>
                <a:latin typeface="Calibri" pitchFamily="34" charset="0"/>
                <a:ea typeface="Calibri" pitchFamily="34" charset="-122"/>
                <a:cs typeface="Calibri" pitchFamily="34" charset="-120"/>
              </a:rPr>
              <a:t>1.0 · Apr 2026</a:t>
            </a:r>
            <a:endParaRPr lang="en-US" sz="900" dirty="0"/>
          </a:p>
        </p:txBody>
      </p:sp>
      <p:sp>
        <p:nvSpPr>
          <p:cNvPr id="19" name="Shape 17"/>
          <p:cNvSpPr/>
          <p:nvPr/>
        </p:nvSpPr>
        <p:spPr>
          <a:xfrm>
            <a:off x="64008" y="5093208"/>
            <a:ext cx="9079992" cy="50292"/>
          </a:xfrm>
          <a:prstGeom prst="rect">
            <a:avLst/>
          </a:prstGeom>
          <a:solidFill>
            <a:srgbClr val="1A3A50"/>
          </a:solidFill>
          <a:ln w="12700">
            <a:solidFill>
              <a:srgbClr val="1A3A50"/>
            </a:solidFill>
            <a:prstDash val="solid"/>
          </a:ln>
        </p:spPr>
      </p:sp>
      <p:sp>
        <p:nvSpPr>
          <p:cNvPr id="20" name="Shape 18"/>
          <p:cNvSpPr/>
          <p:nvPr/>
        </p:nvSpPr>
        <p:spPr>
          <a:xfrm>
            <a:off x="8503920" y="4549140"/>
            <a:ext cx="384048" cy="384048"/>
          </a:xfrm>
          <a:prstGeom prst="ellipse">
            <a:avLst/>
          </a:prstGeom>
          <a:solidFill>
            <a:srgbClr val="1E3252"/>
          </a:solidFill>
          <a:ln w="12700">
            <a:solidFill>
              <a:srgbClr val="2A4060"/>
            </a:solidFill>
            <a:prstDash val="solid"/>
          </a:ln>
        </p:spPr>
      </p:sp>
      <p:sp>
        <p:nvSpPr>
          <p:cNvPr id="21" name="Text 19"/>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22" name="Text 20"/>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5A7A9A"/>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C35"/>
          </a:solidFill>
          <a:ln w="12700">
            <a:solidFill>
              <a:srgbClr val="0F1C35"/>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00A5B5"/>
                </a:solidFill>
                <a:latin typeface="Calibri" pitchFamily="34" charset="0"/>
                <a:ea typeface="Calibri" pitchFamily="34" charset="-122"/>
                <a:cs typeface="Calibri" pitchFamily="34" charset="-120"/>
              </a:rPr>
              <a:t>THE CASE FOR ACTION</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Four converging pressures make FY27 the critical window to act — delay compounds both risk and exposure</a:t>
            </a:r>
            <a:endParaRPr lang="en-US" sz="1700" dirty="0"/>
          </a:p>
        </p:txBody>
      </p:sp>
      <p:sp>
        <p:nvSpPr>
          <p:cNvPr id="5" name="Shape 3"/>
          <p:cNvSpPr/>
          <p:nvPr/>
        </p:nvSpPr>
        <p:spPr>
          <a:xfrm>
            <a:off x="457200" y="1115568"/>
            <a:ext cx="3200400" cy="1536192"/>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457200" y="1115568"/>
            <a:ext cx="41148" cy="1536192"/>
          </a:xfrm>
          <a:prstGeom prst="rect">
            <a:avLst/>
          </a:prstGeom>
          <a:solidFill>
            <a:srgbClr val="D94F3D"/>
          </a:solidFill>
          <a:ln w="12700">
            <a:solidFill>
              <a:srgbClr val="D94F3D"/>
            </a:solidFill>
            <a:prstDash val="solid"/>
          </a:ln>
        </p:spPr>
      </p:sp>
      <p:sp>
        <p:nvSpPr>
          <p:cNvPr id="7" name="Text 5"/>
          <p:cNvSpPr/>
          <p:nvPr/>
        </p:nvSpPr>
        <p:spPr>
          <a:xfrm>
            <a:off x="548640" y="1179576"/>
            <a:ext cx="306324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Regulatory &amp; Customer Exposure</a:t>
            </a:r>
            <a:endParaRPr lang="en-US" sz="1000" dirty="0"/>
          </a:p>
        </p:txBody>
      </p:sp>
      <p:sp>
        <p:nvSpPr>
          <p:cNvPr id="8" name="Text 6"/>
          <p:cNvSpPr/>
          <p:nvPr/>
        </p:nvSpPr>
        <p:spPr>
          <a:xfrm>
            <a:off x="548640" y="1362456"/>
            <a:ext cx="3063240" cy="1078992"/>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Inability to produce ISO 27001:2022 evidence suppresses contract wins. Enterprise clients increasingly mandate ISO compliance as a vendor qualification criterion — a gap FleetPartners cannot afford.</a:t>
            </a:r>
            <a:endParaRPr lang="en-US" sz="850" dirty="0"/>
          </a:p>
        </p:txBody>
      </p:sp>
      <p:sp>
        <p:nvSpPr>
          <p:cNvPr id="9" name="Shape 7"/>
          <p:cNvSpPr/>
          <p:nvPr/>
        </p:nvSpPr>
        <p:spPr>
          <a:xfrm>
            <a:off x="548640" y="2450592"/>
            <a:ext cx="406908" cy="155448"/>
          </a:xfrm>
          <a:prstGeom prst="roundRect">
            <a:avLst>
              <a:gd name="adj" fmla="val 23529"/>
            </a:avLst>
          </a:prstGeom>
          <a:solidFill>
            <a:srgbClr val="E0F5F7"/>
          </a:solidFill>
          <a:ln w="12700">
            <a:solidFill>
              <a:srgbClr val="B3E8EC"/>
            </a:solidFill>
            <a:prstDash val="solid"/>
          </a:ln>
        </p:spPr>
      </p:sp>
      <p:sp>
        <p:nvSpPr>
          <p:cNvPr id="10" name="Text 8"/>
          <p:cNvSpPr/>
          <p:nvPr/>
        </p:nvSpPr>
        <p:spPr>
          <a:xfrm>
            <a:off x="548640" y="2450592"/>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a:t>
            </a:r>
            <a:endParaRPr lang="en-US" sz="700" dirty="0"/>
          </a:p>
        </p:txBody>
      </p:sp>
      <p:sp>
        <p:nvSpPr>
          <p:cNvPr id="11" name="Shape 9"/>
          <p:cNvSpPr/>
          <p:nvPr/>
        </p:nvSpPr>
        <p:spPr>
          <a:xfrm>
            <a:off x="1001268" y="2450592"/>
            <a:ext cx="406908" cy="155448"/>
          </a:xfrm>
          <a:prstGeom prst="roundRect">
            <a:avLst>
              <a:gd name="adj" fmla="val 23529"/>
            </a:avLst>
          </a:prstGeom>
          <a:solidFill>
            <a:srgbClr val="E0F5F7"/>
          </a:solidFill>
          <a:ln w="12700">
            <a:solidFill>
              <a:srgbClr val="B3E8EC"/>
            </a:solidFill>
            <a:prstDash val="solid"/>
          </a:ln>
        </p:spPr>
      </p:sp>
      <p:sp>
        <p:nvSpPr>
          <p:cNvPr id="12" name="Text 10"/>
          <p:cNvSpPr/>
          <p:nvPr/>
        </p:nvSpPr>
        <p:spPr>
          <a:xfrm>
            <a:off x="1001268" y="2450592"/>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A.5.2</a:t>
            </a:r>
            <a:endParaRPr lang="en-US" sz="700" dirty="0"/>
          </a:p>
        </p:txBody>
      </p:sp>
      <p:sp>
        <p:nvSpPr>
          <p:cNvPr id="13" name="Shape 11"/>
          <p:cNvSpPr/>
          <p:nvPr/>
        </p:nvSpPr>
        <p:spPr>
          <a:xfrm>
            <a:off x="457200" y="2743200"/>
            <a:ext cx="3200400" cy="1536192"/>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457200" y="2743200"/>
            <a:ext cx="41148" cy="1536192"/>
          </a:xfrm>
          <a:prstGeom prst="rect">
            <a:avLst/>
          </a:prstGeom>
          <a:solidFill>
            <a:srgbClr val="D94F3D"/>
          </a:solidFill>
          <a:ln w="12700">
            <a:solidFill>
              <a:srgbClr val="D94F3D"/>
            </a:solidFill>
            <a:prstDash val="solid"/>
          </a:ln>
        </p:spPr>
      </p:sp>
      <p:sp>
        <p:nvSpPr>
          <p:cNvPr id="15" name="Text 13"/>
          <p:cNvSpPr/>
          <p:nvPr/>
        </p:nvSpPr>
        <p:spPr>
          <a:xfrm>
            <a:off x="548640" y="2807208"/>
            <a:ext cx="306324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Maturity Rated 0.95 / 3.0 on ACSC Essential Eight</a:t>
            </a:r>
            <a:endParaRPr lang="en-US" sz="1000" dirty="0"/>
          </a:p>
        </p:txBody>
      </p:sp>
      <p:sp>
        <p:nvSpPr>
          <p:cNvPr id="16" name="Text 14"/>
          <p:cNvSpPr/>
          <p:nvPr/>
        </p:nvSpPr>
        <p:spPr>
          <a:xfrm>
            <a:off x="548640" y="2990088"/>
            <a:ext cx="3063240" cy="1078992"/>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May 2023 assessment placed FleetPartners at Maturity Level 0.95 of 3 — well below the government-recommended Level 2. Critical attack vectors remain open: uncontrolled admin privileges, absent MFA, inconsistent patching.</a:t>
            </a:r>
            <a:endParaRPr lang="en-US" sz="850" dirty="0"/>
          </a:p>
        </p:txBody>
      </p:sp>
      <p:sp>
        <p:nvSpPr>
          <p:cNvPr id="17" name="Shape 15"/>
          <p:cNvSpPr/>
          <p:nvPr/>
        </p:nvSpPr>
        <p:spPr>
          <a:xfrm>
            <a:off x="548640" y="4078224"/>
            <a:ext cx="406908" cy="155448"/>
          </a:xfrm>
          <a:prstGeom prst="roundRect">
            <a:avLst>
              <a:gd name="adj" fmla="val 23529"/>
            </a:avLst>
          </a:prstGeom>
          <a:solidFill>
            <a:srgbClr val="E0F5F7"/>
          </a:solidFill>
          <a:ln w="12700">
            <a:solidFill>
              <a:srgbClr val="B3E8EC"/>
            </a:solidFill>
            <a:prstDash val="solid"/>
          </a:ln>
        </p:spPr>
      </p:sp>
      <p:sp>
        <p:nvSpPr>
          <p:cNvPr id="18" name="Text 16"/>
          <p:cNvSpPr/>
          <p:nvPr/>
        </p:nvSpPr>
        <p:spPr>
          <a:xfrm>
            <a:off x="548640" y="407822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A.8.5</a:t>
            </a:r>
            <a:endParaRPr lang="en-US" sz="700" dirty="0"/>
          </a:p>
        </p:txBody>
      </p:sp>
      <p:sp>
        <p:nvSpPr>
          <p:cNvPr id="19" name="Shape 17"/>
          <p:cNvSpPr/>
          <p:nvPr/>
        </p:nvSpPr>
        <p:spPr>
          <a:xfrm>
            <a:off x="1001268" y="4078224"/>
            <a:ext cx="406908" cy="155448"/>
          </a:xfrm>
          <a:prstGeom prst="roundRect">
            <a:avLst>
              <a:gd name="adj" fmla="val 23529"/>
            </a:avLst>
          </a:prstGeom>
          <a:solidFill>
            <a:srgbClr val="E0F5F7"/>
          </a:solidFill>
          <a:ln w="12700">
            <a:solidFill>
              <a:srgbClr val="B3E8EC"/>
            </a:solidFill>
            <a:prstDash val="solid"/>
          </a:ln>
        </p:spPr>
      </p:sp>
      <p:sp>
        <p:nvSpPr>
          <p:cNvPr id="20" name="Text 18"/>
          <p:cNvSpPr/>
          <p:nvPr/>
        </p:nvSpPr>
        <p:spPr>
          <a:xfrm>
            <a:off x="1001268" y="407822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A.8.8</a:t>
            </a:r>
            <a:endParaRPr lang="en-US" sz="700" dirty="0"/>
          </a:p>
        </p:txBody>
      </p:sp>
      <p:sp>
        <p:nvSpPr>
          <p:cNvPr id="21" name="Shape 19"/>
          <p:cNvSpPr/>
          <p:nvPr/>
        </p:nvSpPr>
        <p:spPr>
          <a:xfrm>
            <a:off x="3794760" y="1115568"/>
            <a:ext cx="3200400" cy="1536192"/>
          </a:xfrm>
          <a:prstGeom prst="rect">
            <a:avLst/>
          </a:prstGeom>
          <a:solidFill>
            <a:srgbClr val="FEF9F0"/>
          </a:solidFill>
          <a:ln w="12700">
            <a:solidFill>
              <a:srgbClr val="F5DFA0"/>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3794760" y="1115568"/>
            <a:ext cx="41148" cy="1536192"/>
          </a:xfrm>
          <a:prstGeom prst="rect">
            <a:avLst/>
          </a:prstGeom>
          <a:solidFill>
            <a:srgbClr val="E8A01E"/>
          </a:solidFill>
          <a:ln w="12700">
            <a:solidFill>
              <a:srgbClr val="E8A01E"/>
            </a:solidFill>
            <a:prstDash val="solid"/>
          </a:ln>
        </p:spPr>
      </p:sp>
      <p:sp>
        <p:nvSpPr>
          <p:cNvPr id="23" name="Text 21"/>
          <p:cNvSpPr/>
          <p:nvPr/>
        </p:nvSpPr>
        <p:spPr>
          <a:xfrm>
            <a:off x="3886200" y="1179576"/>
            <a:ext cx="306324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Uncontrolled Privileged Access</a:t>
            </a:r>
            <a:endParaRPr lang="en-US" sz="1000" dirty="0"/>
          </a:p>
        </p:txBody>
      </p:sp>
      <p:sp>
        <p:nvSpPr>
          <p:cNvPr id="24" name="Text 22"/>
          <p:cNvSpPr/>
          <p:nvPr/>
        </p:nvSpPr>
        <p:spPr>
          <a:xfrm>
            <a:off x="3886200" y="1362456"/>
            <a:ext cx="3063240" cy="1078992"/>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No PAM controls; Linux servers use unmanaged local accounts; remote sessions via TeamViewer/RDP are unlogged. If a threat actor gains a foothold, lateral movement is trivially achievable — with no detection capability.</a:t>
            </a:r>
            <a:endParaRPr lang="en-US" sz="850" dirty="0"/>
          </a:p>
        </p:txBody>
      </p:sp>
      <p:sp>
        <p:nvSpPr>
          <p:cNvPr id="25" name="Shape 23"/>
          <p:cNvSpPr/>
          <p:nvPr/>
        </p:nvSpPr>
        <p:spPr>
          <a:xfrm>
            <a:off x="3886200" y="2450592"/>
            <a:ext cx="406908" cy="155448"/>
          </a:xfrm>
          <a:prstGeom prst="roundRect">
            <a:avLst>
              <a:gd name="adj" fmla="val 23529"/>
            </a:avLst>
          </a:prstGeom>
          <a:solidFill>
            <a:srgbClr val="E0F5F7"/>
          </a:solidFill>
          <a:ln w="12700">
            <a:solidFill>
              <a:srgbClr val="B3E8EC"/>
            </a:solidFill>
            <a:prstDash val="solid"/>
          </a:ln>
        </p:spPr>
      </p:sp>
      <p:sp>
        <p:nvSpPr>
          <p:cNvPr id="26" name="Text 24"/>
          <p:cNvSpPr/>
          <p:nvPr/>
        </p:nvSpPr>
        <p:spPr>
          <a:xfrm>
            <a:off x="3886200" y="2450592"/>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A.8.2</a:t>
            </a:r>
            <a:endParaRPr lang="en-US" sz="700" dirty="0"/>
          </a:p>
        </p:txBody>
      </p:sp>
      <p:sp>
        <p:nvSpPr>
          <p:cNvPr id="27" name="Shape 25"/>
          <p:cNvSpPr/>
          <p:nvPr/>
        </p:nvSpPr>
        <p:spPr>
          <a:xfrm>
            <a:off x="4338828" y="2450592"/>
            <a:ext cx="406908" cy="155448"/>
          </a:xfrm>
          <a:prstGeom prst="roundRect">
            <a:avLst>
              <a:gd name="adj" fmla="val 23529"/>
            </a:avLst>
          </a:prstGeom>
          <a:solidFill>
            <a:srgbClr val="E0F5F7"/>
          </a:solidFill>
          <a:ln w="12700">
            <a:solidFill>
              <a:srgbClr val="B3E8EC"/>
            </a:solidFill>
            <a:prstDash val="solid"/>
          </a:ln>
        </p:spPr>
      </p:sp>
      <p:sp>
        <p:nvSpPr>
          <p:cNvPr id="28" name="Text 26"/>
          <p:cNvSpPr/>
          <p:nvPr/>
        </p:nvSpPr>
        <p:spPr>
          <a:xfrm>
            <a:off x="4338828" y="2450592"/>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A.8.3</a:t>
            </a:r>
            <a:endParaRPr lang="en-US" sz="700" dirty="0"/>
          </a:p>
        </p:txBody>
      </p:sp>
      <p:sp>
        <p:nvSpPr>
          <p:cNvPr id="29" name="Shape 27"/>
          <p:cNvSpPr/>
          <p:nvPr/>
        </p:nvSpPr>
        <p:spPr>
          <a:xfrm>
            <a:off x="4791456" y="2450592"/>
            <a:ext cx="466344" cy="155448"/>
          </a:xfrm>
          <a:prstGeom prst="roundRect">
            <a:avLst>
              <a:gd name="adj" fmla="val 23529"/>
            </a:avLst>
          </a:prstGeom>
          <a:solidFill>
            <a:srgbClr val="E0F5F7"/>
          </a:solidFill>
          <a:ln w="12700">
            <a:solidFill>
              <a:srgbClr val="B3E8EC"/>
            </a:solidFill>
            <a:prstDash val="solid"/>
          </a:ln>
        </p:spPr>
      </p:sp>
      <p:sp>
        <p:nvSpPr>
          <p:cNvPr id="30" name="Text 28"/>
          <p:cNvSpPr/>
          <p:nvPr/>
        </p:nvSpPr>
        <p:spPr>
          <a:xfrm>
            <a:off x="4791456" y="2450592"/>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A.8.15</a:t>
            </a:r>
            <a:endParaRPr lang="en-US" sz="700" dirty="0"/>
          </a:p>
        </p:txBody>
      </p:sp>
      <p:sp>
        <p:nvSpPr>
          <p:cNvPr id="31" name="Shape 29"/>
          <p:cNvSpPr/>
          <p:nvPr/>
        </p:nvSpPr>
        <p:spPr>
          <a:xfrm>
            <a:off x="3794760" y="2743200"/>
            <a:ext cx="3200400" cy="1536192"/>
          </a:xfrm>
          <a:prstGeom prst="rect">
            <a:avLst/>
          </a:prstGeom>
          <a:solidFill>
            <a:srgbClr val="FEF9F0"/>
          </a:solidFill>
          <a:ln w="12700">
            <a:solidFill>
              <a:srgbClr val="F5DFA0"/>
            </a:solidFill>
            <a:prstDash val="solid"/>
          </a:ln>
          <a:effectLst>
            <a:outerShdw sx="100000" sy="100000" kx="0" ky="0" algn="bl" rotWithShape="0" blurRad="63500" dist="25400" dir="8100000">
              <a:srgbClr val="000000">
                <a:alpha val="10000"/>
              </a:srgbClr>
            </a:outerShdw>
          </a:effectLst>
        </p:spPr>
      </p:sp>
      <p:sp>
        <p:nvSpPr>
          <p:cNvPr id="32" name="Shape 30"/>
          <p:cNvSpPr/>
          <p:nvPr/>
        </p:nvSpPr>
        <p:spPr>
          <a:xfrm>
            <a:off x="3794760" y="2743200"/>
            <a:ext cx="41148" cy="1536192"/>
          </a:xfrm>
          <a:prstGeom prst="rect">
            <a:avLst/>
          </a:prstGeom>
          <a:solidFill>
            <a:srgbClr val="E8A01E"/>
          </a:solidFill>
          <a:ln w="12700">
            <a:solidFill>
              <a:srgbClr val="E8A01E"/>
            </a:solidFill>
            <a:prstDash val="solid"/>
          </a:ln>
        </p:spPr>
      </p:sp>
      <p:sp>
        <p:nvSpPr>
          <p:cNvPr id="33" name="Text 31"/>
          <p:cNvSpPr/>
          <p:nvPr/>
        </p:nvSpPr>
        <p:spPr>
          <a:xfrm>
            <a:off x="3886200" y="2807208"/>
            <a:ext cx="306324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Policy–Practice Governance Gap</a:t>
            </a:r>
            <a:endParaRPr lang="en-US" sz="1000" dirty="0"/>
          </a:p>
        </p:txBody>
      </p:sp>
      <p:sp>
        <p:nvSpPr>
          <p:cNvPr id="34" name="Text 32"/>
          <p:cNvSpPr/>
          <p:nvPr/>
        </p:nvSpPr>
        <p:spPr>
          <a:xfrm>
            <a:off x="3886200" y="2990088"/>
            <a:ext cx="3063240" cy="1078992"/>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IT Policies exist on paper but governance mechanisms are absent. The IT Risk Register has been dormant since 2019. Without a functioning risk process, deviations go untracked — the precise condition auditors and breaches exploit.</a:t>
            </a:r>
            <a:endParaRPr lang="en-US" sz="850" dirty="0"/>
          </a:p>
        </p:txBody>
      </p:sp>
      <p:sp>
        <p:nvSpPr>
          <p:cNvPr id="35" name="Shape 33"/>
          <p:cNvSpPr/>
          <p:nvPr/>
        </p:nvSpPr>
        <p:spPr>
          <a:xfrm>
            <a:off x="3886200" y="4078224"/>
            <a:ext cx="406908" cy="155448"/>
          </a:xfrm>
          <a:prstGeom prst="roundRect">
            <a:avLst>
              <a:gd name="adj" fmla="val 23529"/>
            </a:avLst>
          </a:prstGeom>
          <a:solidFill>
            <a:srgbClr val="E0F5F7"/>
          </a:solidFill>
          <a:ln w="12700">
            <a:solidFill>
              <a:srgbClr val="B3E8EC"/>
            </a:solidFill>
            <a:prstDash val="solid"/>
          </a:ln>
        </p:spPr>
      </p:sp>
      <p:sp>
        <p:nvSpPr>
          <p:cNvPr id="36" name="Text 34"/>
          <p:cNvSpPr/>
          <p:nvPr/>
        </p:nvSpPr>
        <p:spPr>
          <a:xfrm>
            <a:off x="3886200" y="407822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a:t>
            </a:r>
            <a:endParaRPr lang="en-US" sz="700" dirty="0"/>
          </a:p>
        </p:txBody>
      </p:sp>
      <p:sp>
        <p:nvSpPr>
          <p:cNvPr id="37" name="Shape 35"/>
          <p:cNvSpPr/>
          <p:nvPr/>
        </p:nvSpPr>
        <p:spPr>
          <a:xfrm>
            <a:off x="4338828" y="4078224"/>
            <a:ext cx="406908" cy="155448"/>
          </a:xfrm>
          <a:prstGeom prst="roundRect">
            <a:avLst>
              <a:gd name="adj" fmla="val 23529"/>
            </a:avLst>
          </a:prstGeom>
          <a:solidFill>
            <a:srgbClr val="E0F5F7"/>
          </a:solidFill>
          <a:ln w="12700">
            <a:solidFill>
              <a:srgbClr val="B3E8EC"/>
            </a:solidFill>
            <a:prstDash val="solid"/>
          </a:ln>
        </p:spPr>
      </p:sp>
      <p:sp>
        <p:nvSpPr>
          <p:cNvPr id="38" name="Text 36"/>
          <p:cNvSpPr/>
          <p:nvPr/>
        </p:nvSpPr>
        <p:spPr>
          <a:xfrm>
            <a:off x="4338828" y="407822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A.5.5</a:t>
            </a:r>
            <a:endParaRPr lang="en-US" sz="700" dirty="0"/>
          </a:p>
        </p:txBody>
      </p:sp>
      <p:sp>
        <p:nvSpPr>
          <p:cNvPr id="39" name="Shape 37"/>
          <p:cNvSpPr/>
          <p:nvPr/>
        </p:nvSpPr>
        <p:spPr>
          <a:xfrm>
            <a:off x="4791456" y="4078224"/>
            <a:ext cx="406908" cy="155448"/>
          </a:xfrm>
          <a:prstGeom prst="roundRect">
            <a:avLst>
              <a:gd name="adj" fmla="val 23529"/>
            </a:avLst>
          </a:prstGeom>
          <a:solidFill>
            <a:srgbClr val="E0F5F7"/>
          </a:solidFill>
          <a:ln w="12700">
            <a:solidFill>
              <a:srgbClr val="B3E8EC"/>
            </a:solidFill>
            <a:prstDash val="solid"/>
          </a:ln>
        </p:spPr>
      </p:sp>
      <p:sp>
        <p:nvSpPr>
          <p:cNvPr id="40" name="Text 38"/>
          <p:cNvSpPr/>
          <p:nvPr/>
        </p:nvSpPr>
        <p:spPr>
          <a:xfrm>
            <a:off x="4791456" y="407822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A.5.6</a:t>
            </a:r>
            <a:endParaRPr lang="en-US" sz="700" dirty="0"/>
          </a:p>
        </p:txBody>
      </p:sp>
      <p:sp>
        <p:nvSpPr>
          <p:cNvPr id="41" name="Shape 39"/>
          <p:cNvSpPr/>
          <p:nvPr/>
        </p:nvSpPr>
        <p:spPr>
          <a:xfrm>
            <a:off x="7132320" y="1115568"/>
            <a:ext cx="1691640" cy="1211580"/>
          </a:xfrm>
          <a:prstGeom prst="rect">
            <a:avLst/>
          </a:prstGeom>
          <a:solidFill>
            <a:srgbClr val="1B2A4A"/>
          </a:solidFill>
          <a:ln w="12700">
            <a:solidFill>
              <a:srgbClr val="1B2A4A"/>
            </a:solidFill>
            <a:prstDash val="solid"/>
          </a:ln>
          <a:effectLst>
            <a:outerShdw sx="100000" sy="100000" kx="0" ky="0" algn="bl" rotWithShape="0" blurRad="63500" dist="25400" dir="8100000">
              <a:srgbClr val="000000">
                <a:alpha val="10000"/>
              </a:srgbClr>
            </a:outerShdw>
          </a:effectLst>
        </p:spPr>
      </p:sp>
      <p:sp>
        <p:nvSpPr>
          <p:cNvPr id="42" name="Text 40"/>
          <p:cNvSpPr/>
          <p:nvPr/>
        </p:nvSpPr>
        <p:spPr>
          <a:xfrm>
            <a:off x="7242048" y="1207008"/>
            <a:ext cx="1463040" cy="457200"/>
          </a:xfrm>
          <a:prstGeom prst="rect">
            <a:avLst/>
          </a:prstGeom>
          <a:noFill/>
          <a:ln/>
        </p:spPr>
        <p:txBody>
          <a:bodyPr wrap="square" lIns="0" tIns="0" rIns="0" bIns="0" rtlCol="0" anchor="ctr"/>
          <a:lstStyle/>
          <a:p>
            <a:pPr indent="0" marL="0">
              <a:buNone/>
            </a:pPr>
            <a:r>
              <a:rPr lang="en-US" sz="2800" b="1" dirty="0">
                <a:solidFill>
                  <a:srgbClr val="00A5B5"/>
                </a:solidFill>
                <a:latin typeface="Calibri" pitchFamily="34" charset="0"/>
                <a:ea typeface="Calibri" pitchFamily="34" charset="-122"/>
                <a:cs typeface="Calibri" pitchFamily="34" charset="-120"/>
              </a:rPr>
              <a:t>0.95</a:t>
            </a:r>
            <a:endParaRPr lang="en-US" sz="2800" dirty="0"/>
          </a:p>
        </p:txBody>
      </p:sp>
      <p:sp>
        <p:nvSpPr>
          <p:cNvPr id="43" name="Text 41"/>
          <p:cNvSpPr/>
          <p:nvPr/>
        </p:nvSpPr>
        <p:spPr>
          <a:xfrm>
            <a:off x="7242048" y="1682496"/>
            <a:ext cx="1463040" cy="274320"/>
          </a:xfrm>
          <a:prstGeom prst="rect">
            <a:avLst/>
          </a:prstGeom>
          <a:noFill/>
          <a:ln/>
        </p:spPr>
        <p:txBody>
          <a:bodyPr wrap="square" lIns="0" tIns="0" rIns="0" bIns="0" rtlCol="0" anchor="ctr"/>
          <a:lstStyle/>
          <a:p>
            <a:pPr indent="0" marL="0">
              <a:buNone/>
            </a:pPr>
            <a:r>
              <a:rPr lang="en-US" sz="800" b="1" dirty="0">
                <a:solidFill>
                  <a:srgbClr val="AABBCC"/>
                </a:solidFill>
                <a:latin typeface="Calibri" pitchFamily="34" charset="0"/>
                <a:ea typeface="Calibri" pitchFamily="34" charset="-122"/>
                <a:cs typeface="Calibri" pitchFamily="34" charset="-120"/>
              </a:rPr>
              <a:t>Essential 8</a:t>
            </a:r>
            <a:endParaRPr lang="en-US" sz="800" dirty="0"/>
          </a:p>
          <a:p>
            <a:pPr indent="0" marL="0">
              <a:buNone/>
            </a:pPr>
            <a:r>
              <a:rPr lang="en-US" sz="800" b="1" dirty="0">
                <a:solidFill>
                  <a:srgbClr val="AABBCC"/>
                </a:solidFill>
                <a:latin typeface="Calibri" pitchFamily="34" charset="0"/>
                <a:ea typeface="Calibri" pitchFamily="34" charset="-122"/>
                <a:cs typeface="Calibri" pitchFamily="34" charset="-120"/>
              </a:rPr>
              <a:t>Maturity</a:t>
            </a:r>
            <a:endParaRPr lang="en-US" sz="800" dirty="0"/>
          </a:p>
        </p:txBody>
      </p:sp>
      <p:sp>
        <p:nvSpPr>
          <p:cNvPr id="44" name="Text 42"/>
          <p:cNvSpPr/>
          <p:nvPr/>
        </p:nvSpPr>
        <p:spPr>
          <a:xfrm>
            <a:off x="7242048" y="2107692"/>
            <a:ext cx="1463040" cy="182880"/>
          </a:xfrm>
          <a:prstGeom prst="rect">
            <a:avLst/>
          </a:prstGeom>
          <a:noFill/>
          <a:ln/>
        </p:spPr>
        <p:txBody>
          <a:bodyPr wrap="square" lIns="0" tIns="0" rIns="0" bIns="0" rtlCol="0" anchor="ctr"/>
          <a:lstStyle/>
          <a:p>
            <a:pPr indent="0" marL="0">
              <a:buNone/>
            </a:pPr>
            <a:r>
              <a:rPr lang="en-US" sz="750" dirty="0">
                <a:solidFill>
                  <a:srgbClr val="6688AA"/>
                </a:solidFill>
                <a:latin typeface="Calibri" pitchFamily="34" charset="0"/>
                <a:ea typeface="Calibri" pitchFamily="34" charset="-122"/>
                <a:cs typeface="Calibri" pitchFamily="34" charset="-120"/>
              </a:rPr>
              <a:t>vs. recommended 2.0</a:t>
            </a:r>
            <a:endParaRPr lang="en-US" sz="750" dirty="0"/>
          </a:p>
        </p:txBody>
      </p:sp>
      <p:sp>
        <p:nvSpPr>
          <p:cNvPr id="45" name="Shape 43"/>
          <p:cNvSpPr/>
          <p:nvPr/>
        </p:nvSpPr>
        <p:spPr>
          <a:xfrm>
            <a:off x="7132320" y="2391156"/>
            <a:ext cx="1691640" cy="1211580"/>
          </a:xfrm>
          <a:prstGeom prst="rect">
            <a:avLst/>
          </a:prstGeom>
          <a:solidFill>
            <a:srgbClr val="7A1A1A"/>
          </a:solidFill>
          <a:ln w="12700">
            <a:solidFill>
              <a:srgbClr val="7A1A1A"/>
            </a:solidFill>
            <a:prstDash val="solid"/>
          </a:ln>
          <a:effectLst>
            <a:outerShdw sx="100000" sy="100000" kx="0" ky="0" algn="bl" rotWithShape="0" blurRad="63500" dist="25400" dir="8100000">
              <a:srgbClr val="000000">
                <a:alpha val="10000"/>
              </a:srgbClr>
            </a:outerShdw>
          </a:effectLst>
        </p:spPr>
      </p:sp>
      <p:sp>
        <p:nvSpPr>
          <p:cNvPr id="46" name="Text 44"/>
          <p:cNvSpPr/>
          <p:nvPr/>
        </p:nvSpPr>
        <p:spPr>
          <a:xfrm>
            <a:off x="7242048" y="2482596"/>
            <a:ext cx="1463040" cy="457200"/>
          </a:xfrm>
          <a:prstGeom prst="rect">
            <a:avLst/>
          </a:prstGeom>
          <a:noFill/>
          <a:ln/>
        </p:spPr>
        <p:txBody>
          <a:bodyPr wrap="square" lIns="0" tIns="0" rIns="0" bIns="0" rtlCol="0" anchor="ctr"/>
          <a:lstStyle/>
          <a:p>
            <a:pPr indent="0" marL="0">
              <a:buNone/>
            </a:pPr>
            <a:r>
              <a:rPr lang="en-US" sz="2800" b="1" dirty="0">
                <a:solidFill>
                  <a:srgbClr val="FFB3B3"/>
                </a:solidFill>
                <a:latin typeface="Calibri" pitchFamily="34" charset="0"/>
                <a:ea typeface="Calibri" pitchFamily="34" charset="-122"/>
                <a:cs typeface="Calibri" pitchFamily="34" charset="-120"/>
              </a:rPr>
              <a:t>22+</a:t>
            </a:r>
            <a:endParaRPr lang="en-US" sz="2800" dirty="0"/>
          </a:p>
        </p:txBody>
      </p:sp>
      <p:sp>
        <p:nvSpPr>
          <p:cNvPr id="47" name="Text 45"/>
          <p:cNvSpPr/>
          <p:nvPr/>
        </p:nvSpPr>
        <p:spPr>
          <a:xfrm>
            <a:off x="7242048" y="2958084"/>
            <a:ext cx="1463040" cy="274320"/>
          </a:xfrm>
          <a:prstGeom prst="rect">
            <a:avLst/>
          </a:prstGeom>
          <a:noFill/>
          <a:ln/>
        </p:spPr>
        <p:txBody>
          <a:bodyPr wrap="square" lIns="0" tIns="0" rIns="0" bIns="0" rtlCol="0" anchor="ctr"/>
          <a:lstStyle/>
          <a:p>
            <a:pPr indent="0" marL="0">
              <a:buNone/>
            </a:pPr>
            <a:r>
              <a:rPr lang="en-US" sz="800" b="1" dirty="0">
                <a:solidFill>
                  <a:srgbClr val="AABBCC"/>
                </a:solidFill>
                <a:latin typeface="Calibri" pitchFamily="34" charset="0"/>
                <a:ea typeface="Calibri" pitchFamily="34" charset="-122"/>
                <a:cs typeface="Calibri" pitchFamily="34" charset="-120"/>
              </a:rPr>
              <a:t>ISO 27001:2022</a:t>
            </a:r>
            <a:endParaRPr lang="en-US" sz="800" dirty="0"/>
          </a:p>
          <a:p>
            <a:pPr indent="0" marL="0">
              <a:buNone/>
            </a:pPr>
            <a:r>
              <a:rPr lang="en-US" sz="800" b="1" dirty="0">
                <a:solidFill>
                  <a:srgbClr val="AABBCC"/>
                </a:solidFill>
                <a:latin typeface="Calibri" pitchFamily="34" charset="0"/>
                <a:ea typeface="Calibri" pitchFamily="34" charset="-122"/>
                <a:cs typeface="Calibri" pitchFamily="34" charset="-120"/>
              </a:rPr>
              <a:t>Control Gaps</a:t>
            </a:r>
            <a:endParaRPr lang="en-US" sz="800" dirty="0"/>
          </a:p>
        </p:txBody>
      </p:sp>
      <p:sp>
        <p:nvSpPr>
          <p:cNvPr id="48" name="Text 46"/>
          <p:cNvSpPr/>
          <p:nvPr/>
        </p:nvSpPr>
        <p:spPr>
          <a:xfrm>
            <a:off x="7242048" y="3383280"/>
            <a:ext cx="1463040" cy="182880"/>
          </a:xfrm>
          <a:prstGeom prst="rect">
            <a:avLst/>
          </a:prstGeom>
          <a:noFill/>
          <a:ln/>
        </p:spPr>
        <p:txBody>
          <a:bodyPr wrap="square" lIns="0" tIns="0" rIns="0" bIns="0" rtlCol="0" anchor="ctr"/>
          <a:lstStyle/>
          <a:p>
            <a:pPr indent="0" marL="0">
              <a:buNone/>
            </a:pPr>
            <a:r>
              <a:rPr lang="en-US" sz="750" dirty="0">
                <a:solidFill>
                  <a:srgbClr val="6688AA"/>
                </a:solidFill>
                <a:latin typeface="Calibri" pitchFamily="34" charset="0"/>
                <a:ea typeface="Calibri" pitchFamily="34" charset="-122"/>
                <a:cs typeface="Calibri" pitchFamily="34" charset="-120"/>
              </a:rPr>
              <a:t>across all domains</a:t>
            </a:r>
            <a:endParaRPr lang="en-US" sz="750" dirty="0"/>
          </a:p>
        </p:txBody>
      </p:sp>
      <p:sp>
        <p:nvSpPr>
          <p:cNvPr id="49" name="Shape 47"/>
          <p:cNvSpPr/>
          <p:nvPr/>
        </p:nvSpPr>
        <p:spPr>
          <a:xfrm>
            <a:off x="7132320" y="3666744"/>
            <a:ext cx="1691640" cy="1211580"/>
          </a:xfrm>
          <a:prstGeom prst="rect">
            <a:avLst/>
          </a:prstGeom>
          <a:solidFill>
            <a:srgbClr val="1A3A2A"/>
          </a:solidFill>
          <a:ln w="12700">
            <a:solidFill>
              <a:srgbClr val="1A3A2A"/>
            </a:solidFill>
            <a:prstDash val="solid"/>
          </a:ln>
          <a:effectLst>
            <a:outerShdw sx="100000" sy="100000" kx="0" ky="0" algn="bl" rotWithShape="0" blurRad="63500" dist="25400" dir="8100000">
              <a:srgbClr val="000000">
                <a:alpha val="10000"/>
              </a:srgbClr>
            </a:outerShdw>
          </a:effectLst>
        </p:spPr>
      </p:sp>
      <p:sp>
        <p:nvSpPr>
          <p:cNvPr id="50" name="Text 48"/>
          <p:cNvSpPr/>
          <p:nvPr/>
        </p:nvSpPr>
        <p:spPr>
          <a:xfrm>
            <a:off x="7242048" y="3758184"/>
            <a:ext cx="1463040" cy="457200"/>
          </a:xfrm>
          <a:prstGeom prst="rect">
            <a:avLst/>
          </a:prstGeom>
          <a:noFill/>
          <a:ln/>
        </p:spPr>
        <p:txBody>
          <a:bodyPr wrap="square" lIns="0" tIns="0" rIns="0" bIns="0" rtlCol="0" anchor="ctr"/>
          <a:lstStyle/>
          <a:p>
            <a:pPr indent="0" marL="0">
              <a:buNone/>
            </a:pPr>
            <a:r>
              <a:rPr lang="en-US" sz="2800" b="1" dirty="0">
                <a:solidFill>
                  <a:srgbClr val="7FD4A0"/>
                </a:solidFill>
                <a:latin typeface="Calibri" pitchFamily="34" charset="0"/>
                <a:ea typeface="Calibri" pitchFamily="34" charset="-122"/>
                <a:cs typeface="Calibri" pitchFamily="34" charset="-120"/>
              </a:rPr>
              <a:t>12mo</a:t>
            </a:r>
            <a:endParaRPr lang="en-US" sz="2800" dirty="0"/>
          </a:p>
        </p:txBody>
      </p:sp>
      <p:sp>
        <p:nvSpPr>
          <p:cNvPr id="51" name="Text 49"/>
          <p:cNvSpPr/>
          <p:nvPr/>
        </p:nvSpPr>
        <p:spPr>
          <a:xfrm>
            <a:off x="7242048" y="4233672"/>
            <a:ext cx="1463040" cy="274320"/>
          </a:xfrm>
          <a:prstGeom prst="rect">
            <a:avLst/>
          </a:prstGeom>
          <a:noFill/>
          <a:ln/>
        </p:spPr>
        <p:txBody>
          <a:bodyPr wrap="square" lIns="0" tIns="0" rIns="0" bIns="0" rtlCol="0" anchor="ctr"/>
          <a:lstStyle/>
          <a:p>
            <a:pPr indent="0" marL="0">
              <a:buNone/>
            </a:pPr>
            <a:r>
              <a:rPr lang="en-US" sz="800" b="1" dirty="0">
                <a:solidFill>
                  <a:srgbClr val="AABBCC"/>
                </a:solidFill>
                <a:latin typeface="Calibri" pitchFamily="34" charset="0"/>
                <a:ea typeface="Calibri" pitchFamily="34" charset="-122"/>
                <a:cs typeface="Calibri" pitchFamily="34" charset="-120"/>
              </a:rPr>
              <a:t>To Close</a:t>
            </a:r>
            <a:endParaRPr lang="en-US" sz="800" dirty="0"/>
          </a:p>
          <a:p>
            <a:pPr indent="0" marL="0">
              <a:buNone/>
            </a:pPr>
            <a:r>
              <a:rPr lang="en-US" sz="800" b="1" dirty="0">
                <a:solidFill>
                  <a:srgbClr val="AABBCC"/>
                </a:solidFill>
                <a:latin typeface="Calibri" pitchFamily="34" charset="0"/>
                <a:ea typeface="Calibri" pitchFamily="34" charset="-122"/>
                <a:cs typeface="Calibri" pitchFamily="34" charset="-120"/>
              </a:rPr>
              <a:t>All Gaps</a:t>
            </a:r>
            <a:endParaRPr lang="en-US" sz="800" dirty="0"/>
          </a:p>
        </p:txBody>
      </p:sp>
      <p:sp>
        <p:nvSpPr>
          <p:cNvPr id="52" name="Text 50"/>
          <p:cNvSpPr/>
          <p:nvPr/>
        </p:nvSpPr>
        <p:spPr>
          <a:xfrm>
            <a:off x="7242048" y="4658868"/>
            <a:ext cx="1463040" cy="182880"/>
          </a:xfrm>
          <a:prstGeom prst="rect">
            <a:avLst/>
          </a:prstGeom>
          <a:noFill/>
          <a:ln/>
        </p:spPr>
        <p:txBody>
          <a:bodyPr wrap="square" lIns="0" tIns="0" rIns="0" bIns="0" rtlCol="0" anchor="ctr"/>
          <a:lstStyle/>
          <a:p>
            <a:pPr indent="0" marL="0">
              <a:buNone/>
            </a:pPr>
            <a:r>
              <a:rPr lang="en-US" sz="750" dirty="0">
                <a:solidFill>
                  <a:srgbClr val="6688AA"/>
                </a:solidFill>
                <a:latin typeface="Calibri" pitchFamily="34" charset="0"/>
                <a:ea typeface="Calibri" pitchFamily="34" charset="-122"/>
                <a:cs typeface="Calibri" pitchFamily="34" charset="-120"/>
              </a:rPr>
              <a:t>starting Oct 2026</a:t>
            </a:r>
            <a:endParaRPr lang="en-US" sz="750" dirty="0"/>
          </a:p>
        </p:txBody>
      </p:sp>
      <p:sp>
        <p:nvSpPr>
          <p:cNvPr id="53" name="Shape 51"/>
          <p:cNvSpPr/>
          <p:nvPr/>
        </p:nvSpPr>
        <p:spPr>
          <a:xfrm>
            <a:off x="0" y="5093208"/>
            <a:ext cx="9144000" cy="50292"/>
          </a:xfrm>
          <a:prstGeom prst="rect">
            <a:avLst/>
          </a:prstGeom>
          <a:solidFill>
            <a:srgbClr val="00A5B5"/>
          </a:solidFill>
          <a:ln w="12700">
            <a:solidFill>
              <a:srgbClr val="00A5B5"/>
            </a:solidFill>
            <a:prstDash val="solid"/>
          </a:ln>
        </p:spPr>
      </p:sp>
      <p:sp>
        <p:nvSpPr>
          <p:cNvPr id="54" name="Shape 52"/>
          <p:cNvSpPr/>
          <p:nvPr/>
        </p:nvSpPr>
        <p:spPr>
          <a:xfrm>
            <a:off x="8503920" y="4549140"/>
            <a:ext cx="384048" cy="384048"/>
          </a:xfrm>
          <a:prstGeom prst="ellipse">
            <a:avLst/>
          </a:prstGeom>
          <a:solidFill>
            <a:srgbClr val="E8EBF0"/>
          </a:solidFill>
          <a:ln w="12700">
            <a:solidFill>
              <a:srgbClr val="B0B8C8"/>
            </a:solidFill>
            <a:prstDash val="solid"/>
          </a:ln>
        </p:spPr>
      </p:sp>
      <p:sp>
        <p:nvSpPr>
          <p:cNvPr id="55" name="Text 53"/>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56" name="Text 54"/>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C35"/>
          </a:solidFill>
          <a:ln w="12700">
            <a:solidFill>
              <a:srgbClr val="0F1C35"/>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00A5B5"/>
                </a:solidFill>
                <a:latin typeface="Calibri" pitchFamily="34" charset="0"/>
                <a:ea typeface="Calibri" pitchFamily="34" charset="-122"/>
                <a:cs typeface="Calibri" pitchFamily="34" charset="-120"/>
              </a:rPr>
              <a:t>CURRENT STATE ASSESSMENT</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Gaps span all four ISO 27001 control domains — demanding a structured, phased response</a:t>
            </a:r>
            <a:endParaRPr lang="en-US" sz="1700" dirty="0"/>
          </a:p>
        </p:txBody>
      </p:sp>
      <p:sp>
        <p:nvSpPr>
          <p:cNvPr id="5" name="Shape 3"/>
          <p:cNvSpPr/>
          <p:nvPr/>
        </p:nvSpPr>
        <p:spPr>
          <a:xfrm>
            <a:off x="457200" y="1115568"/>
            <a:ext cx="1988820" cy="3451860"/>
          </a:xfrm>
          <a:prstGeom prst="rect">
            <a:avLst/>
          </a:prstGeom>
          <a:solidFill>
            <a:srgbClr val="FFFFFF"/>
          </a:solidFill>
          <a:ln w="12700">
            <a:solidFill>
              <a:srgbClr val="E8EBF0"/>
            </a:solidFill>
            <a:prstDash val="solid"/>
          </a:ln>
        </p:spPr>
      </p:sp>
      <p:sp>
        <p:nvSpPr>
          <p:cNvPr id="6" name="Shape 4"/>
          <p:cNvSpPr/>
          <p:nvPr/>
        </p:nvSpPr>
        <p:spPr>
          <a:xfrm>
            <a:off x="457200" y="1115568"/>
            <a:ext cx="1988820" cy="237744"/>
          </a:xfrm>
          <a:prstGeom prst="rect">
            <a:avLst/>
          </a:prstGeom>
          <a:solidFill>
            <a:srgbClr val="1B2A4A"/>
          </a:solidFill>
          <a:ln w="12700">
            <a:solidFill>
              <a:srgbClr val="1B2A4A"/>
            </a:solidFill>
            <a:prstDash val="solid"/>
          </a:ln>
        </p:spPr>
      </p:sp>
      <p:sp>
        <p:nvSpPr>
          <p:cNvPr id="7" name="Text 5"/>
          <p:cNvSpPr/>
          <p:nvPr/>
        </p:nvSpPr>
        <p:spPr>
          <a:xfrm>
            <a:off x="530352" y="1161288"/>
            <a:ext cx="1897380" cy="164592"/>
          </a:xfrm>
          <a:prstGeom prst="rect">
            <a:avLst/>
          </a:prstGeom>
          <a:noFill/>
          <a:ln/>
        </p:spPr>
        <p:txBody>
          <a:bodyPr wrap="square" lIns="0" tIns="0" rIns="0" bIns="0" rtlCol="0" anchor="ctr"/>
          <a:lstStyle/>
          <a:p>
            <a:pPr indent="0" marL="0">
              <a:buNone/>
            </a:pPr>
            <a:r>
              <a:rPr lang="en-US" sz="750" b="1" spc="150" kern="0" dirty="0">
                <a:solidFill>
                  <a:srgbClr val="00A5B5"/>
                </a:solidFill>
                <a:latin typeface="Calibri" pitchFamily="34" charset="0"/>
                <a:ea typeface="Calibri" pitchFamily="34" charset="-122"/>
                <a:cs typeface="Calibri" pitchFamily="34" charset="-120"/>
              </a:rPr>
              <a:t>GOVERNANCE</a:t>
            </a:r>
            <a:endParaRPr lang="en-US" sz="750" dirty="0"/>
          </a:p>
        </p:txBody>
      </p:sp>
      <p:sp>
        <p:nvSpPr>
          <p:cNvPr id="8" name="Shape 6"/>
          <p:cNvSpPr/>
          <p:nvPr/>
        </p:nvSpPr>
        <p:spPr>
          <a:xfrm>
            <a:off x="512064" y="1389888"/>
            <a:ext cx="1879092" cy="274320"/>
          </a:xfrm>
          <a:prstGeom prst="rect">
            <a:avLst/>
          </a:prstGeom>
          <a:solidFill>
            <a:srgbClr val="FDF3F2"/>
          </a:solidFill>
          <a:ln w="12700">
            <a:solidFill>
              <a:srgbClr val="000000"/>
            </a:solidFill>
            <a:prstDash val="solid"/>
          </a:ln>
        </p:spPr>
      </p:sp>
      <p:sp>
        <p:nvSpPr>
          <p:cNvPr id="9" name="Shape 7"/>
          <p:cNvSpPr/>
          <p:nvPr/>
        </p:nvSpPr>
        <p:spPr>
          <a:xfrm>
            <a:off x="512064" y="1389888"/>
            <a:ext cx="32004" cy="274320"/>
          </a:xfrm>
          <a:prstGeom prst="rect">
            <a:avLst/>
          </a:prstGeom>
          <a:solidFill>
            <a:srgbClr val="D94F3D"/>
          </a:solidFill>
          <a:ln w="12700">
            <a:solidFill>
              <a:srgbClr val="D94F3D"/>
            </a:solidFill>
            <a:prstDash val="solid"/>
          </a:ln>
        </p:spPr>
      </p:sp>
      <p:sp>
        <p:nvSpPr>
          <p:cNvPr id="10" name="Text 8"/>
          <p:cNvSpPr/>
          <p:nvPr/>
        </p:nvSpPr>
        <p:spPr>
          <a:xfrm>
            <a:off x="557784" y="1417320"/>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IT Risk Register dormant since 2019</a:t>
            </a:r>
            <a:endParaRPr lang="en-US" sz="800" dirty="0"/>
          </a:p>
        </p:txBody>
      </p:sp>
      <p:sp>
        <p:nvSpPr>
          <p:cNvPr id="11" name="Shape 9"/>
          <p:cNvSpPr/>
          <p:nvPr/>
        </p:nvSpPr>
        <p:spPr>
          <a:xfrm>
            <a:off x="512064" y="1719072"/>
            <a:ext cx="1879092" cy="274320"/>
          </a:xfrm>
          <a:prstGeom prst="rect">
            <a:avLst/>
          </a:prstGeom>
          <a:solidFill>
            <a:srgbClr val="FDF3F2"/>
          </a:solidFill>
          <a:ln w="12700">
            <a:solidFill>
              <a:srgbClr val="000000"/>
            </a:solidFill>
            <a:prstDash val="solid"/>
          </a:ln>
        </p:spPr>
      </p:sp>
      <p:sp>
        <p:nvSpPr>
          <p:cNvPr id="12" name="Shape 10"/>
          <p:cNvSpPr/>
          <p:nvPr/>
        </p:nvSpPr>
        <p:spPr>
          <a:xfrm>
            <a:off x="512064" y="1719072"/>
            <a:ext cx="32004" cy="274320"/>
          </a:xfrm>
          <a:prstGeom prst="rect">
            <a:avLst/>
          </a:prstGeom>
          <a:solidFill>
            <a:srgbClr val="D94F3D"/>
          </a:solidFill>
          <a:ln w="12700">
            <a:solidFill>
              <a:srgbClr val="D94F3D"/>
            </a:solidFill>
            <a:prstDash val="solid"/>
          </a:ln>
        </p:spPr>
      </p:sp>
      <p:sp>
        <p:nvSpPr>
          <p:cNvPr id="13" name="Text 11"/>
          <p:cNvSpPr/>
          <p:nvPr/>
        </p:nvSpPr>
        <p:spPr>
          <a:xfrm>
            <a:off x="557784" y="1746504"/>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Policy governance not enforced</a:t>
            </a:r>
            <a:endParaRPr lang="en-US" sz="800" dirty="0"/>
          </a:p>
        </p:txBody>
      </p:sp>
      <p:sp>
        <p:nvSpPr>
          <p:cNvPr id="14" name="Shape 12"/>
          <p:cNvSpPr/>
          <p:nvPr/>
        </p:nvSpPr>
        <p:spPr>
          <a:xfrm>
            <a:off x="512064" y="2048256"/>
            <a:ext cx="1879092" cy="274320"/>
          </a:xfrm>
          <a:prstGeom prst="rect">
            <a:avLst/>
          </a:prstGeom>
          <a:solidFill>
            <a:srgbClr val="FEF9F0"/>
          </a:solidFill>
          <a:ln w="12700">
            <a:solidFill>
              <a:srgbClr val="000000"/>
            </a:solidFill>
            <a:prstDash val="solid"/>
          </a:ln>
        </p:spPr>
      </p:sp>
      <p:sp>
        <p:nvSpPr>
          <p:cNvPr id="15" name="Shape 13"/>
          <p:cNvSpPr/>
          <p:nvPr/>
        </p:nvSpPr>
        <p:spPr>
          <a:xfrm>
            <a:off x="512064" y="2048256"/>
            <a:ext cx="32004" cy="274320"/>
          </a:xfrm>
          <a:prstGeom prst="rect">
            <a:avLst/>
          </a:prstGeom>
          <a:solidFill>
            <a:srgbClr val="E8A01E"/>
          </a:solidFill>
          <a:ln w="12700">
            <a:solidFill>
              <a:srgbClr val="E8A01E"/>
            </a:solidFill>
            <a:prstDash val="solid"/>
          </a:ln>
        </p:spPr>
      </p:sp>
      <p:sp>
        <p:nvSpPr>
          <p:cNvPr id="16" name="Text 14"/>
          <p:cNvSpPr/>
          <p:nvPr/>
        </p:nvSpPr>
        <p:spPr>
          <a:xfrm>
            <a:off x="557784" y="2075688"/>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formal BIA or Risk Assessment</a:t>
            </a:r>
            <a:endParaRPr lang="en-US" sz="800" dirty="0"/>
          </a:p>
        </p:txBody>
      </p:sp>
      <p:sp>
        <p:nvSpPr>
          <p:cNvPr id="17" name="Shape 15"/>
          <p:cNvSpPr/>
          <p:nvPr/>
        </p:nvSpPr>
        <p:spPr>
          <a:xfrm>
            <a:off x="512064" y="2377440"/>
            <a:ext cx="1879092" cy="274320"/>
          </a:xfrm>
          <a:prstGeom prst="rect">
            <a:avLst/>
          </a:prstGeom>
          <a:solidFill>
            <a:srgbClr val="FEF9F0"/>
          </a:solidFill>
          <a:ln w="12700">
            <a:solidFill>
              <a:srgbClr val="000000"/>
            </a:solidFill>
            <a:prstDash val="solid"/>
          </a:ln>
        </p:spPr>
      </p:sp>
      <p:sp>
        <p:nvSpPr>
          <p:cNvPr id="18" name="Shape 16"/>
          <p:cNvSpPr/>
          <p:nvPr/>
        </p:nvSpPr>
        <p:spPr>
          <a:xfrm>
            <a:off x="512064" y="2377440"/>
            <a:ext cx="32004" cy="274320"/>
          </a:xfrm>
          <a:prstGeom prst="rect">
            <a:avLst/>
          </a:prstGeom>
          <a:solidFill>
            <a:srgbClr val="E8A01E"/>
          </a:solidFill>
          <a:ln w="12700">
            <a:solidFill>
              <a:srgbClr val="E8A01E"/>
            </a:solidFill>
            <a:prstDash val="solid"/>
          </a:ln>
        </p:spPr>
      </p:sp>
      <p:sp>
        <p:nvSpPr>
          <p:cNvPr id="19" name="Text 17"/>
          <p:cNvSpPr/>
          <p:nvPr/>
        </p:nvSpPr>
        <p:spPr>
          <a:xfrm>
            <a:off x="557784" y="2404872"/>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supplier risk process</a:t>
            </a:r>
            <a:endParaRPr lang="en-US" sz="800" dirty="0"/>
          </a:p>
        </p:txBody>
      </p:sp>
      <p:sp>
        <p:nvSpPr>
          <p:cNvPr id="20" name="Shape 18"/>
          <p:cNvSpPr/>
          <p:nvPr/>
        </p:nvSpPr>
        <p:spPr>
          <a:xfrm>
            <a:off x="512064" y="2706624"/>
            <a:ext cx="1879092" cy="274320"/>
          </a:xfrm>
          <a:prstGeom prst="rect">
            <a:avLst/>
          </a:prstGeom>
          <a:solidFill>
            <a:srgbClr val="FEF9F0"/>
          </a:solidFill>
          <a:ln w="12700">
            <a:solidFill>
              <a:srgbClr val="000000"/>
            </a:solidFill>
            <a:prstDash val="solid"/>
          </a:ln>
        </p:spPr>
      </p:sp>
      <p:sp>
        <p:nvSpPr>
          <p:cNvPr id="21" name="Shape 19"/>
          <p:cNvSpPr/>
          <p:nvPr/>
        </p:nvSpPr>
        <p:spPr>
          <a:xfrm>
            <a:off x="512064" y="2706624"/>
            <a:ext cx="32004" cy="274320"/>
          </a:xfrm>
          <a:prstGeom prst="rect">
            <a:avLst/>
          </a:prstGeom>
          <a:solidFill>
            <a:srgbClr val="E8A01E"/>
          </a:solidFill>
          <a:ln w="12700">
            <a:solidFill>
              <a:srgbClr val="E8A01E"/>
            </a:solidFill>
            <a:prstDash val="solid"/>
          </a:ln>
        </p:spPr>
      </p:sp>
      <p:sp>
        <p:nvSpPr>
          <p:cNvPr id="22" name="Text 20"/>
          <p:cNvSpPr/>
          <p:nvPr/>
        </p:nvSpPr>
        <p:spPr>
          <a:xfrm>
            <a:off x="557784" y="2734056"/>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9 mandatory docs absent</a:t>
            </a:r>
            <a:endParaRPr lang="en-US" sz="800" dirty="0"/>
          </a:p>
        </p:txBody>
      </p:sp>
      <p:sp>
        <p:nvSpPr>
          <p:cNvPr id="23" name="Shape 21"/>
          <p:cNvSpPr/>
          <p:nvPr/>
        </p:nvSpPr>
        <p:spPr>
          <a:xfrm>
            <a:off x="2537460" y="1115568"/>
            <a:ext cx="1988820" cy="3451860"/>
          </a:xfrm>
          <a:prstGeom prst="rect">
            <a:avLst/>
          </a:prstGeom>
          <a:solidFill>
            <a:srgbClr val="FFFFFF"/>
          </a:solidFill>
          <a:ln w="12700">
            <a:solidFill>
              <a:srgbClr val="E8EBF0"/>
            </a:solidFill>
            <a:prstDash val="solid"/>
          </a:ln>
        </p:spPr>
      </p:sp>
      <p:sp>
        <p:nvSpPr>
          <p:cNvPr id="24" name="Shape 22"/>
          <p:cNvSpPr/>
          <p:nvPr/>
        </p:nvSpPr>
        <p:spPr>
          <a:xfrm>
            <a:off x="2537460" y="1115568"/>
            <a:ext cx="1988820" cy="237744"/>
          </a:xfrm>
          <a:prstGeom prst="rect">
            <a:avLst/>
          </a:prstGeom>
          <a:solidFill>
            <a:srgbClr val="1B2A4A"/>
          </a:solidFill>
          <a:ln w="12700">
            <a:solidFill>
              <a:srgbClr val="1B2A4A"/>
            </a:solidFill>
            <a:prstDash val="solid"/>
          </a:ln>
        </p:spPr>
      </p:sp>
      <p:sp>
        <p:nvSpPr>
          <p:cNvPr id="25" name="Text 23"/>
          <p:cNvSpPr/>
          <p:nvPr/>
        </p:nvSpPr>
        <p:spPr>
          <a:xfrm>
            <a:off x="2610612" y="1161288"/>
            <a:ext cx="1897380" cy="164592"/>
          </a:xfrm>
          <a:prstGeom prst="rect">
            <a:avLst/>
          </a:prstGeom>
          <a:noFill/>
          <a:ln/>
        </p:spPr>
        <p:txBody>
          <a:bodyPr wrap="square" lIns="0" tIns="0" rIns="0" bIns="0" rtlCol="0" anchor="ctr"/>
          <a:lstStyle/>
          <a:p>
            <a:pPr indent="0" marL="0">
              <a:buNone/>
            </a:pPr>
            <a:r>
              <a:rPr lang="en-US" sz="750" b="1" spc="150" kern="0" dirty="0">
                <a:solidFill>
                  <a:srgbClr val="00A5B5"/>
                </a:solidFill>
                <a:latin typeface="Calibri" pitchFamily="34" charset="0"/>
                <a:ea typeface="Calibri" pitchFamily="34" charset="-122"/>
                <a:cs typeface="Calibri" pitchFamily="34" charset="-120"/>
              </a:rPr>
              <a:t>PEOPLE &amp; ACCESS</a:t>
            </a:r>
            <a:endParaRPr lang="en-US" sz="750" dirty="0"/>
          </a:p>
        </p:txBody>
      </p:sp>
      <p:sp>
        <p:nvSpPr>
          <p:cNvPr id="26" name="Shape 24"/>
          <p:cNvSpPr/>
          <p:nvPr/>
        </p:nvSpPr>
        <p:spPr>
          <a:xfrm>
            <a:off x="2592324" y="1389888"/>
            <a:ext cx="1879092" cy="274320"/>
          </a:xfrm>
          <a:prstGeom prst="rect">
            <a:avLst/>
          </a:prstGeom>
          <a:solidFill>
            <a:srgbClr val="FDF3F2"/>
          </a:solidFill>
          <a:ln w="12700">
            <a:solidFill>
              <a:srgbClr val="000000"/>
            </a:solidFill>
            <a:prstDash val="solid"/>
          </a:ln>
        </p:spPr>
      </p:sp>
      <p:sp>
        <p:nvSpPr>
          <p:cNvPr id="27" name="Shape 25"/>
          <p:cNvSpPr/>
          <p:nvPr/>
        </p:nvSpPr>
        <p:spPr>
          <a:xfrm>
            <a:off x="2592324" y="1389888"/>
            <a:ext cx="32004" cy="274320"/>
          </a:xfrm>
          <a:prstGeom prst="rect">
            <a:avLst/>
          </a:prstGeom>
          <a:solidFill>
            <a:srgbClr val="D94F3D"/>
          </a:solidFill>
          <a:ln w="12700">
            <a:solidFill>
              <a:srgbClr val="D94F3D"/>
            </a:solidFill>
            <a:prstDash val="solid"/>
          </a:ln>
        </p:spPr>
      </p:sp>
      <p:sp>
        <p:nvSpPr>
          <p:cNvPr id="28" name="Text 26"/>
          <p:cNvSpPr/>
          <p:nvPr/>
        </p:nvSpPr>
        <p:spPr>
          <a:xfrm>
            <a:off x="2638044" y="1417320"/>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PAM — privileged access invisible</a:t>
            </a:r>
            <a:endParaRPr lang="en-US" sz="800" dirty="0"/>
          </a:p>
        </p:txBody>
      </p:sp>
      <p:sp>
        <p:nvSpPr>
          <p:cNvPr id="29" name="Shape 27"/>
          <p:cNvSpPr/>
          <p:nvPr/>
        </p:nvSpPr>
        <p:spPr>
          <a:xfrm>
            <a:off x="2592324" y="1719072"/>
            <a:ext cx="1879092" cy="274320"/>
          </a:xfrm>
          <a:prstGeom prst="rect">
            <a:avLst/>
          </a:prstGeom>
          <a:solidFill>
            <a:srgbClr val="FDF3F2"/>
          </a:solidFill>
          <a:ln w="12700">
            <a:solidFill>
              <a:srgbClr val="000000"/>
            </a:solidFill>
            <a:prstDash val="solid"/>
          </a:ln>
        </p:spPr>
      </p:sp>
      <p:sp>
        <p:nvSpPr>
          <p:cNvPr id="30" name="Shape 28"/>
          <p:cNvSpPr/>
          <p:nvPr/>
        </p:nvSpPr>
        <p:spPr>
          <a:xfrm>
            <a:off x="2592324" y="1719072"/>
            <a:ext cx="32004" cy="274320"/>
          </a:xfrm>
          <a:prstGeom prst="rect">
            <a:avLst/>
          </a:prstGeom>
          <a:solidFill>
            <a:srgbClr val="D94F3D"/>
          </a:solidFill>
          <a:ln w="12700">
            <a:solidFill>
              <a:srgbClr val="D94F3D"/>
            </a:solidFill>
            <a:prstDash val="solid"/>
          </a:ln>
        </p:spPr>
      </p:sp>
      <p:sp>
        <p:nvSpPr>
          <p:cNvPr id="31" name="Text 29"/>
          <p:cNvSpPr/>
          <p:nvPr/>
        </p:nvSpPr>
        <p:spPr>
          <a:xfrm>
            <a:off x="2638044" y="1746504"/>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MFA not uniformly enforced</a:t>
            </a:r>
            <a:endParaRPr lang="en-US" sz="800" dirty="0"/>
          </a:p>
        </p:txBody>
      </p:sp>
      <p:sp>
        <p:nvSpPr>
          <p:cNvPr id="32" name="Shape 30"/>
          <p:cNvSpPr/>
          <p:nvPr/>
        </p:nvSpPr>
        <p:spPr>
          <a:xfrm>
            <a:off x="2592324" y="2048256"/>
            <a:ext cx="1879092" cy="274320"/>
          </a:xfrm>
          <a:prstGeom prst="rect">
            <a:avLst/>
          </a:prstGeom>
          <a:solidFill>
            <a:srgbClr val="FDF3F2"/>
          </a:solidFill>
          <a:ln w="12700">
            <a:solidFill>
              <a:srgbClr val="000000"/>
            </a:solidFill>
            <a:prstDash val="solid"/>
          </a:ln>
        </p:spPr>
      </p:sp>
      <p:sp>
        <p:nvSpPr>
          <p:cNvPr id="33" name="Shape 31"/>
          <p:cNvSpPr/>
          <p:nvPr/>
        </p:nvSpPr>
        <p:spPr>
          <a:xfrm>
            <a:off x="2592324" y="2048256"/>
            <a:ext cx="32004" cy="274320"/>
          </a:xfrm>
          <a:prstGeom prst="rect">
            <a:avLst/>
          </a:prstGeom>
          <a:solidFill>
            <a:srgbClr val="D94F3D"/>
          </a:solidFill>
          <a:ln w="12700">
            <a:solidFill>
              <a:srgbClr val="D94F3D"/>
            </a:solidFill>
            <a:prstDash val="solid"/>
          </a:ln>
        </p:spPr>
      </p:sp>
      <p:sp>
        <p:nvSpPr>
          <p:cNvPr id="34" name="Text 32"/>
          <p:cNvSpPr/>
          <p:nvPr/>
        </p:nvSpPr>
        <p:spPr>
          <a:xfrm>
            <a:off x="2638044" y="2075688"/>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Linux servers on local accounts</a:t>
            </a:r>
            <a:endParaRPr lang="en-US" sz="800" dirty="0"/>
          </a:p>
        </p:txBody>
      </p:sp>
      <p:sp>
        <p:nvSpPr>
          <p:cNvPr id="35" name="Shape 33"/>
          <p:cNvSpPr/>
          <p:nvPr/>
        </p:nvSpPr>
        <p:spPr>
          <a:xfrm>
            <a:off x="2592324" y="2377440"/>
            <a:ext cx="1879092" cy="274320"/>
          </a:xfrm>
          <a:prstGeom prst="rect">
            <a:avLst/>
          </a:prstGeom>
          <a:solidFill>
            <a:srgbClr val="FEF9F0"/>
          </a:solidFill>
          <a:ln w="12700">
            <a:solidFill>
              <a:srgbClr val="000000"/>
            </a:solidFill>
            <a:prstDash val="solid"/>
          </a:ln>
        </p:spPr>
      </p:sp>
      <p:sp>
        <p:nvSpPr>
          <p:cNvPr id="36" name="Shape 34"/>
          <p:cNvSpPr/>
          <p:nvPr/>
        </p:nvSpPr>
        <p:spPr>
          <a:xfrm>
            <a:off x="2592324" y="2377440"/>
            <a:ext cx="32004" cy="274320"/>
          </a:xfrm>
          <a:prstGeom prst="rect">
            <a:avLst/>
          </a:prstGeom>
          <a:solidFill>
            <a:srgbClr val="E8A01E"/>
          </a:solidFill>
          <a:ln w="12700">
            <a:solidFill>
              <a:srgbClr val="E8A01E"/>
            </a:solidFill>
            <a:prstDash val="solid"/>
          </a:ln>
        </p:spPr>
      </p:sp>
      <p:sp>
        <p:nvSpPr>
          <p:cNvPr id="37" name="Text 35"/>
          <p:cNvSpPr/>
          <p:nvPr/>
        </p:nvSpPr>
        <p:spPr>
          <a:xfrm>
            <a:off x="2638044" y="2404872"/>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Unmanaged service accounts</a:t>
            </a:r>
            <a:endParaRPr lang="en-US" sz="800" dirty="0"/>
          </a:p>
        </p:txBody>
      </p:sp>
      <p:sp>
        <p:nvSpPr>
          <p:cNvPr id="38" name="Shape 36"/>
          <p:cNvSpPr/>
          <p:nvPr/>
        </p:nvSpPr>
        <p:spPr>
          <a:xfrm>
            <a:off x="2592324" y="2706624"/>
            <a:ext cx="1879092" cy="274320"/>
          </a:xfrm>
          <a:prstGeom prst="rect">
            <a:avLst/>
          </a:prstGeom>
          <a:solidFill>
            <a:srgbClr val="FEF9F0"/>
          </a:solidFill>
          <a:ln w="12700">
            <a:solidFill>
              <a:srgbClr val="000000"/>
            </a:solidFill>
            <a:prstDash val="solid"/>
          </a:ln>
        </p:spPr>
      </p:sp>
      <p:sp>
        <p:nvSpPr>
          <p:cNvPr id="39" name="Shape 37"/>
          <p:cNvSpPr/>
          <p:nvPr/>
        </p:nvSpPr>
        <p:spPr>
          <a:xfrm>
            <a:off x="2592324" y="2706624"/>
            <a:ext cx="32004" cy="274320"/>
          </a:xfrm>
          <a:prstGeom prst="rect">
            <a:avLst/>
          </a:prstGeom>
          <a:solidFill>
            <a:srgbClr val="E8A01E"/>
          </a:solidFill>
          <a:ln w="12700">
            <a:solidFill>
              <a:srgbClr val="E8A01E"/>
            </a:solidFill>
            <a:prstDash val="solid"/>
          </a:ln>
        </p:spPr>
      </p:sp>
      <p:sp>
        <p:nvSpPr>
          <p:cNvPr id="40" name="Text 38"/>
          <p:cNvSpPr/>
          <p:nvPr/>
        </p:nvSpPr>
        <p:spPr>
          <a:xfrm>
            <a:off x="2638044" y="2734056"/>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Security awareness training ad-hoc</a:t>
            </a:r>
            <a:endParaRPr lang="en-US" sz="800" dirty="0"/>
          </a:p>
        </p:txBody>
      </p:sp>
      <p:sp>
        <p:nvSpPr>
          <p:cNvPr id="41" name="Shape 39"/>
          <p:cNvSpPr/>
          <p:nvPr/>
        </p:nvSpPr>
        <p:spPr>
          <a:xfrm>
            <a:off x="4617720" y="1115568"/>
            <a:ext cx="1988820" cy="3451860"/>
          </a:xfrm>
          <a:prstGeom prst="rect">
            <a:avLst/>
          </a:prstGeom>
          <a:solidFill>
            <a:srgbClr val="FFFFFF"/>
          </a:solidFill>
          <a:ln w="12700">
            <a:solidFill>
              <a:srgbClr val="E8EBF0"/>
            </a:solidFill>
            <a:prstDash val="solid"/>
          </a:ln>
        </p:spPr>
      </p:sp>
      <p:sp>
        <p:nvSpPr>
          <p:cNvPr id="42" name="Shape 40"/>
          <p:cNvSpPr/>
          <p:nvPr/>
        </p:nvSpPr>
        <p:spPr>
          <a:xfrm>
            <a:off x="4617720" y="1115568"/>
            <a:ext cx="1988820" cy="237744"/>
          </a:xfrm>
          <a:prstGeom prst="rect">
            <a:avLst/>
          </a:prstGeom>
          <a:solidFill>
            <a:srgbClr val="1B2A4A"/>
          </a:solidFill>
          <a:ln w="12700">
            <a:solidFill>
              <a:srgbClr val="1B2A4A"/>
            </a:solidFill>
            <a:prstDash val="solid"/>
          </a:ln>
        </p:spPr>
      </p:sp>
      <p:sp>
        <p:nvSpPr>
          <p:cNvPr id="43" name="Text 41"/>
          <p:cNvSpPr/>
          <p:nvPr/>
        </p:nvSpPr>
        <p:spPr>
          <a:xfrm>
            <a:off x="4690872" y="1161288"/>
            <a:ext cx="1897380" cy="164592"/>
          </a:xfrm>
          <a:prstGeom prst="rect">
            <a:avLst/>
          </a:prstGeom>
          <a:noFill/>
          <a:ln/>
        </p:spPr>
        <p:txBody>
          <a:bodyPr wrap="square" lIns="0" tIns="0" rIns="0" bIns="0" rtlCol="0" anchor="ctr"/>
          <a:lstStyle/>
          <a:p>
            <a:pPr indent="0" marL="0">
              <a:buNone/>
            </a:pPr>
            <a:r>
              <a:rPr lang="en-US" sz="750" b="1" spc="150" kern="0" dirty="0">
                <a:solidFill>
                  <a:srgbClr val="00A5B5"/>
                </a:solidFill>
                <a:latin typeface="Calibri" pitchFamily="34" charset="0"/>
                <a:ea typeface="Calibri" pitchFamily="34" charset="-122"/>
                <a:cs typeface="Calibri" pitchFamily="34" charset="-120"/>
              </a:rPr>
              <a:t>INFRASTRUCTURE</a:t>
            </a:r>
            <a:endParaRPr lang="en-US" sz="750" dirty="0"/>
          </a:p>
        </p:txBody>
      </p:sp>
      <p:sp>
        <p:nvSpPr>
          <p:cNvPr id="44" name="Shape 42"/>
          <p:cNvSpPr/>
          <p:nvPr/>
        </p:nvSpPr>
        <p:spPr>
          <a:xfrm>
            <a:off x="4672584" y="1389888"/>
            <a:ext cx="1879092" cy="274320"/>
          </a:xfrm>
          <a:prstGeom prst="rect">
            <a:avLst/>
          </a:prstGeom>
          <a:solidFill>
            <a:srgbClr val="FDF3F2"/>
          </a:solidFill>
          <a:ln w="12700">
            <a:solidFill>
              <a:srgbClr val="000000"/>
            </a:solidFill>
            <a:prstDash val="solid"/>
          </a:ln>
        </p:spPr>
      </p:sp>
      <p:sp>
        <p:nvSpPr>
          <p:cNvPr id="45" name="Shape 43"/>
          <p:cNvSpPr/>
          <p:nvPr/>
        </p:nvSpPr>
        <p:spPr>
          <a:xfrm>
            <a:off x="4672584" y="1389888"/>
            <a:ext cx="32004" cy="274320"/>
          </a:xfrm>
          <a:prstGeom prst="rect">
            <a:avLst/>
          </a:prstGeom>
          <a:solidFill>
            <a:srgbClr val="D94F3D"/>
          </a:solidFill>
          <a:ln w="12700">
            <a:solidFill>
              <a:srgbClr val="D94F3D"/>
            </a:solidFill>
            <a:prstDash val="solid"/>
          </a:ln>
        </p:spPr>
      </p:sp>
      <p:sp>
        <p:nvSpPr>
          <p:cNvPr id="46" name="Text 44"/>
          <p:cNvSpPr/>
          <p:nvPr/>
        </p:nvSpPr>
        <p:spPr>
          <a:xfrm>
            <a:off x="4718304" y="1417320"/>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SIEM — zero detection capability</a:t>
            </a:r>
            <a:endParaRPr lang="en-US" sz="800" dirty="0"/>
          </a:p>
        </p:txBody>
      </p:sp>
      <p:sp>
        <p:nvSpPr>
          <p:cNvPr id="47" name="Shape 45"/>
          <p:cNvSpPr/>
          <p:nvPr/>
        </p:nvSpPr>
        <p:spPr>
          <a:xfrm>
            <a:off x="4672584" y="1719072"/>
            <a:ext cx="1879092" cy="274320"/>
          </a:xfrm>
          <a:prstGeom prst="rect">
            <a:avLst/>
          </a:prstGeom>
          <a:solidFill>
            <a:srgbClr val="FDF3F2"/>
          </a:solidFill>
          <a:ln w="12700">
            <a:solidFill>
              <a:srgbClr val="000000"/>
            </a:solidFill>
            <a:prstDash val="solid"/>
          </a:ln>
        </p:spPr>
      </p:sp>
      <p:sp>
        <p:nvSpPr>
          <p:cNvPr id="48" name="Shape 46"/>
          <p:cNvSpPr/>
          <p:nvPr/>
        </p:nvSpPr>
        <p:spPr>
          <a:xfrm>
            <a:off x="4672584" y="1719072"/>
            <a:ext cx="32004" cy="274320"/>
          </a:xfrm>
          <a:prstGeom prst="rect">
            <a:avLst/>
          </a:prstGeom>
          <a:solidFill>
            <a:srgbClr val="D94F3D"/>
          </a:solidFill>
          <a:ln w="12700">
            <a:solidFill>
              <a:srgbClr val="D94F3D"/>
            </a:solidFill>
            <a:prstDash val="solid"/>
          </a:ln>
        </p:spPr>
      </p:sp>
      <p:sp>
        <p:nvSpPr>
          <p:cNvPr id="49" name="Text 47"/>
          <p:cNvSpPr/>
          <p:nvPr/>
        </p:nvSpPr>
        <p:spPr>
          <a:xfrm>
            <a:off x="4718304" y="1746504"/>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Unlogged remote access (RDP/SSH)</a:t>
            </a:r>
            <a:endParaRPr lang="en-US" sz="800" dirty="0"/>
          </a:p>
        </p:txBody>
      </p:sp>
      <p:sp>
        <p:nvSpPr>
          <p:cNvPr id="50" name="Shape 48"/>
          <p:cNvSpPr/>
          <p:nvPr/>
        </p:nvSpPr>
        <p:spPr>
          <a:xfrm>
            <a:off x="4672584" y="2048256"/>
            <a:ext cx="1879092" cy="274320"/>
          </a:xfrm>
          <a:prstGeom prst="rect">
            <a:avLst/>
          </a:prstGeom>
          <a:solidFill>
            <a:srgbClr val="FEF9F0"/>
          </a:solidFill>
          <a:ln w="12700">
            <a:solidFill>
              <a:srgbClr val="000000"/>
            </a:solidFill>
            <a:prstDash val="solid"/>
          </a:ln>
        </p:spPr>
      </p:sp>
      <p:sp>
        <p:nvSpPr>
          <p:cNvPr id="51" name="Shape 49"/>
          <p:cNvSpPr/>
          <p:nvPr/>
        </p:nvSpPr>
        <p:spPr>
          <a:xfrm>
            <a:off x="4672584" y="2048256"/>
            <a:ext cx="32004" cy="274320"/>
          </a:xfrm>
          <a:prstGeom prst="rect">
            <a:avLst/>
          </a:prstGeom>
          <a:solidFill>
            <a:srgbClr val="E8A01E"/>
          </a:solidFill>
          <a:ln w="12700">
            <a:solidFill>
              <a:srgbClr val="E8A01E"/>
            </a:solidFill>
            <a:prstDash val="solid"/>
          </a:ln>
        </p:spPr>
      </p:sp>
      <p:sp>
        <p:nvSpPr>
          <p:cNvPr id="52" name="Text 50"/>
          <p:cNvSpPr/>
          <p:nvPr/>
        </p:nvSpPr>
        <p:spPr>
          <a:xfrm>
            <a:off x="4718304" y="2075688"/>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CVSS-only scoring — poor priority</a:t>
            </a:r>
            <a:endParaRPr lang="en-US" sz="800" dirty="0"/>
          </a:p>
        </p:txBody>
      </p:sp>
      <p:sp>
        <p:nvSpPr>
          <p:cNvPr id="53" name="Shape 51"/>
          <p:cNvSpPr/>
          <p:nvPr/>
        </p:nvSpPr>
        <p:spPr>
          <a:xfrm>
            <a:off x="4672584" y="2377440"/>
            <a:ext cx="1879092" cy="274320"/>
          </a:xfrm>
          <a:prstGeom prst="rect">
            <a:avLst/>
          </a:prstGeom>
          <a:solidFill>
            <a:srgbClr val="FEF9F0"/>
          </a:solidFill>
          <a:ln w="12700">
            <a:solidFill>
              <a:srgbClr val="000000"/>
            </a:solidFill>
            <a:prstDash val="solid"/>
          </a:ln>
        </p:spPr>
      </p:sp>
      <p:sp>
        <p:nvSpPr>
          <p:cNvPr id="54" name="Shape 52"/>
          <p:cNvSpPr/>
          <p:nvPr/>
        </p:nvSpPr>
        <p:spPr>
          <a:xfrm>
            <a:off x="4672584" y="2377440"/>
            <a:ext cx="32004" cy="274320"/>
          </a:xfrm>
          <a:prstGeom prst="rect">
            <a:avLst/>
          </a:prstGeom>
          <a:solidFill>
            <a:srgbClr val="E8A01E"/>
          </a:solidFill>
          <a:ln w="12700">
            <a:solidFill>
              <a:srgbClr val="E8A01E"/>
            </a:solidFill>
            <a:prstDash val="solid"/>
          </a:ln>
        </p:spPr>
      </p:sp>
      <p:sp>
        <p:nvSpPr>
          <p:cNvPr id="55" name="Text 53"/>
          <p:cNvSpPr/>
          <p:nvPr/>
        </p:nvSpPr>
        <p:spPr>
          <a:xfrm>
            <a:off x="4718304" y="2404872"/>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CMDB / asset lifecycle mgmt</a:t>
            </a:r>
            <a:endParaRPr lang="en-US" sz="800" dirty="0"/>
          </a:p>
        </p:txBody>
      </p:sp>
      <p:sp>
        <p:nvSpPr>
          <p:cNvPr id="56" name="Shape 54"/>
          <p:cNvSpPr/>
          <p:nvPr/>
        </p:nvSpPr>
        <p:spPr>
          <a:xfrm>
            <a:off x="4672584" y="2706624"/>
            <a:ext cx="1879092" cy="274320"/>
          </a:xfrm>
          <a:prstGeom prst="rect">
            <a:avLst/>
          </a:prstGeom>
          <a:solidFill>
            <a:srgbClr val="FEF9F0"/>
          </a:solidFill>
          <a:ln w="12700">
            <a:solidFill>
              <a:srgbClr val="000000"/>
            </a:solidFill>
            <a:prstDash val="solid"/>
          </a:ln>
        </p:spPr>
      </p:sp>
      <p:sp>
        <p:nvSpPr>
          <p:cNvPr id="57" name="Shape 55"/>
          <p:cNvSpPr/>
          <p:nvPr/>
        </p:nvSpPr>
        <p:spPr>
          <a:xfrm>
            <a:off x="4672584" y="2706624"/>
            <a:ext cx="32004" cy="274320"/>
          </a:xfrm>
          <a:prstGeom prst="rect">
            <a:avLst/>
          </a:prstGeom>
          <a:solidFill>
            <a:srgbClr val="E8A01E"/>
          </a:solidFill>
          <a:ln w="12700">
            <a:solidFill>
              <a:srgbClr val="E8A01E"/>
            </a:solidFill>
            <a:prstDash val="solid"/>
          </a:ln>
        </p:spPr>
      </p:sp>
      <p:sp>
        <p:nvSpPr>
          <p:cNvPr id="58" name="Text 56"/>
          <p:cNvSpPr/>
          <p:nvPr/>
        </p:nvSpPr>
        <p:spPr>
          <a:xfrm>
            <a:off x="4718304" y="2734056"/>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Shared Wi-Fi key — never rotated</a:t>
            </a:r>
            <a:endParaRPr lang="en-US" sz="800" dirty="0"/>
          </a:p>
        </p:txBody>
      </p:sp>
      <p:sp>
        <p:nvSpPr>
          <p:cNvPr id="59" name="Shape 57"/>
          <p:cNvSpPr/>
          <p:nvPr/>
        </p:nvSpPr>
        <p:spPr>
          <a:xfrm>
            <a:off x="6697980" y="1115568"/>
            <a:ext cx="1988820" cy="3451860"/>
          </a:xfrm>
          <a:prstGeom prst="rect">
            <a:avLst/>
          </a:prstGeom>
          <a:solidFill>
            <a:srgbClr val="FFFFFF"/>
          </a:solidFill>
          <a:ln w="12700">
            <a:solidFill>
              <a:srgbClr val="E8EBF0"/>
            </a:solidFill>
            <a:prstDash val="solid"/>
          </a:ln>
        </p:spPr>
      </p:sp>
      <p:sp>
        <p:nvSpPr>
          <p:cNvPr id="60" name="Shape 58"/>
          <p:cNvSpPr/>
          <p:nvPr/>
        </p:nvSpPr>
        <p:spPr>
          <a:xfrm>
            <a:off x="6697980" y="1115568"/>
            <a:ext cx="1988820" cy="237744"/>
          </a:xfrm>
          <a:prstGeom prst="rect">
            <a:avLst/>
          </a:prstGeom>
          <a:solidFill>
            <a:srgbClr val="1B2A4A"/>
          </a:solidFill>
          <a:ln w="12700">
            <a:solidFill>
              <a:srgbClr val="1B2A4A"/>
            </a:solidFill>
            <a:prstDash val="solid"/>
          </a:ln>
        </p:spPr>
      </p:sp>
      <p:sp>
        <p:nvSpPr>
          <p:cNvPr id="61" name="Text 59"/>
          <p:cNvSpPr/>
          <p:nvPr/>
        </p:nvSpPr>
        <p:spPr>
          <a:xfrm>
            <a:off x="6771132" y="1161288"/>
            <a:ext cx="1897380" cy="164592"/>
          </a:xfrm>
          <a:prstGeom prst="rect">
            <a:avLst/>
          </a:prstGeom>
          <a:noFill/>
          <a:ln/>
        </p:spPr>
        <p:txBody>
          <a:bodyPr wrap="square" lIns="0" tIns="0" rIns="0" bIns="0" rtlCol="0" anchor="ctr"/>
          <a:lstStyle/>
          <a:p>
            <a:pPr indent="0" marL="0">
              <a:buNone/>
            </a:pPr>
            <a:r>
              <a:rPr lang="en-US" sz="750" b="1" spc="150" kern="0" dirty="0">
                <a:solidFill>
                  <a:srgbClr val="00A5B5"/>
                </a:solidFill>
                <a:latin typeface="Calibri" pitchFamily="34" charset="0"/>
                <a:ea typeface="Calibri" pitchFamily="34" charset="-122"/>
                <a:cs typeface="Calibri" pitchFamily="34" charset="-120"/>
              </a:rPr>
              <a:t>DATA &amp; APPLICATIONS</a:t>
            </a:r>
            <a:endParaRPr lang="en-US" sz="750" dirty="0"/>
          </a:p>
        </p:txBody>
      </p:sp>
      <p:sp>
        <p:nvSpPr>
          <p:cNvPr id="62" name="Shape 60"/>
          <p:cNvSpPr/>
          <p:nvPr/>
        </p:nvSpPr>
        <p:spPr>
          <a:xfrm>
            <a:off x="6752844" y="1389888"/>
            <a:ext cx="1879092" cy="274320"/>
          </a:xfrm>
          <a:prstGeom prst="rect">
            <a:avLst/>
          </a:prstGeom>
          <a:solidFill>
            <a:srgbClr val="FDF3F2"/>
          </a:solidFill>
          <a:ln w="12700">
            <a:solidFill>
              <a:srgbClr val="000000"/>
            </a:solidFill>
            <a:prstDash val="solid"/>
          </a:ln>
        </p:spPr>
      </p:sp>
      <p:sp>
        <p:nvSpPr>
          <p:cNvPr id="63" name="Shape 61"/>
          <p:cNvSpPr/>
          <p:nvPr/>
        </p:nvSpPr>
        <p:spPr>
          <a:xfrm>
            <a:off x="6752844" y="1389888"/>
            <a:ext cx="32004" cy="274320"/>
          </a:xfrm>
          <a:prstGeom prst="rect">
            <a:avLst/>
          </a:prstGeom>
          <a:solidFill>
            <a:srgbClr val="D94F3D"/>
          </a:solidFill>
          <a:ln w="12700">
            <a:solidFill>
              <a:srgbClr val="D94F3D"/>
            </a:solidFill>
            <a:prstDash val="solid"/>
          </a:ln>
        </p:spPr>
      </p:sp>
      <p:sp>
        <p:nvSpPr>
          <p:cNvPr id="64" name="Text 62"/>
          <p:cNvSpPr/>
          <p:nvPr/>
        </p:nvSpPr>
        <p:spPr>
          <a:xfrm>
            <a:off x="6798564" y="1417320"/>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DLP — PII exfiltration undetectable</a:t>
            </a:r>
            <a:endParaRPr lang="en-US" sz="800" dirty="0"/>
          </a:p>
        </p:txBody>
      </p:sp>
      <p:sp>
        <p:nvSpPr>
          <p:cNvPr id="65" name="Shape 63"/>
          <p:cNvSpPr/>
          <p:nvPr/>
        </p:nvSpPr>
        <p:spPr>
          <a:xfrm>
            <a:off x="6752844" y="1719072"/>
            <a:ext cx="1879092" cy="274320"/>
          </a:xfrm>
          <a:prstGeom prst="rect">
            <a:avLst/>
          </a:prstGeom>
          <a:solidFill>
            <a:srgbClr val="FDF3F2"/>
          </a:solidFill>
          <a:ln w="12700">
            <a:solidFill>
              <a:srgbClr val="000000"/>
            </a:solidFill>
            <a:prstDash val="solid"/>
          </a:ln>
        </p:spPr>
      </p:sp>
      <p:sp>
        <p:nvSpPr>
          <p:cNvPr id="66" name="Shape 64"/>
          <p:cNvSpPr/>
          <p:nvPr/>
        </p:nvSpPr>
        <p:spPr>
          <a:xfrm>
            <a:off x="6752844" y="1719072"/>
            <a:ext cx="32004" cy="274320"/>
          </a:xfrm>
          <a:prstGeom prst="rect">
            <a:avLst/>
          </a:prstGeom>
          <a:solidFill>
            <a:srgbClr val="D94F3D"/>
          </a:solidFill>
          <a:ln w="12700">
            <a:solidFill>
              <a:srgbClr val="D94F3D"/>
            </a:solidFill>
            <a:prstDash val="solid"/>
          </a:ln>
        </p:spPr>
      </p:sp>
      <p:sp>
        <p:nvSpPr>
          <p:cNvPr id="67" name="Text 65"/>
          <p:cNvSpPr/>
          <p:nvPr/>
        </p:nvSpPr>
        <p:spPr>
          <a:xfrm>
            <a:off x="6798564" y="1746504"/>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data classification framework</a:t>
            </a:r>
            <a:endParaRPr lang="en-US" sz="800" dirty="0"/>
          </a:p>
        </p:txBody>
      </p:sp>
      <p:sp>
        <p:nvSpPr>
          <p:cNvPr id="68" name="Shape 66"/>
          <p:cNvSpPr/>
          <p:nvPr/>
        </p:nvSpPr>
        <p:spPr>
          <a:xfrm>
            <a:off x="6752844" y="2048256"/>
            <a:ext cx="1879092" cy="274320"/>
          </a:xfrm>
          <a:prstGeom prst="rect">
            <a:avLst/>
          </a:prstGeom>
          <a:solidFill>
            <a:srgbClr val="FEF9F0"/>
          </a:solidFill>
          <a:ln w="12700">
            <a:solidFill>
              <a:srgbClr val="000000"/>
            </a:solidFill>
            <a:prstDash val="solid"/>
          </a:ln>
        </p:spPr>
      </p:sp>
      <p:sp>
        <p:nvSpPr>
          <p:cNvPr id="69" name="Shape 67"/>
          <p:cNvSpPr/>
          <p:nvPr/>
        </p:nvSpPr>
        <p:spPr>
          <a:xfrm>
            <a:off x="6752844" y="2048256"/>
            <a:ext cx="32004" cy="274320"/>
          </a:xfrm>
          <a:prstGeom prst="rect">
            <a:avLst/>
          </a:prstGeom>
          <a:solidFill>
            <a:srgbClr val="E8A01E"/>
          </a:solidFill>
          <a:ln w="12700">
            <a:solidFill>
              <a:srgbClr val="E8A01E"/>
            </a:solidFill>
            <a:prstDash val="solid"/>
          </a:ln>
        </p:spPr>
      </p:sp>
      <p:sp>
        <p:nvSpPr>
          <p:cNvPr id="70" name="Text 68"/>
          <p:cNvSpPr/>
          <p:nvPr/>
        </p:nvSpPr>
        <p:spPr>
          <a:xfrm>
            <a:off x="6798564" y="2075688"/>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code scanning in CI/CD</a:t>
            </a:r>
            <a:endParaRPr lang="en-US" sz="800" dirty="0"/>
          </a:p>
        </p:txBody>
      </p:sp>
      <p:sp>
        <p:nvSpPr>
          <p:cNvPr id="71" name="Shape 69"/>
          <p:cNvSpPr/>
          <p:nvPr/>
        </p:nvSpPr>
        <p:spPr>
          <a:xfrm>
            <a:off x="6752844" y="2377440"/>
            <a:ext cx="1879092" cy="274320"/>
          </a:xfrm>
          <a:prstGeom prst="rect">
            <a:avLst/>
          </a:prstGeom>
          <a:solidFill>
            <a:srgbClr val="FEF9F0"/>
          </a:solidFill>
          <a:ln w="12700">
            <a:solidFill>
              <a:srgbClr val="000000"/>
            </a:solidFill>
            <a:prstDash val="solid"/>
          </a:ln>
        </p:spPr>
      </p:sp>
      <p:sp>
        <p:nvSpPr>
          <p:cNvPr id="72" name="Shape 70"/>
          <p:cNvSpPr/>
          <p:nvPr/>
        </p:nvSpPr>
        <p:spPr>
          <a:xfrm>
            <a:off x="6752844" y="2377440"/>
            <a:ext cx="32004" cy="274320"/>
          </a:xfrm>
          <a:prstGeom prst="rect">
            <a:avLst/>
          </a:prstGeom>
          <a:solidFill>
            <a:srgbClr val="E8A01E"/>
          </a:solidFill>
          <a:ln w="12700">
            <a:solidFill>
              <a:srgbClr val="E8A01E"/>
            </a:solidFill>
            <a:prstDash val="solid"/>
          </a:ln>
        </p:spPr>
      </p:sp>
      <p:sp>
        <p:nvSpPr>
          <p:cNvPr id="73" name="Text 71"/>
          <p:cNvSpPr/>
          <p:nvPr/>
        </p:nvSpPr>
        <p:spPr>
          <a:xfrm>
            <a:off x="6798564" y="2404872"/>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CSPM — cloud misconfiguration risk</a:t>
            </a:r>
            <a:endParaRPr lang="en-US" sz="800" dirty="0"/>
          </a:p>
        </p:txBody>
      </p:sp>
      <p:sp>
        <p:nvSpPr>
          <p:cNvPr id="74" name="Shape 72"/>
          <p:cNvSpPr/>
          <p:nvPr/>
        </p:nvSpPr>
        <p:spPr>
          <a:xfrm>
            <a:off x="6752844" y="2706624"/>
            <a:ext cx="1879092" cy="274320"/>
          </a:xfrm>
          <a:prstGeom prst="rect">
            <a:avLst/>
          </a:prstGeom>
          <a:solidFill>
            <a:srgbClr val="FEF9F0"/>
          </a:solidFill>
          <a:ln w="12700">
            <a:solidFill>
              <a:srgbClr val="000000"/>
            </a:solidFill>
            <a:prstDash val="solid"/>
          </a:ln>
        </p:spPr>
      </p:sp>
      <p:sp>
        <p:nvSpPr>
          <p:cNvPr id="75" name="Shape 73"/>
          <p:cNvSpPr/>
          <p:nvPr/>
        </p:nvSpPr>
        <p:spPr>
          <a:xfrm>
            <a:off x="6752844" y="2706624"/>
            <a:ext cx="32004" cy="274320"/>
          </a:xfrm>
          <a:prstGeom prst="rect">
            <a:avLst/>
          </a:prstGeom>
          <a:solidFill>
            <a:srgbClr val="E8A01E"/>
          </a:solidFill>
          <a:ln w="12700">
            <a:solidFill>
              <a:srgbClr val="E8A01E"/>
            </a:solidFill>
            <a:prstDash val="solid"/>
          </a:ln>
        </p:spPr>
      </p:sp>
      <p:sp>
        <p:nvSpPr>
          <p:cNvPr id="76" name="Text 74"/>
          <p:cNvSpPr/>
          <p:nvPr/>
        </p:nvSpPr>
        <p:spPr>
          <a:xfrm>
            <a:off x="6798564" y="2734056"/>
            <a:ext cx="1805940" cy="228600"/>
          </a:xfrm>
          <a:prstGeom prst="rect">
            <a:avLst/>
          </a:prstGeom>
          <a:noFill/>
          <a:ln/>
        </p:spPr>
        <p:txBody>
          <a:bodyPr wrap="square" lIns="0" tIns="0" rIns="0" bIns="0" rtlCol="0" anchor="t"/>
          <a:lstStyle/>
          <a:p>
            <a:pPr indent="0" marL="0">
              <a:buNone/>
            </a:pPr>
            <a:r>
              <a:rPr lang="en-US" sz="800" dirty="0">
                <a:solidFill>
                  <a:srgbClr val="1A2640"/>
                </a:solidFill>
                <a:latin typeface="Calibri" pitchFamily="34" charset="0"/>
                <a:ea typeface="Calibri" pitchFamily="34" charset="-122"/>
                <a:cs typeface="Calibri" pitchFamily="34" charset="-120"/>
              </a:rPr>
              <a:t>No data flow diagrams</a:t>
            </a:r>
            <a:endParaRPr lang="en-US" sz="800" dirty="0"/>
          </a:p>
        </p:txBody>
      </p:sp>
      <p:sp>
        <p:nvSpPr>
          <p:cNvPr id="77" name="Shape 75"/>
          <p:cNvSpPr/>
          <p:nvPr/>
        </p:nvSpPr>
        <p:spPr>
          <a:xfrm>
            <a:off x="0" y="4745736"/>
            <a:ext cx="9144000" cy="320040"/>
          </a:xfrm>
          <a:prstGeom prst="rect">
            <a:avLst/>
          </a:prstGeom>
          <a:solidFill>
            <a:srgbClr val="0F1C35"/>
          </a:solidFill>
          <a:ln w="12700">
            <a:solidFill>
              <a:srgbClr val="0F1C35"/>
            </a:solidFill>
            <a:prstDash val="solid"/>
          </a:ln>
        </p:spPr>
      </p:sp>
      <p:sp>
        <p:nvSpPr>
          <p:cNvPr id="78" name="Text 76"/>
          <p:cNvSpPr/>
          <p:nvPr/>
        </p:nvSpPr>
        <p:spPr>
          <a:xfrm>
            <a:off x="914400" y="4773168"/>
            <a:ext cx="640080" cy="201168"/>
          </a:xfrm>
          <a:prstGeom prst="rect">
            <a:avLst/>
          </a:prstGeom>
          <a:noFill/>
          <a:ln/>
        </p:spPr>
        <p:txBody>
          <a:bodyPr wrap="square" lIns="0" tIns="0" rIns="0" bIns="0" rtlCol="0" anchor="ctr"/>
          <a:lstStyle/>
          <a:p>
            <a:pPr indent="0" marL="0">
              <a:buNone/>
            </a:pPr>
            <a:r>
              <a:rPr lang="en-US" sz="1600" b="1" dirty="0">
                <a:solidFill>
                  <a:srgbClr val="FF7070"/>
                </a:solidFill>
                <a:latin typeface="Calibri" pitchFamily="34" charset="0"/>
                <a:ea typeface="Calibri" pitchFamily="34" charset="-122"/>
                <a:cs typeface="Calibri" pitchFamily="34" charset="-120"/>
              </a:rPr>
              <a:t>20+</a:t>
            </a:r>
            <a:endParaRPr lang="en-US" sz="1600" dirty="0"/>
          </a:p>
        </p:txBody>
      </p:sp>
      <p:sp>
        <p:nvSpPr>
          <p:cNvPr id="79" name="Text 77"/>
          <p:cNvSpPr/>
          <p:nvPr/>
        </p:nvSpPr>
        <p:spPr>
          <a:xfrm>
            <a:off x="1572768" y="4818888"/>
            <a:ext cx="914400" cy="164592"/>
          </a:xfrm>
          <a:prstGeom prst="rect">
            <a:avLst/>
          </a:prstGeom>
          <a:noFill/>
          <a:ln/>
        </p:spPr>
        <p:txBody>
          <a:bodyPr wrap="square" lIns="0" tIns="0" rIns="0" bIns="0" rtlCol="0" anchor="ctr"/>
          <a:lstStyle/>
          <a:p>
            <a:pPr indent="0" marL="0">
              <a:buNone/>
            </a:pPr>
            <a:r>
              <a:rPr lang="en-US" sz="700" spc="100" kern="0" dirty="0">
                <a:solidFill>
                  <a:srgbClr val="88AABB"/>
                </a:solidFill>
                <a:latin typeface="Calibri" pitchFamily="34" charset="0"/>
                <a:ea typeface="Calibri" pitchFamily="34" charset="-122"/>
                <a:cs typeface="Calibri" pitchFamily="34" charset="-120"/>
              </a:rPr>
              <a:t>CONTROL GAPS</a:t>
            </a:r>
            <a:endParaRPr lang="en-US" sz="700" dirty="0"/>
          </a:p>
        </p:txBody>
      </p:sp>
      <p:sp>
        <p:nvSpPr>
          <p:cNvPr id="80" name="Text 78"/>
          <p:cNvSpPr/>
          <p:nvPr/>
        </p:nvSpPr>
        <p:spPr>
          <a:xfrm>
            <a:off x="2560320" y="4773168"/>
            <a:ext cx="640080" cy="201168"/>
          </a:xfrm>
          <a:prstGeom prst="rect">
            <a:avLst/>
          </a:prstGeom>
          <a:noFill/>
          <a:ln/>
        </p:spPr>
        <p:txBody>
          <a:bodyPr wrap="square" lIns="0" tIns="0" rIns="0" bIns="0" rtlCol="0" anchor="ctr"/>
          <a:lstStyle/>
          <a:p>
            <a:pPr indent="0" marL="0">
              <a:buNone/>
            </a:pPr>
            <a:r>
              <a:rPr lang="en-US" sz="1600" b="1" dirty="0">
                <a:solidFill>
                  <a:srgbClr val="E8A01E"/>
                </a:solidFill>
                <a:latin typeface="Calibri" pitchFamily="34" charset="0"/>
                <a:ea typeface="Calibri" pitchFamily="34" charset="-122"/>
                <a:cs typeface="Calibri" pitchFamily="34" charset="-120"/>
              </a:rPr>
              <a:t>4</a:t>
            </a:r>
            <a:endParaRPr lang="en-US" sz="1600" dirty="0"/>
          </a:p>
        </p:txBody>
      </p:sp>
      <p:sp>
        <p:nvSpPr>
          <p:cNvPr id="81" name="Text 79"/>
          <p:cNvSpPr/>
          <p:nvPr/>
        </p:nvSpPr>
        <p:spPr>
          <a:xfrm>
            <a:off x="3218688" y="4818888"/>
            <a:ext cx="914400" cy="164592"/>
          </a:xfrm>
          <a:prstGeom prst="rect">
            <a:avLst/>
          </a:prstGeom>
          <a:noFill/>
          <a:ln/>
        </p:spPr>
        <p:txBody>
          <a:bodyPr wrap="square" lIns="0" tIns="0" rIns="0" bIns="0" rtlCol="0" anchor="ctr"/>
          <a:lstStyle/>
          <a:p>
            <a:pPr indent="0" marL="0">
              <a:buNone/>
            </a:pPr>
            <a:r>
              <a:rPr lang="en-US" sz="700" spc="100" kern="0" dirty="0">
                <a:solidFill>
                  <a:srgbClr val="88AABB"/>
                </a:solidFill>
                <a:latin typeface="Calibri" pitchFamily="34" charset="0"/>
                <a:ea typeface="Calibri" pitchFamily="34" charset="-122"/>
                <a:cs typeface="Calibri" pitchFamily="34" charset="-120"/>
              </a:rPr>
              <a:t>DOMAINS AFFECTED</a:t>
            </a:r>
            <a:endParaRPr lang="en-US" sz="700" dirty="0"/>
          </a:p>
        </p:txBody>
      </p:sp>
      <p:sp>
        <p:nvSpPr>
          <p:cNvPr id="82" name="Text 80"/>
          <p:cNvSpPr/>
          <p:nvPr/>
        </p:nvSpPr>
        <p:spPr>
          <a:xfrm>
            <a:off x="4206240" y="4773168"/>
            <a:ext cx="640080" cy="201168"/>
          </a:xfrm>
          <a:prstGeom prst="rect">
            <a:avLst/>
          </a:prstGeom>
          <a:noFill/>
          <a:ln/>
        </p:spPr>
        <p:txBody>
          <a:bodyPr wrap="square" lIns="0" tIns="0" rIns="0" bIns="0" rtlCol="0" anchor="ctr"/>
          <a:lstStyle/>
          <a:p>
            <a:pPr indent="0" marL="0">
              <a:buNone/>
            </a:pPr>
            <a:r>
              <a:rPr lang="en-US" sz="1600" b="1" dirty="0">
                <a:solidFill>
                  <a:srgbClr val="00A5B5"/>
                </a:solidFill>
                <a:latin typeface="Calibri" pitchFamily="34" charset="0"/>
                <a:ea typeface="Calibri" pitchFamily="34" charset="-122"/>
                <a:cs typeface="Calibri" pitchFamily="34" charset="-120"/>
              </a:rPr>
              <a:t>12mo</a:t>
            </a:r>
            <a:endParaRPr lang="en-US" sz="1600" dirty="0"/>
          </a:p>
        </p:txBody>
      </p:sp>
      <p:sp>
        <p:nvSpPr>
          <p:cNvPr id="83" name="Text 81"/>
          <p:cNvSpPr/>
          <p:nvPr/>
        </p:nvSpPr>
        <p:spPr>
          <a:xfrm>
            <a:off x="4864608" y="4818888"/>
            <a:ext cx="914400" cy="164592"/>
          </a:xfrm>
          <a:prstGeom prst="rect">
            <a:avLst/>
          </a:prstGeom>
          <a:noFill/>
          <a:ln/>
        </p:spPr>
        <p:txBody>
          <a:bodyPr wrap="square" lIns="0" tIns="0" rIns="0" bIns="0" rtlCol="0" anchor="ctr"/>
          <a:lstStyle/>
          <a:p>
            <a:pPr indent="0" marL="0">
              <a:buNone/>
            </a:pPr>
            <a:r>
              <a:rPr lang="en-US" sz="700" spc="100" kern="0" dirty="0">
                <a:solidFill>
                  <a:srgbClr val="88AABB"/>
                </a:solidFill>
                <a:latin typeface="Calibri" pitchFamily="34" charset="0"/>
                <a:ea typeface="Calibri" pitchFamily="34" charset="-122"/>
                <a:cs typeface="Calibri" pitchFamily="34" charset="-120"/>
              </a:rPr>
              <a:t>TO CLOSE</a:t>
            </a:r>
            <a:endParaRPr lang="en-US" sz="700" dirty="0"/>
          </a:p>
        </p:txBody>
      </p:sp>
      <p:sp>
        <p:nvSpPr>
          <p:cNvPr id="84" name="Shape 82"/>
          <p:cNvSpPr/>
          <p:nvPr/>
        </p:nvSpPr>
        <p:spPr>
          <a:xfrm>
            <a:off x="0" y="5093208"/>
            <a:ext cx="9144000" cy="50292"/>
          </a:xfrm>
          <a:prstGeom prst="rect">
            <a:avLst/>
          </a:prstGeom>
          <a:solidFill>
            <a:srgbClr val="00A5B5"/>
          </a:solidFill>
          <a:ln w="12700">
            <a:solidFill>
              <a:srgbClr val="00A5B5"/>
            </a:solidFill>
            <a:prstDash val="solid"/>
          </a:ln>
        </p:spPr>
      </p:sp>
      <p:sp>
        <p:nvSpPr>
          <p:cNvPr id="85" name="Shape 83"/>
          <p:cNvSpPr/>
          <p:nvPr/>
        </p:nvSpPr>
        <p:spPr>
          <a:xfrm>
            <a:off x="8503920" y="4549140"/>
            <a:ext cx="384048" cy="384048"/>
          </a:xfrm>
          <a:prstGeom prst="ellipse">
            <a:avLst/>
          </a:prstGeom>
          <a:solidFill>
            <a:srgbClr val="E8EBF0"/>
          </a:solidFill>
          <a:ln w="12700">
            <a:solidFill>
              <a:srgbClr val="B0B8C8"/>
            </a:solidFill>
            <a:prstDash val="solid"/>
          </a:ln>
        </p:spPr>
      </p:sp>
      <p:sp>
        <p:nvSpPr>
          <p:cNvPr id="86" name="Text 84"/>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87" name="Text 85"/>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C35"/>
          </a:solidFill>
          <a:ln w="12700">
            <a:solidFill>
              <a:srgbClr val="0F1C35"/>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00A5B5"/>
                </a:solidFill>
                <a:latin typeface="Calibri" pitchFamily="34" charset="0"/>
                <a:ea typeface="Calibri" pitchFamily="34" charset="-122"/>
                <a:cs typeface="Calibri" pitchFamily="34" charset="-120"/>
              </a:rPr>
              <a:t>12-MONTH ROADMAP · FY27</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Four sequential phases transform FleetPartners from a reactive posture to ISO 27001:2022 alignment by September 2027</a:t>
            </a:r>
            <a:endParaRPr lang="en-US" sz="1700" dirty="0"/>
          </a:p>
        </p:txBody>
      </p:sp>
      <p:sp>
        <p:nvSpPr>
          <p:cNvPr id="5" name="Text 3"/>
          <p:cNvSpPr/>
          <p:nvPr/>
        </p:nvSpPr>
        <p:spPr>
          <a:xfrm>
            <a:off x="4572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OCT 26</a:t>
            </a:r>
            <a:endParaRPr lang="en-US" sz="700" dirty="0"/>
          </a:p>
        </p:txBody>
      </p:sp>
      <p:sp>
        <p:nvSpPr>
          <p:cNvPr id="6" name="Text 4"/>
          <p:cNvSpPr/>
          <p:nvPr/>
        </p:nvSpPr>
        <p:spPr>
          <a:xfrm>
            <a:off x="11430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NOV</a:t>
            </a:r>
            <a:endParaRPr lang="en-US" sz="700" dirty="0"/>
          </a:p>
        </p:txBody>
      </p:sp>
      <p:sp>
        <p:nvSpPr>
          <p:cNvPr id="7" name="Text 5"/>
          <p:cNvSpPr/>
          <p:nvPr/>
        </p:nvSpPr>
        <p:spPr>
          <a:xfrm>
            <a:off x="18288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DEC</a:t>
            </a:r>
            <a:endParaRPr lang="en-US" sz="700" dirty="0"/>
          </a:p>
        </p:txBody>
      </p:sp>
      <p:sp>
        <p:nvSpPr>
          <p:cNvPr id="8" name="Text 6"/>
          <p:cNvSpPr/>
          <p:nvPr/>
        </p:nvSpPr>
        <p:spPr>
          <a:xfrm>
            <a:off x="25146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JAN 27</a:t>
            </a:r>
            <a:endParaRPr lang="en-US" sz="700" dirty="0"/>
          </a:p>
        </p:txBody>
      </p:sp>
      <p:sp>
        <p:nvSpPr>
          <p:cNvPr id="9" name="Text 7"/>
          <p:cNvSpPr/>
          <p:nvPr/>
        </p:nvSpPr>
        <p:spPr>
          <a:xfrm>
            <a:off x="32004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FEB</a:t>
            </a:r>
            <a:endParaRPr lang="en-US" sz="700" dirty="0"/>
          </a:p>
        </p:txBody>
      </p:sp>
      <p:sp>
        <p:nvSpPr>
          <p:cNvPr id="10" name="Text 8"/>
          <p:cNvSpPr/>
          <p:nvPr/>
        </p:nvSpPr>
        <p:spPr>
          <a:xfrm>
            <a:off x="38862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MAR</a:t>
            </a:r>
            <a:endParaRPr lang="en-US" sz="700" dirty="0"/>
          </a:p>
        </p:txBody>
      </p:sp>
      <p:sp>
        <p:nvSpPr>
          <p:cNvPr id="11" name="Text 9"/>
          <p:cNvSpPr/>
          <p:nvPr/>
        </p:nvSpPr>
        <p:spPr>
          <a:xfrm>
            <a:off x="45720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APR</a:t>
            </a:r>
            <a:endParaRPr lang="en-US" sz="700" dirty="0"/>
          </a:p>
        </p:txBody>
      </p:sp>
      <p:sp>
        <p:nvSpPr>
          <p:cNvPr id="12" name="Text 10"/>
          <p:cNvSpPr/>
          <p:nvPr/>
        </p:nvSpPr>
        <p:spPr>
          <a:xfrm>
            <a:off x="52578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MAY</a:t>
            </a:r>
            <a:endParaRPr lang="en-US" sz="700" dirty="0"/>
          </a:p>
        </p:txBody>
      </p:sp>
      <p:sp>
        <p:nvSpPr>
          <p:cNvPr id="13" name="Text 11"/>
          <p:cNvSpPr/>
          <p:nvPr/>
        </p:nvSpPr>
        <p:spPr>
          <a:xfrm>
            <a:off x="59436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JUN</a:t>
            </a:r>
            <a:endParaRPr lang="en-US" sz="700" dirty="0"/>
          </a:p>
        </p:txBody>
      </p:sp>
      <p:sp>
        <p:nvSpPr>
          <p:cNvPr id="14" name="Text 12"/>
          <p:cNvSpPr/>
          <p:nvPr/>
        </p:nvSpPr>
        <p:spPr>
          <a:xfrm>
            <a:off x="66294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JUL</a:t>
            </a:r>
            <a:endParaRPr lang="en-US" sz="700" dirty="0"/>
          </a:p>
        </p:txBody>
      </p:sp>
      <p:sp>
        <p:nvSpPr>
          <p:cNvPr id="15" name="Text 13"/>
          <p:cNvSpPr/>
          <p:nvPr/>
        </p:nvSpPr>
        <p:spPr>
          <a:xfrm>
            <a:off x="73152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AUG</a:t>
            </a:r>
            <a:endParaRPr lang="en-US" sz="700" dirty="0"/>
          </a:p>
        </p:txBody>
      </p:sp>
      <p:sp>
        <p:nvSpPr>
          <p:cNvPr id="16" name="Text 14"/>
          <p:cNvSpPr/>
          <p:nvPr/>
        </p:nvSpPr>
        <p:spPr>
          <a:xfrm>
            <a:off x="8001000" y="1133856"/>
            <a:ext cx="685800" cy="164592"/>
          </a:xfrm>
          <a:prstGeom prst="rect">
            <a:avLst/>
          </a:prstGeom>
          <a:noFill/>
          <a:ln/>
        </p:spPr>
        <p:txBody>
          <a:bodyPr wrap="square" lIns="0" tIns="0" rIns="0" bIns="0" rtlCol="0" anchor="ctr"/>
          <a:lstStyle/>
          <a:p>
            <a:pPr algn="ctr" indent="0" marL="0">
              <a:buNone/>
            </a:pPr>
            <a:r>
              <a:rPr lang="en-US" sz="700" b="1" spc="120" kern="0" dirty="0">
                <a:solidFill>
                  <a:srgbClr val="B0B8C8"/>
                </a:solidFill>
                <a:latin typeface="Calibri" pitchFamily="34" charset="0"/>
                <a:ea typeface="Calibri" pitchFamily="34" charset="-122"/>
                <a:cs typeface="Calibri" pitchFamily="34" charset="-120"/>
              </a:rPr>
              <a:t>SEP 27</a:t>
            </a:r>
            <a:endParaRPr lang="en-US" sz="700" dirty="0"/>
          </a:p>
        </p:txBody>
      </p:sp>
      <p:sp>
        <p:nvSpPr>
          <p:cNvPr id="17" name="Shape 15"/>
          <p:cNvSpPr/>
          <p:nvPr/>
        </p:nvSpPr>
        <p:spPr>
          <a:xfrm>
            <a:off x="475488" y="1335024"/>
            <a:ext cx="2020824" cy="347472"/>
          </a:xfrm>
          <a:prstGeom prst="roundRect">
            <a:avLst>
              <a:gd name="adj" fmla="val 15789"/>
            </a:avLst>
          </a:prstGeom>
          <a:solidFill>
            <a:srgbClr val="00A5B5"/>
          </a:solidFill>
          <a:ln w="12700">
            <a:solidFill>
              <a:srgbClr val="00A5B5"/>
            </a:solidFill>
            <a:prstDash val="solid"/>
          </a:ln>
        </p:spPr>
      </p:sp>
      <p:sp>
        <p:nvSpPr>
          <p:cNvPr id="18" name="Text 16"/>
          <p:cNvSpPr/>
          <p:nvPr/>
        </p:nvSpPr>
        <p:spPr>
          <a:xfrm>
            <a:off x="475488" y="1335024"/>
            <a:ext cx="202082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Phase 1: Discovery &amp; Governance</a:t>
            </a:r>
            <a:endParaRPr lang="en-US" sz="950" dirty="0"/>
          </a:p>
        </p:txBody>
      </p:sp>
      <p:sp>
        <p:nvSpPr>
          <p:cNvPr id="19" name="Shape 17"/>
          <p:cNvSpPr/>
          <p:nvPr/>
        </p:nvSpPr>
        <p:spPr>
          <a:xfrm>
            <a:off x="2532888" y="1335024"/>
            <a:ext cx="2020824" cy="347472"/>
          </a:xfrm>
          <a:prstGeom prst="roundRect">
            <a:avLst>
              <a:gd name="adj" fmla="val 15789"/>
            </a:avLst>
          </a:prstGeom>
          <a:solidFill>
            <a:srgbClr val="3A7BD5"/>
          </a:solidFill>
          <a:ln w="12700">
            <a:solidFill>
              <a:srgbClr val="3A7BD5"/>
            </a:solidFill>
            <a:prstDash val="solid"/>
          </a:ln>
        </p:spPr>
      </p:sp>
      <p:sp>
        <p:nvSpPr>
          <p:cNvPr id="20" name="Text 18"/>
          <p:cNvSpPr/>
          <p:nvPr/>
        </p:nvSpPr>
        <p:spPr>
          <a:xfrm>
            <a:off x="2532888" y="1335024"/>
            <a:ext cx="202082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Phase 2: Core Controls</a:t>
            </a:r>
            <a:endParaRPr lang="en-US" sz="950" dirty="0"/>
          </a:p>
        </p:txBody>
      </p:sp>
      <p:sp>
        <p:nvSpPr>
          <p:cNvPr id="21" name="Shape 19"/>
          <p:cNvSpPr/>
          <p:nvPr/>
        </p:nvSpPr>
        <p:spPr>
          <a:xfrm>
            <a:off x="4590288" y="1335024"/>
            <a:ext cx="2020824" cy="347472"/>
          </a:xfrm>
          <a:prstGeom prst="roundRect">
            <a:avLst>
              <a:gd name="adj" fmla="val 15789"/>
            </a:avLst>
          </a:prstGeom>
          <a:solidFill>
            <a:srgbClr val="7B68EE"/>
          </a:solidFill>
          <a:ln w="12700">
            <a:solidFill>
              <a:srgbClr val="7B68EE"/>
            </a:solidFill>
            <a:prstDash val="solid"/>
          </a:ln>
        </p:spPr>
      </p:sp>
      <p:sp>
        <p:nvSpPr>
          <p:cNvPr id="22" name="Text 20"/>
          <p:cNvSpPr/>
          <p:nvPr/>
        </p:nvSpPr>
        <p:spPr>
          <a:xfrm>
            <a:off x="4590288" y="1335024"/>
            <a:ext cx="202082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Phase 3: Hardening</a:t>
            </a:r>
            <a:endParaRPr lang="en-US" sz="950" dirty="0"/>
          </a:p>
        </p:txBody>
      </p:sp>
      <p:sp>
        <p:nvSpPr>
          <p:cNvPr id="23" name="Shape 21"/>
          <p:cNvSpPr/>
          <p:nvPr/>
        </p:nvSpPr>
        <p:spPr>
          <a:xfrm>
            <a:off x="6647688" y="1335024"/>
            <a:ext cx="2020824" cy="347472"/>
          </a:xfrm>
          <a:prstGeom prst="roundRect">
            <a:avLst>
              <a:gd name="adj" fmla="val 15789"/>
            </a:avLst>
          </a:prstGeom>
          <a:solidFill>
            <a:srgbClr val="E8A01E"/>
          </a:solidFill>
          <a:ln w="12700">
            <a:solidFill>
              <a:srgbClr val="E8A01E"/>
            </a:solidFill>
            <a:prstDash val="solid"/>
          </a:ln>
        </p:spPr>
      </p:sp>
      <p:sp>
        <p:nvSpPr>
          <p:cNvPr id="24" name="Text 22"/>
          <p:cNvSpPr/>
          <p:nvPr/>
        </p:nvSpPr>
        <p:spPr>
          <a:xfrm>
            <a:off x="6647688" y="1335024"/>
            <a:ext cx="202082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Phase 4: Advanced Ops</a:t>
            </a:r>
            <a:endParaRPr lang="en-US" sz="950" dirty="0"/>
          </a:p>
        </p:txBody>
      </p:sp>
      <p:sp>
        <p:nvSpPr>
          <p:cNvPr id="25" name="Text 23"/>
          <p:cNvSpPr/>
          <p:nvPr/>
        </p:nvSpPr>
        <p:spPr>
          <a:xfrm>
            <a:off x="457200" y="1737360"/>
            <a:ext cx="2057400" cy="164592"/>
          </a:xfrm>
          <a:prstGeom prst="rect">
            <a:avLst/>
          </a:prstGeom>
          <a:noFill/>
          <a:ln/>
        </p:spPr>
        <p:txBody>
          <a:bodyPr wrap="square" lIns="0" tIns="0" rIns="0" bIns="0" rtlCol="0" anchor="ctr"/>
          <a:lstStyle/>
          <a:p>
            <a:pPr algn="ctr" indent="0" marL="0">
              <a:buNone/>
            </a:pPr>
            <a:r>
              <a:rPr lang="en-US" sz="800" b="1" dirty="0">
                <a:solidFill>
                  <a:srgbClr val="00A5B5"/>
                </a:solidFill>
                <a:latin typeface="Calibri" pitchFamily="34" charset="0"/>
                <a:ea typeface="Calibri" pitchFamily="34" charset="-122"/>
                <a:cs typeface="Calibri" pitchFamily="34" charset="-120"/>
              </a:rPr>
              <a:t>Q1 FY27 · Oct – Dec 2026</a:t>
            </a:r>
            <a:endParaRPr lang="en-US" sz="800" dirty="0"/>
          </a:p>
        </p:txBody>
      </p:sp>
      <p:sp>
        <p:nvSpPr>
          <p:cNvPr id="26" name="Text 24"/>
          <p:cNvSpPr/>
          <p:nvPr/>
        </p:nvSpPr>
        <p:spPr>
          <a:xfrm>
            <a:off x="2514600" y="1737360"/>
            <a:ext cx="2057400" cy="164592"/>
          </a:xfrm>
          <a:prstGeom prst="rect">
            <a:avLst/>
          </a:prstGeom>
          <a:noFill/>
          <a:ln/>
        </p:spPr>
        <p:txBody>
          <a:bodyPr wrap="square" lIns="0" tIns="0" rIns="0" bIns="0" rtlCol="0" anchor="ctr"/>
          <a:lstStyle/>
          <a:p>
            <a:pPr algn="ctr" indent="0" marL="0">
              <a:buNone/>
            </a:pPr>
            <a:r>
              <a:rPr lang="en-US" sz="800" b="1" dirty="0">
                <a:solidFill>
                  <a:srgbClr val="3A7BD5"/>
                </a:solidFill>
                <a:latin typeface="Calibri" pitchFamily="34" charset="0"/>
                <a:ea typeface="Calibri" pitchFamily="34" charset="-122"/>
                <a:cs typeface="Calibri" pitchFamily="34" charset="-120"/>
              </a:rPr>
              <a:t>Q2 FY27 · Jan – Mar 2027</a:t>
            </a:r>
            <a:endParaRPr lang="en-US" sz="800" dirty="0"/>
          </a:p>
        </p:txBody>
      </p:sp>
      <p:sp>
        <p:nvSpPr>
          <p:cNvPr id="27" name="Text 25"/>
          <p:cNvSpPr/>
          <p:nvPr/>
        </p:nvSpPr>
        <p:spPr>
          <a:xfrm>
            <a:off x="4572000" y="1737360"/>
            <a:ext cx="2057400" cy="164592"/>
          </a:xfrm>
          <a:prstGeom prst="rect">
            <a:avLst/>
          </a:prstGeom>
          <a:noFill/>
          <a:ln/>
        </p:spPr>
        <p:txBody>
          <a:bodyPr wrap="square" lIns="0" tIns="0" rIns="0" bIns="0" rtlCol="0" anchor="ctr"/>
          <a:lstStyle/>
          <a:p>
            <a:pPr algn="ctr" indent="0" marL="0">
              <a:buNone/>
            </a:pPr>
            <a:r>
              <a:rPr lang="en-US" sz="800" b="1" dirty="0">
                <a:solidFill>
                  <a:srgbClr val="7B68EE"/>
                </a:solidFill>
                <a:latin typeface="Calibri" pitchFamily="34" charset="0"/>
                <a:ea typeface="Calibri" pitchFamily="34" charset="-122"/>
                <a:cs typeface="Calibri" pitchFamily="34" charset="-120"/>
              </a:rPr>
              <a:t>Q3 FY27 · Apr – Jun 2027</a:t>
            </a:r>
            <a:endParaRPr lang="en-US" sz="800" dirty="0"/>
          </a:p>
        </p:txBody>
      </p:sp>
      <p:sp>
        <p:nvSpPr>
          <p:cNvPr id="28" name="Text 26"/>
          <p:cNvSpPr/>
          <p:nvPr/>
        </p:nvSpPr>
        <p:spPr>
          <a:xfrm>
            <a:off x="6629400" y="1737360"/>
            <a:ext cx="2057400" cy="164592"/>
          </a:xfrm>
          <a:prstGeom prst="rect">
            <a:avLst/>
          </a:prstGeom>
          <a:noFill/>
          <a:ln/>
        </p:spPr>
        <p:txBody>
          <a:bodyPr wrap="square" lIns="0" tIns="0" rIns="0" bIns="0" rtlCol="0" anchor="ctr"/>
          <a:lstStyle/>
          <a:p>
            <a:pPr algn="ctr" indent="0" marL="0">
              <a:buNone/>
            </a:pPr>
            <a:r>
              <a:rPr lang="en-US" sz="800" b="1" dirty="0">
                <a:solidFill>
                  <a:srgbClr val="E8A01E"/>
                </a:solidFill>
                <a:latin typeface="Calibri" pitchFamily="34" charset="0"/>
                <a:ea typeface="Calibri" pitchFamily="34" charset="-122"/>
                <a:cs typeface="Calibri" pitchFamily="34" charset="-120"/>
              </a:rPr>
              <a:t>Q4 FY27 · Jul – Sep 2027</a:t>
            </a:r>
            <a:endParaRPr lang="en-US" sz="800" dirty="0"/>
          </a:p>
        </p:txBody>
      </p:sp>
      <p:sp>
        <p:nvSpPr>
          <p:cNvPr id="29" name="Shape 27"/>
          <p:cNvSpPr/>
          <p:nvPr/>
        </p:nvSpPr>
        <p:spPr>
          <a:xfrm>
            <a:off x="457200" y="1993392"/>
            <a:ext cx="1988820" cy="1920240"/>
          </a:xfrm>
          <a:prstGeom prst="rect">
            <a:avLst/>
          </a:prstGeom>
          <a:solidFill>
            <a:srgbClr val="F6F7FA"/>
          </a:solidFill>
          <a:ln w="12700">
            <a:solidFill>
              <a:srgbClr val="E8EBF0"/>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457200" y="1993392"/>
            <a:ext cx="1988820" cy="36576"/>
          </a:xfrm>
          <a:prstGeom prst="rect">
            <a:avLst/>
          </a:prstGeom>
          <a:solidFill>
            <a:srgbClr val="00A5B5"/>
          </a:solidFill>
          <a:ln w="12700">
            <a:solidFill>
              <a:srgbClr val="00A5B5"/>
            </a:solidFill>
            <a:prstDash val="solid"/>
          </a:ln>
        </p:spPr>
      </p:sp>
      <p:sp>
        <p:nvSpPr>
          <p:cNvPr id="31" name="Text 29"/>
          <p:cNvSpPr/>
          <p:nvPr/>
        </p:nvSpPr>
        <p:spPr>
          <a:xfrm>
            <a:off x="548640" y="2057400"/>
            <a:ext cx="1851660" cy="155448"/>
          </a:xfrm>
          <a:prstGeom prst="rect">
            <a:avLst/>
          </a:prstGeom>
          <a:noFill/>
          <a:ln/>
        </p:spPr>
        <p:txBody>
          <a:bodyPr wrap="square" lIns="0" tIns="0" rIns="0" bIns="0" rtlCol="0" anchor="ctr"/>
          <a:lstStyle/>
          <a:p>
            <a:pPr indent="0" marL="0">
              <a:buNone/>
            </a:pPr>
            <a:r>
              <a:rPr lang="en-US" sz="750" b="1" spc="200" kern="0" dirty="0">
                <a:solidFill>
                  <a:srgbClr val="007D8A"/>
                </a:solidFill>
                <a:latin typeface="Calibri" pitchFamily="34" charset="0"/>
                <a:ea typeface="Calibri" pitchFamily="34" charset="-122"/>
                <a:cs typeface="Calibri" pitchFamily="34" charset="-120"/>
              </a:rPr>
              <a:t>PHASE 1</a:t>
            </a:r>
            <a:endParaRPr lang="en-US" sz="750" dirty="0"/>
          </a:p>
        </p:txBody>
      </p:sp>
      <p:sp>
        <p:nvSpPr>
          <p:cNvPr id="32" name="Text 30"/>
          <p:cNvSpPr/>
          <p:nvPr/>
        </p:nvSpPr>
        <p:spPr>
          <a:xfrm>
            <a:off x="548640" y="2231136"/>
            <a:ext cx="1851660" cy="292608"/>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Discovery &amp; Governance</a:t>
            </a:r>
            <a:endParaRPr lang="en-US" sz="1000" dirty="0"/>
          </a:p>
        </p:txBody>
      </p:sp>
      <p:sp>
        <p:nvSpPr>
          <p:cNvPr id="33" name="Text 31"/>
          <p:cNvSpPr/>
          <p:nvPr/>
        </p:nvSpPr>
        <p:spPr>
          <a:xfrm>
            <a:off x="548640" y="2560320"/>
            <a:ext cx="1851660" cy="1188720"/>
          </a:xfrm>
          <a:prstGeom prst="rect">
            <a:avLst/>
          </a:prstGeom>
          <a:noFill/>
          <a:ln/>
        </p:spPr>
        <p:txBody>
          <a:bodyPr wrap="square" lIns="0" tIns="0" rIns="0" bIns="0" rtlCol="0" anchor="t"/>
          <a:lstStyle/>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Documentation framework</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Data classification &amp; CMDB</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Risk assessment process</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Asset management uplift</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Security policy alignment</a:t>
            </a:r>
            <a:endParaRPr lang="en-US" sz="900" dirty="0"/>
          </a:p>
        </p:txBody>
      </p:sp>
      <p:sp>
        <p:nvSpPr>
          <p:cNvPr id="34" name="Shape 32"/>
          <p:cNvSpPr/>
          <p:nvPr/>
        </p:nvSpPr>
        <p:spPr>
          <a:xfrm>
            <a:off x="2537460" y="1993392"/>
            <a:ext cx="1988820" cy="1920240"/>
          </a:xfrm>
          <a:prstGeom prst="rect">
            <a:avLst/>
          </a:prstGeom>
          <a:solidFill>
            <a:srgbClr val="F6F7FA"/>
          </a:solidFill>
          <a:ln w="12700">
            <a:solidFill>
              <a:srgbClr val="E8EBF0"/>
            </a:solidFill>
            <a:prstDash val="solid"/>
          </a:ln>
          <a:effectLst>
            <a:outerShdw sx="100000" sy="100000" kx="0" ky="0" algn="bl" rotWithShape="0" blurRad="63500" dist="25400" dir="8100000">
              <a:srgbClr val="000000">
                <a:alpha val="10000"/>
              </a:srgbClr>
            </a:outerShdw>
          </a:effectLst>
        </p:spPr>
      </p:sp>
      <p:sp>
        <p:nvSpPr>
          <p:cNvPr id="35" name="Shape 33"/>
          <p:cNvSpPr/>
          <p:nvPr/>
        </p:nvSpPr>
        <p:spPr>
          <a:xfrm>
            <a:off x="2537460" y="1993392"/>
            <a:ext cx="1988820" cy="36576"/>
          </a:xfrm>
          <a:prstGeom prst="rect">
            <a:avLst/>
          </a:prstGeom>
          <a:solidFill>
            <a:srgbClr val="3A7BD5"/>
          </a:solidFill>
          <a:ln w="12700">
            <a:solidFill>
              <a:srgbClr val="3A7BD5"/>
            </a:solidFill>
            <a:prstDash val="solid"/>
          </a:ln>
        </p:spPr>
      </p:sp>
      <p:sp>
        <p:nvSpPr>
          <p:cNvPr id="36" name="Text 34"/>
          <p:cNvSpPr/>
          <p:nvPr/>
        </p:nvSpPr>
        <p:spPr>
          <a:xfrm>
            <a:off x="2628900" y="2057400"/>
            <a:ext cx="1851660" cy="155448"/>
          </a:xfrm>
          <a:prstGeom prst="rect">
            <a:avLst/>
          </a:prstGeom>
          <a:noFill/>
          <a:ln/>
        </p:spPr>
        <p:txBody>
          <a:bodyPr wrap="square" lIns="0" tIns="0" rIns="0" bIns="0" rtlCol="0" anchor="ctr"/>
          <a:lstStyle/>
          <a:p>
            <a:pPr indent="0" marL="0">
              <a:buNone/>
            </a:pPr>
            <a:r>
              <a:rPr lang="en-US" sz="750" b="1" spc="200" kern="0" dirty="0">
                <a:solidFill>
                  <a:srgbClr val="3A7BD5"/>
                </a:solidFill>
                <a:latin typeface="Calibri" pitchFamily="34" charset="0"/>
                <a:ea typeface="Calibri" pitchFamily="34" charset="-122"/>
                <a:cs typeface="Calibri" pitchFamily="34" charset="-120"/>
              </a:rPr>
              <a:t>PHASE 2</a:t>
            </a:r>
            <a:endParaRPr lang="en-US" sz="750" dirty="0"/>
          </a:p>
        </p:txBody>
      </p:sp>
      <p:sp>
        <p:nvSpPr>
          <p:cNvPr id="37" name="Text 35"/>
          <p:cNvSpPr/>
          <p:nvPr/>
        </p:nvSpPr>
        <p:spPr>
          <a:xfrm>
            <a:off x="2628900" y="2231136"/>
            <a:ext cx="1851660" cy="292608"/>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Core Protective Controls</a:t>
            </a:r>
            <a:endParaRPr lang="en-US" sz="1000" dirty="0"/>
          </a:p>
        </p:txBody>
      </p:sp>
      <p:sp>
        <p:nvSpPr>
          <p:cNvPr id="38" name="Text 36"/>
          <p:cNvSpPr/>
          <p:nvPr/>
        </p:nvSpPr>
        <p:spPr>
          <a:xfrm>
            <a:off x="2628900" y="2560320"/>
            <a:ext cx="1851660" cy="1188720"/>
          </a:xfrm>
          <a:prstGeom prst="rect">
            <a:avLst/>
          </a:prstGeom>
          <a:noFill/>
          <a:ln/>
        </p:spPr>
        <p:txBody>
          <a:bodyPr wrap="square" lIns="0" tIns="0" rIns="0" bIns="0" rtlCol="0" anchor="t"/>
          <a:lstStyle/>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Identity &amp; MFA consolidation</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SIEM / log consolidation</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Standard endpoint build</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IT Risk Register revival</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Security awareness training</a:t>
            </a:r>
            <a:endParaRPr lang="en-US" sz="900" dirty="0"/>
          </a:p>
        </p:txBody>
      </p:sp>
      <p:sp>
        <p:nvSpPr>
          <p:cNvPr id="39" name="Shape 37"/>
          <p:cNvSpPr/>
          <p:nvPr/>
        </p:nvSpPr>
        <p:spPr>
          <a:xfrm>
            <a:off x="4617720" y="1993392"/>
            <a:ext cx="1988820" cy="1920240"/>
          </a:xfrm>
          <a:prstGeom prst="rect">
            <a:avLst/>
          </a:prstGeom>
          <a:solidFill>
            <a:srgbClr val="F6F7FA"/>
          </a:solidFill>
          <a:ln w="12700">
            <a:solidFill>
              <a:srgbClr val="E8EBF0"/>
            </a:solidFill>
            <a:prstDash val="solid"/>
          </a:ln>
          <a:effectLst>
            <a:outerShdw sx="100000" sy="100000" kx="0" ky="0" algn="bl" rotWithShape="0" blurRad="63500" dist="25400" dir="8100000">
              <a:srgbClr val="000000">
                <a:alpha val="10000"/>
              </a:srgbClr>
            </a:outerShdw>
          </a:effectLst>
        </p:spPr>
      </p:sp>
      <p:sp>
        <p:nvSpPr>
          <p:cNvPr id="40" name="Shape 38"/>
          <p:cNvSpPr/>
          <p:nvPr/>
        </p:nvSpPr>
        <p:spPr>
          <a:xfrm>
            <a:off x="4617720" y="1993392"/>
            <a:ext cx="1988820" cy="36576"/>
          </a:xfrm>
          <a:prstGeom prst="rect">
            <a:avLst/>
          </a:prstGeom>
          <a:solidFill>
            <a:srgbClr val="7B68EE"/>
          </a:solidFill>
          <a:ln w="12700">
            <a:solidFill>
              <a:srgbClr val="7B68EE"/>
            </a:solidFill>
            <a:prstDash val="solid"/>
          </a:ln>
        </p:spPr>
      </p:sp>
      <p:sp>
        <p:nvSpPr>
          <p:cNvPr id="41" name="Text 39"/>
          <p:cNvSpPr/>
          <p:nvPr/>
        </p:nvSpPr>
        <p:spPr>
          <a:xfrm>
            <a:off x="4709160" y="2057400"/>
            <a:ext cx="1851660" cy="155448"/>
          </a:xfrm>
          <a:prstGeom prst="rect">
            <a:avLst/>
          </a:prstGeom>
          <a:noFill/>
          <a:ln/>
        </p:spPr>
        <p:txBody>
          <a:bodyPr wrap="square" lIns="0" tIns="0" rIns="0" bIns="0" rtlCol="0" anchor="ctr"/>
          <a:lstStyle/>
          <a:p>
            <a:pPr indent="0" marL="0">
              <a:buNone/>
            </a:pPr>
            <a:r>
              <a:rPr lang="en-US" sz="750" b="1" spc="200" kern="0" dirty="0">
                <a:solidFill>
                  <a:srgbClr val="7B68EE"/>
                </a:solidFill>
                <a:latin typeface="Calibri" pitchFamily="34" charset="0"/>
                <a:ea typeface="Calibri" pitchFamily="34" charset="-122"/>
                <a:cs typeface="Calibri" pitchFamily="34" charset="-120"/>
              </a:rPr>
              <a:t>PHASE 3</a:t>
            </a:r>
            <a:endParaRPr lang="en-US" sz="750" dirty="0"/>
          </a:p>
        </p:txBody>
      </p:sp>
      <p:sp>
        <p:nvSpPr>
          <p:cNvPr id="42" name="Text 40"/>
          <p:cNvSpPr/>
          <p:nvPr/>
        </p:nvSpPr>
        <p:spPr>
          <a:xfrm>
            <a:off x="4709160" y="2231136"/>
            <a:ext cx="1851660" cy="292608"/>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Hardening &amp; Advanced Controls</a:t>
            </a:r>
            <a:endParaRPr lang="en-US" sz="1000" dirty="0"/>
          </a:p>
        </p:txBody>
      </p:sp>
      <p:sp>
        <p:nvSpPr>
          <p:cNvPr id="43" name="Text 41"/>
          <p:cNvSpPr/>
          <p:nvPr/>
        </p:nvSpPr>
        <p:spPr>
          <a:xfrm>
            <a:off x="4709160" y="2560320"/>
            <a:ext cx="1851660" cy="1188720"/>
          </a:xfrm>
          <a:prstGeom prst="rect">
            <a:avLst/>
          </a:prstGeom>
          <a:noFill/>
          <a:ln/>
        </p:spPr>
        <p:txBody>
          <a:bodyPr wrap="square" lIns="0" tIns="0" rIns="0" bIns="0" rtlCol="0" anchor="t"/>
          <a:lstStyle/>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PAM deployment</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Jumphost / Bastion Host</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Risk-based vuln management</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CSPM &amp; secure app dev</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Network segmentation</a:t>
            </a:r>
            <a:endParaRPr lang="en-US" sz="900" dirty="0"/>
          </a:p>
        </p:txBody>
      </p:sp>
      <p:sp>
        <p:nvSpPr>
          <p:cNvPr id="44" name="Shape 42"/>
          <p:cNvSpPr/>
          <p:nvPr/>
        </p:nvSpPr>
        <p:spPr>
          <a:xfrm>
            <a:off x="6697980" y="1993392"/>
            <a:ext cx="1988820" cy="1920240"/>
          </a:xfrm>
          <a:prstGeom prst="rect">
            <a:avLst/>
          </a:prstGeom>
          <a:solidFill>
            <a:srgbClr val="F6F7FA"/>
          </a:solidFill>
          <a:ln w="12700">
            <a:solidFill>
              <a:srgbClr val="E8EBF0"/>
            </a:solidFill>
            <a:prstDash val="solid"/>
          </a:ln>
          <a:effectLst>
            <a:outerShdw sx="100000" sy="100000" kx="0" ky="0" algn="bl" rotWithShape="0" blurRad="63500" dist="25400" dir="8100000">
              <a:srgbClr val="000000">
                <a:alpha val="10000"/>
              </a:srgbClr>
            </a:outerShdw>
          </a:effectLst>
        </p:spPr>
      </p:sp>
      <p:sp>
        <p:nvSpPr>
          <p:cNvPr id="45" name="Shape 43"/>
          <p:cNvSpPr/>
          <p:nvPr/>
        </p:nvSpPr>
        <p:spPr>
          <a:xfrm>
            <a:off x="6697980" y="1993392"/>
            <a:ext cx="1988820" cy="36576"/>
          </a:xfrm>
          <a:prstGeom prst="rect">
            <a:avLst/>
          </a:prstGeom>
          <a:solidFill>
            <a:srgbClr val="E8A01E"/>
          </a:solidFill>
          <a:ln w="12700">
            <a:solidFill>
              <a:srgbClr val="E8A01E"/>
            </a:solidFill>
            <a:prstDash val="solid"/>
          </a:ln>
        </p:spPr>
      </p:sp>
      <p:sp>
        <p:nvSpPr>
          <p:cNvPr id="46" name="Text 44"/>
          <p:cNvSpPr/>
          <p:nvPr/>
        </p:nvSpPr>
        <p:spPr>
          <a:xfrm>
            <a:off x="6789420" y="2057400"/>
            <a:ext cx="1851660" cy="155448"/>
          </a:xfrm>
          <a:prstGeom prst="rect">
            <a:avLst/>
          </a:prstGeom>
          <a:noFill/>
          <a:ln/>
        </p:spPr>
        <p:txBody>
          <a:bodyPr wrap="square" lIns="0" tIns="0" rIns="0" bIns="0" rtlCol="0" anchor="ctr"/>
          <a:lstStyle/>
          <a:p>
            <a:pPr indent="0" marL="0">
              <a:buNone/>
            </a:pPr>
            <a:r>
              <a:rPr lang="en-US" sz="750" b="1" spc="200" kern="0" dirty="0">
                <a:solidFill>
                  <a:srgbClr val="C07A0E"/>
                </a:solidFill>
                <a:latin typeface="Calibri" pitchFamily="34" charset="0"/>
                <a:ea typeface="Calibri" pitchFamily="34" charset="-122"/>
                <a:cs typeface="Calibri" pitchFamily="34" charset="-120"/>
              </a:rPr>
              <a:t>PHASE 4</a:t>
            </a:r>
            <a:endParaRPr lang="en-US" sz="750" dirty="0"/>
          </a:p>
        </p:txBody>
      </p:sp>
      <p:sp>
        <p:nvSpPr>
          <p:cNvPr id="47" name="Text 45"/>
          <p:cNvSpPr/>
          <p:nvPr/>
        </p:nvSpPr>
        <p:spPr>
          <a:xfrm>
            <a:off x="6789420" y="2231136"/>
            <a:ext cx="1851660" cy="292608"/>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Advanced Defence &amp; Operations</a:t>
            </a:r>
            <a:endParaRPr lang="en-US" sz="1000" dirty="0"/>
          </a:p>
        </p:txBody>
      </p:sp>
      <p:sp>
        <p:nvSpPr>
          <p:cNvPr id="48" name="Text 46"/>
          <p:cNvSpPr/>
          <p:nvPr/>
        </p:nvSpPr>
        <p:spPr>
          <a:xfrm>
            <a:off x="6789420" y="2560320"/>
            <a:ext cx="1851660" cy="1188720"/>
          </a:xfrm>
          <a:prstGeom prst="rect">
            <a:avLst/>
          </a:prstGeom>
          <a:noFill/>
          <a:ln/>
        </p:spPr>
        <p:txBody>
          <a:bodyPr wrap="square" lIns="0" tIns="0" rIns="0" bIns="0" rtlCol="0" anchor="t"/>
          <a:lstStyle/>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Data Loss Prevention (DLP)</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BCDR &amp; Incident Response</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Annual penetration testing</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Security metrics &amp; ARC</a:t>
            </a:r>
            <a:endParaRPr lang="en-US" sz="900" dirty="0"/>
          </a:p>
          <a:p>
            <a:pPr marL="342900" indent="-342900">
              <a:buSzPct val="100000"/>
              <a:buChar char="•"/>
            </a:pPr>
            <a:r>
              <a:rPr lang="en-US" sz="900" dirty="0">
                <a:solidFill>
                  <a:srgbClr val="6B7A96"/>
                </a:solidFill>
                <a:latin typeface="Calibri" pitchFamily="34" charset="0"/>
                <a:ea typeface="Calibri" pitchFamily="34" charset="-122"/>
                <a:cs typeface="Calibri" pitchFamily="34" charset="-120"/>
              </a:rPr>
              <a:t>Supplier risk management</a:t>
            </a:r>
            <a:endParaRPr lang="en-US" sz="900" dirty="0"/>
          </a:p>
        </p:txBody>
      </p:sp>
      <p:sp>
        <p:nvSpPr>
          <p:cNvPr id="49" name="Shape 47"/>
          <p:cNvSpPr/>
          <p:nvPr/>
        </p:nvSpPr>
        <p:spPr>
          <a:xfrm>
            <a:off x="0" y="5093208"/>
            <a:ext cx="9144000" cy="50292"/>
          </a:xfrm>
          <a:prstGeom prst="rect">
            <a:avLst/>
          </a:prstGeom>
          <a:solidFill>
            <a:srgbClr val="00A5B5"/>
          </a:solidFill>
          <a:ln w="12700">
            <a:solidFill>
              <a:srgbClr val="00A5B5"/>
            </a:solidFill>
            <a:prstDash val="solid"/>
          </a:ln>
        </p:spPr>
      </p:sp>
      <p:sp>
        <p:nvSpPr>
          <p:cNvPr id="50" name="Shape 48"/>
          <p:cNvSpPr/>
          <p:nvPr/>
        </p:nvSpPr>
        <p:spPr>
          <a:xfrm>
            <a:off x="8503920" y="4549140"/>
            <a:ext cx="384048" cy="384048"/>
          </a:xfrm>
          <a:prstGeom prst="ellipse">
            <a:avLst/>
          </a:prstGeom>
          <a:solidFill>
            <a:srgbClr val="E8EBF0"/>
          </a:solidFill>
          <a:ln w="12700">
            <a:solidFill>
              <a:srgbClr val="B0B8C8"/>
            </a:solidFill>
            <a:prstDash val="solid"/>
          </a:ln>
        </p:spPr>
      </p:sp>
      <p:sp>
        <p:nvSpPr>
          <p:cNvPr id="51" name="Text 49"/>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52" name="Text 50"/>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2535"/>
          </a:solidFill>
          <a:ln w="12700">
            <a:solidFill>
              <a:srgbClr val="0F2535"/>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00A5B5"/>
                </a:solidFill>
                <a:latin typeface="Calibri" pitchFamily="34" charset="0"/>
                <a:ea typeface="Calibri" pitchFamily="34" charset="-122"/>
                <a:cs typeface="Calibri" pitchFamily="34" charset="-120"/>
              </a:rPr>
              <a:t>PHASE 1 · Q1 FY27 · OCT – DEC 2026</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Without governance foundations, every control implemented later will drift — Phase 1 builds the baseline FleetPartners cannot skip</a:t>
            </a:r>
            <a:endParaRPr lang="en-US" sz="1700" dirty="0"/>
          </a:p>
        </p:txBody>
      </p:sp>
      <p:sp>
        <p:nvSpPr>
          <p:cNvPr id="5" name="Shape 3"/>
          <p:cNvSpPr/>
          <p:nvPr/>
        </p:nvSpPr>
        <p:spPr>
          <a:xfrm>
            <a:off x="457200" y="1243584"/>
            <a:ext cx="822960" cy="20117"/>
          </a:xfrm>
          <a:prstGeom prst="rect">
            <a:avLst/>
          </a:prstGeom>
          <a:solidFill>
            <a:srgbClr val="00A5B5"/>
          </a:solidFill>
          <a:ln w="12700">
            <a:solidFill>
              <a:srgbClr val="00A5B5"/>
            </a:solidFill>
            <a:prstDash val="solid"/>
          </a:ln>
        </p:spPr>
      </p:sp>
      <p:sp>
        <p:nvSpPr>
          <p:cNvPr id="6" name="Text 4"/>
          <p:cNvSpPr/>
          <p:nvPr/>
        </p:nvSpPr>
        <p:spPr>
          <a:xfrm>
            <a:off x="457200" y="1115568"/>
            <a:ext cx="1828800" cy="146304"/>
          </a:xfrm>
          <a:prstGeom prst="rect">
            <a:avLst/>
          </a:prstGeom>
          <a:noFill/>
          <a:ln/>
        </p:spPr>
        <p:txBody>
          <a:bodyPr wrap="square" lIns="0" tIns="0" rIns="0" bIns="0" rtlCol="0" anchor="ctr"/>
          <a:lstStyle/>
          <a:p>
            <a:pPr indent="0" marL="0">
              <a:buNone/>
            </a:pPr>
            <a:r>
              <a:rPr lang="en-US" sz="750" b="1" spc="250" kern="0" dirty="0">
                <a:solidFill>
                  <a:srgbClr val="00A5B5"/>
                </a:solidFill>
                <a:latin typeface="Calibri" pitchFamily="34" charset="0"/>
                <a:ea typeface="Calibri" pitchFamily="34" charset="-122"/>
                <a:cs typeface="Calibri" pitchFamily="34" charset="-120"/>
              </a:rPr>
              <a:t>WHY IT MATTERS</a:t>
            </a:r>
            <a:endParaRPr lang="en-US" sz="750" dirty="0"/>
          </a:p>
        </p:txBody>
      </p:sp>
      <p:sp>
        <p:nvSpPr>
          <p:cNvPr id="7" name="Shape 5"/>
          <p:cNvSpPr/>
          <p:nvPr/>
        </p:nvSpPr>
        <p:spPr>
          <a:xfrm>
            <a:off x="457200" y="1316736"/>
            <a:ext cx="2788920" cy="1156716"/>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8" name="Shape 6"/>
          <p:cNvSpPr/>
          <p:nvPr/>
        </p:nvSpPr>
        <p:spPr>
          <a:xfrm>
            <a:off x="457200" y="1316736"/>
            <a:ext cx="41148" cy="1156716"/>
          </a:xfrm>
          <a:prstGeom prst="rect">
            <a:avLst/>
          </a:prstGeom>
          <a:solidFill>
            <a:srgbClr val="D94F3D"/>
          </a:solidFill>
          <a:ln w="12700">
            <a:solidFill>
              <a:srgbClr val="D94F3D"/>
            </a:solidFill>
            <a:prstDash val="solid"/>
          </a:ln>
        </p:spPr>
      </p:sp>
      <p:sp>
        <p:nvSpPr>
          <p:cNvPr id="9" name="Text 7"/>
          <p:cNvSpPr/>
          <p:nvPr/>
        </p:nvSpPr>
        <p:spPr>
          <a:xfrm>
            <a:off x="548640" y="138074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No documentation = no auditability</a:t>
            </a:r>
            <a:endParaRPr lang="en-US" sz="1000" dirty="0"/>
          </a:p>
        </p:txBody>
      </p:sp>
      <p:sp>
        <p:nvSpPr>
          <p:cNvPr id="10" name="Text 8"/>
          <p:cNvSpPr/>
          <p:nvPr/>
        </p:nvSpPr>
        <p:spPr>
          <a:xfrm>
            <a:off x="548640" y="156362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9 mandatory ISO 27001:2022 documents are absent. Without a Support Matrix, onboarding/offboarding procedures, and configuration standards, FleetPartners cannot demonstrate compliance to auditors or customers.</a:t>
            </a:r>
            <a:endParaRPr lang="en-US" sz="850" dirty="0"/>
          </a:p>
        </p:txBody>
      </p:sp>
      <p:sp>
        <p:nvSpPr>
          <p:cNvPr id="11" name="Shape 9"/>
          <p:cNvSpPr/>
          <p:nvPr/>
        </p:nvSpPr>
        <p:spPr>
          <a:xfrm>
            <a:off x="548640" y="2272284"/>
            <a:ext cx="406908" cy="155448"/>
          </a:xfrm>
          <a:prstGeom prst="roundRect">
            <a:avLst>
              <a:gd name="adj" fmla="val 23529"/>
            </a:avLst>
          </a:prstGeom>
          <a:solidFill>
            <a:srgbClr val="E0F5F7"/>
          </a:solidFill>
          <a:ln w="12700">
            <a:solidFill>
              <a:srgbClr val="B3E8EC"/>
            </a:solidFill>
            <a:prstDash val="solid"/>
          </a:ln>
        </p:spPr>
      </p:sp>
      <p:sp>
        <p:nvSpPr>
          <p:cNvPr id="12" name="Text 10"/>
          <p:cNvSpPr/>
          <p:nvPr/>
        </p:nvSpPr>
        <p:spPr>
          <a:xfrm>
            <a:off x="548640" y="227228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a:t>
            </a:r>
            <a:endParaRPr lang="en-US" sz="700" dirty="0"/>
          </a:p>
        </p:txBody>
      </p:sp>
      <p:sp>
        <p:nvSpPr>
          <p:cNvPr id="13" name="Shape 11"/>
          <p:cNvSpPr/>
          <p:nvPr/>
        </p:nvSpPr>
        <p:spPr>
          <a:xfrm>
            <a:off x="1001268" y="2272284"/>
            <a:ext cx="406908" cy="155448"/>
          </a:xfrm>
          <a:prstGeom prst="roundRect">
            <a:avLst>
              <a:gd name="adj" fmla="val 23529"/>
            </a:avLst>
          </a:prstGeom>
          <a:solidFill>
            <a:srgbClr val="E0F5F7"/>
          </a:solidFill>
          <a:ln w="12700">
            <a:solidFill>
              <a:srgbClr val="B3E8EC"/>
            </a:solidFill>
            <a:prstDash val="solid"/>
          </a:ln>
        </p:spPr>
      </p:sp>
      <p:sp>
        <p:nvSpPr>
          <p:cNvPr id="14" name="Text 12"/>
          <p:cNvSpPr/>
          <p:nvPr/>
        </p:nvSpPr>
        <p:spPr>
          <a:xfrm>
            <a:off x="1001268" y="227228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A.5.3</a:t>
            </a:r>
            <a:endParaRPr lang="en-US" sz="700" dirty="0"/>
          </a:p>
        </p:txBody>
      </p:sp>
      <p:sp>
        <p:nvSpPr>
          <p:cNvPr id="15" name="Shape 13"/>
          <p:cNvSpPr/>
          <p:nvPr/>
        </p:nvSpPr>
        <p:spPr>
          <a:xfrm>
            <a:off x="1453896" y="2272284"/>
            <a:ext cx="406908" cy="155448"/>
          </a:xfrm>
          <a:prstGeom prst="roundRect">
            <a:avLst>
              <a:gd name="adj" fmla="val 23529"/>
            </a:avLst>
          </a:prstGeom>
          <a:solidFill>
            <a:srgbClr val="E0F5F7"/>
          </a:solidFill>
          <a:ln w="12700">
            <a:solidFill>
              <a:srgbClr val="B3E8EC"/>
            </a:solidFill>
            <a:prstDash val="solid"/>
          </a:ln>
        </p:spPr>
      </p:sp>
      <p:sp>
        <p:nvSpPr>
          <p:cNvPr id="16" name="Text 14"/>
          <p:cNvSpPr/>
          <p:nvPr/>
        </p:nvSpPr>
        <p:spPr>
          <a:xfrm>
            <a:off x="1453896" y="227228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A.6.1</a:t>
            </a:r>
            <a:endParaRPr lang="en-US" sz="700" dirty="0"/>
          </a:p>
        </p:txBody>
      </p:sp>
      <p:sp>
        <p:nvSpPr>
          <p:cNvPr id="17" name="Shape 15"/>
          <p:cNvSpPr/>
          <p:nvPr/>
        </p:nvSpPr>
        <p:spPr>
          <a:xfrm>
            <a:off x="457200" y="2528316"/>
            <a:ext cx="2788920" cy="1156716"/>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457200" y="2528316"/>
            <a:ext cx="41148" cy="1156716"/>
          </a:xfrm>
          <a:prstGeom prst="rect">
            <a:avLst/>
          </a:prstGeom>
          <a:solidFill>
            <a:srgbClr val="D94F3D"/>
          </a:solidFill>
          <a:ln w="12700">
            <a:solidFill>
              <a:srgbClr val="D94F3D"/>
            </a:solidFill>
            <a:prstDash val="solid"/>
          </a:ln>
        </p:spPr>
      </p:sp>
      <p:sp>
        <p:nvSpPr>
          <p:cNvPr id="19" name="Text 17"/>
          <p:cNvSpPr/>
          <p:nvPr/>
        </p:nvSpPr>
        <p:spPr>
          <a:xfrm>
            <a:off x="548640" y="259232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PII exposure is unquantified</a:t>
            </a:r>
            <a:endParaRPr lang="en-US" sz="1000" dirty="0"/>
          </a:p>
        </p:txBody>
      </p:sp>
      <p:sp>
        <p:nvSpPr>
          <p:cNvPr id="20" name="Text 18"/>
          <p:cNvSpPr/>
          <p:nvPr/>
        </p:nvSpPr>
        <p:spPr>
          <a:xfrm>
            <a:off x="548640" y="277520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No data classification framework or data flow diagrams exist. FleetPartners cannot identify where PII resides or how it flows through MyCar, NAB SFTP, Power Automate, or HubSpot.</a:t>
            </a:r>
            <a:endParaRPr lang="en-US" sz="850" dirty="0"/>
          </a:p>
        </p:txBody>
      </p:sp>
      <p:sp>
        <p:nvSpPr>
          <p:cNvPr id="21" name="Shape 19"/>
          <p:cNvSpPr/>
          <p:nvPr/>
        </p:nvSpPr>
        <p:spPr>
          <a:xfrm>
            <a:off x="548640" y="3483864"/>
            <a:ext cx="466344" cy="155448"/>
          </a:xfrm>
          <a:prstGeom prst="roundRect">
            <a:avLst>
              <a:gd name="adj" fmla="val 23529"/>
            </a:avLst>
          </a:prstGeom>
          <a:solidFill>
            <a:srgbClr val="E0F5F7"/>
          </a:solidFill>
          <a:ln w="12700">
            <a:solidFill>
              <a:srgbClr val="B3E8EC"/>
            </a:solidFill>
            <a:prstDash val="solid"/>
          </a:ln>
        </p:spPr>
      </p:sp>
      <p:sp>
        <p:nvSpPr>
          <p:cNvPr id="22" name="Text 20"/>
          <p:cNvSpPr/>
          <p:nvPr/>
        </p:nvSpPr>
        <p:spPr>
          <a:xfrm>
            <a:off x="548640"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A.5.12</a:t>
            </a:r>
            <a:endParaRPr lang="en-US" sz="700" dirty="0"/>
          </a:p>
        </p:txBody>
      </p:sp>
      <p:sp>
        <p:nvSpPr>
          <p:cNvPr id="23" name="Shape 21"/>
          <p:cNvSpPr/>
          <p:nvPr/>
        </p:nvSpPr>
        <p:spPr>
          <a:xfrm>
            <a:off x="1060704" y="3483864"/>
            <a:ext cx="466344" cy="155448"/>
          </a:xfrm>
          <a:prstGeom prst="roundRect">
            <a:avLst>
              <a:gd name="adj" fmla="val 23529"/>
            </a:avLst>
          </a:prstGeom>
          <a:solidFill>
            <a:srgbClr val="E0F5F7"/>
          </a:solidFill>
          <a:ln w="12700">
            <a:solidFill>
              <a:srgbClr val="B3E8EC"/>
            </a:solidFill>
            <a:prstDash val="solid"/>
          </a:ln>
        </p:spPr>
      </p:sp>
      <p:sp>
        <p:nvSpPr>
          <p:cNvPr id="24" name="Text 22"/>
          <p:cNvSpPr/>
          <p:nvPr/>
        </p:nvSpPr>
        <p:spPr>
          <a:xfrm>
            <a:off x="1060704"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A.5.13</a:t>
            </a:r>
            <a:endParaRPr lang="en-US" sz="700" dirty="0"/>
          </a:p>
        </p:txBody>
      </p:sp>
      <p:sp>
        <p:nvSpPr>
          <p:cNvPr id="25" name="Shape 23"/>
          <p:cNvSpPr/>
          <p:nvPr/>
        </p:nvSpPr>
        <p:spPr>
          <a:xfrm>
            <a:off x="1572768" y="3483864"/>
            <a:ext cx="466344" cy="155448"/>
          </a:xfrm>
          <a:prstGeom prst="roundRect">
            <a:avLst>
              <a:gd name="adj" fmla="val 23529"/>
            </a:avLst>
          </a:prstGeom>
          <a:solidFill>
            <a:srgbClr val="E0F5F7"/>
          </a:solidFill>
          <a:ln w="12700">
            <a:solidFill>
              <a:srgbClr val="B3E8EC"/>
            </a:solidFill>
            <a:prstDash val="solid"/>
          </a:ln>
        </p:spPr>
      </p:sp>
      <p:sp>
        <p:nvSpPr>
          <p:cNvPr id="26" name="Text 24"/>
          <p:cNvSpPr/>
          <p:nvPr/>
        </p:nvSpPr>
        <p:spPr>
          <a:xfrm>
            <a:off x="1572768"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A.8.10</a:t>
            </a:r>
            <a:endParaRPr lang="en-US" sz="700" dirty="0"/>
          </a:p>
        </p:txBody>
      </p:sp>
      <p:sp>
        <p:nvSpPr>
          <p:cNvPr id="27" name="Shape 25"/>
          <p:cNvSpPr/>
          <p:nvPr/>
        </p:nvSpPr>
        <p:spPr>
          <a:xfrm>
            <a:off x="457200" y="3739896"/>
            <a:ext cx="2788920" cy="1156716"/>
          </a:xfrm>
          <a:prstGeom prst="rect">
            <a:avLst/>
          </a:prstGeom>
          <a:solidFill>
            <a:srgbClr val="FEF9F0"/>
          </a:solidFill>
          <a:ln w="12700">
            <a:solidFill>
              <a:srgbClr val="F5DFA0"/>
            </a:solidFill>
            <a:prstDash val="solid"/>
          </a:ln>
          <a:effectLst>
            <a:outerShdw sx="100000" sy="100000" kx="0" ky="0" algn="bl" rotWithShape="0" blurRad="63500" dist="25400" dir="8100000">
              <a:srgbClr val="000000">
                <a:alpha val="10000"/>
              </a:srgbClr>
            </a:outerShdw>
          </a:effectLst>
        </p:spPr>
      </p:sp>
      <p:sp>
        <p:nvSpPr>
          <p:cNvPr id="28" name="Shape 26"/>
          <p:cNvSpPr/>
          <p:nvPr/>
        </p:nvSpPr>
        <p:spPr>
          <a:xfrm>
            <a:off x="457200" y="3739896"/>
            <a:ext cx="41148" cy="1156716"/>
          </a:xfrm>
          <a:prstGeom prst="rect">
            <a:avLst/>
          </a:prstGeom>
          <a:solidFill>
            <a:srgbClr val="E8A01E"/>
          </a:solidFill>
          <a:ln w="12700">
            <a:solidFill>
              <a:srgbClr val="E8A01E"/>
            </a:solidFill>
            <a:prstDash val="solid"/>
          </a:ln>
        </p:spPr>
      </p:sp>
      <p:sp>
        <p:nvSpPr>
          <p:cNvPr id="29" name="Text 27"/>
          <p:cNvSpPr/>
          <p:nvPr/>
        </p:nvSpPr>
        <p:spPr>
          <a:xfrm>
            <a:off x="548640" y="380390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No risk management = no accountability</a:t>
            </a:r>
            <a:endParaRPr lang="en-US" sz="1000" dirty="0"/>
          </a:p>
        </p:txBody>
      </p:sp>
      <p:sp>
        <p:nvSpPr>
          <p:cNvPr id="30" name="Text 28"/>
          <p:cNvSpPr/>
          <p:nvPr/>
        </p:nvSpPr>
        <p:spPr>
          <a:xfrm>
            <a:off x="548640" y="398678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IT Risk Register dormant since 2019. IT changes proceed without documented risk acceptance, leaving FleetPartners unable to demonstrate due diligence in the event of a breach or audit.</a:t>
            </a:r>
            <a:endParaRPr lang="en-US" sz="850" dirty="0"/>
          </a:p>
        </p:txBody>
      </p:sp>
      <p:sp>
        <p:nvSpPr>
          <p:cNvPr id="31" name="Shape 29"/>
          <p:cNvSpPr/>
          <p:nvPr/>
        </p:nvSpPr>
        <p:spPr>
          <a:xfrm>
            <a:off x="548640" y="4695444"/>
            <a:ext cx="406908" cy="155448"/>
          </a:xfrm>
          <a:prstGeom prst="roundRect">
            <a:avLst>
              <a:gd name="adj" fmla="val 23529"/>
            </a:avLst>
          </a:prstGeom>
          <a:solidFill>
            <a:srgbClr val="E0F5F7"/>
          </a:solidFill>
          <a:ln w="12700">
            <a:solidFill>
              <a:srgbClr val="B3E8EC"/>
            </a:solidFill>
            <a:prstDash val="solid"/>
          </a:ln>
        </p:spPr>
      </p:sp>
      <p:sp>
        <p:nvSpPr>
          <p:cNvPr id="32" name="Text 30"/>
          <p:cNvSpPr/>
          <p:nvPr/>
        </p:nvSpPr>
        <p:spPr>
          <a:xfrm>
            <a:off x="548640" y="469544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A.5.5</a:t>
            </a:r>
            <a:endParaRPr lang="en-US" sz="700" dirty="0"/>
          </a:p>
        </p:txBody>
      </p:sp>
      <p:sp>
        <p:nvSpPr>
          <p:cNvPr id="33" name="Shape 31"/>
          <p:cNvSpPr/>
          <p:nvPr/>
        </p:nvSpPr>
        <p:spPr>
          <a:xfrm>
            <a:off x="1001268" y="4695444"/>
            <a:ext cx="406908" cy="155448"/>
          </a:xfrm>
          <a:prstGeom prst="roundRect">
            <a:avLst>
              <a:gd name="adj" fmla="val 23529"/>
            </a:avLst>
          </a:prstGeom>
          <a:solidFill>
            <a:srgbClr val="E0F5F7"/>
          </a:solidFill>
          <a:ln w="12700">
            <a:solidFill>
              <a:srgbClr val="B3E8EC"/>
            </a:solidFill>
            <a:prstDash val="solid"/>
          </a:ln>
        </p:spPr>
      </p:sp>
      <p:sp>
        <p:nvSpPr>
          <p:cNvPr id="34" name="Text 32"/>
          <p:cNvSpPr/>
          <p:nvPr/>
        </p:nvSpPr>
        <p:spPr>
          <a:xfrm>
            <a:off x="1001268" y="469544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A.5.6</a:t>
            </a:r>
            <a:endParaRPr lang="en-US" sz="700" dirty="0"/>
          </a:p>
        </p:txBody>
      </p:sp>
      <p:sp>
        <p:nvSpPr>
          <p:cNvPr id="35" name="Shape 33"/>
          <p:cNvSpPr/>
          <p:nvPr/>
        </p:nvSpPr>
        <p:spPr>
          <a:xfrm>
            <a:off x="1453896" y="4695444"/>
            <a:ext cx="406908" cy="155448"/>
          </a:xfrm>
          <a:prstGeom prst="roundRect">
            <a:avLst>
              <a:gd name="adj" fmla="val 23529"/>
            </a:avLst>
          </a:prstGeom>
          <a:solidFill>
            <a:srgbClr val="E0F5F7"/>
          </a:solidFill>
          <a:ln w="12700">
            <a:solidFill>
              <a:srgbClr val="B3E8EC"/>
            </a:solidFill>
            <a:prstDash val="solid"/>
          </a:ln>
        </p:spPr>
      </p:sp>
      <p:sp>
        <p:nvSpPr>
          <p:cNvPr id="36" name="Text 34"/>
          <p:cNvSpPr/>
          <p:nvPr/>
        </p:nvSpPr>
        <p:spPr>
          <a:xfrm>
            <a:off x="1453896" y="469544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A.5.7</a:t>
            </a:r>
            <a:endParaRPr lang="en-US" sz="700" dirty="0"/>
          </a:p>
        </p:txBody>
      </p:sp>
      <p:sp>
        <p:nvSpPr>
          <p:cNvPr id="37" name="Shape 35"/>
          <p:cNvSpPr/>
          <p:nvPr/>
        </p:nvSpPr>
        <p:spPr>
          <a:xfrm>
            <a:off x="3355848" y="1243584"/>
            <a:ext cx="822960" cy="20117"/>
          </a:xfrm>
          <a:prstGeom prst="rect">
            <a:avLst/>
          </a:prstGeom>
          <a:solidFill>
            <a:srgbClr val="00A5B5"/>
          </a:solidFill>
          <a:ln w="12700">
            <a:solidFill>
              <a:srgbClr val="00A5B5"/>
            </a:solidFill>
            <a:prstDash val="solid"/>
          </a:ln>
        </p:spPr>
      </p:sp>
      <p:sp>
        <p:nvSpPr>
          <p:cNvPr id="38" name="Text 36"/>
          <p:cNvSpPr/>
          <p:nvPr/>
        </p:nvSpPr>
        <p:spPr>
          <a:xfrm>
            <a:off x="3355848" y="1115568"/>
            <a:ext cx="1828800" cy="146304"/>
          </a:xfrm>
          <a:prstGeom prst="rect">
            <a:avLst/>
          </a:prstGeom>
          <a:noFill/>
          <a:ln/>
        </p:spPr>
        <p:txBody>
          <a:bodyPr wrap="square" lIns="0" tIns="0" rIns="0" bIns="0" rtlCol="0" anchor="ctr"/>
          <a:lstStyle/>
          <a:p>
            <a:pPr indent="0" marL="0">
              <a:buNone/>
            </a:pPr>
            <a:r>
              <a:rPr lang="en-US" sz="750" b="1" spc="250" kern="0" dirty="0">
                <a:solidFill>
                  <a:srgbClr val="00A5B5"/>
                </a:solidFill>
                <a:latin typeface="Calibri" pitchFamily="34" charset="0"/>
                <a:ea typeface="Calibri" pitchFamily="34" charset="-122"/>
                <a:cs typeface="Calibri" pitchFamily="34" charset="-120"/>
              </a:rPr>
              <a:t>HOW WE FIX IT</a:t>
            </a:r>
            <a:endParaRPr lang="en-US" sz="750" dirty="0"/>
          </a:p>
        </p:txBody>
      </p:sp>
      <p:sp>
        <p:nvSpPr>
          <p:cNvPr id="39" name="Shape 37"/>
          <p:cNvSpPr/>
          <p:nvPr/>
        </p:nvSpPr>
        <p:spPr>
          <a:xfrm>
            <a:off x="3355848" y="1316736"/>
            <a:ext cx="3611880" cy="2656332"/>
          </a:xfrm>
          <a:prstGeom prst="rect">
            <a:avLst/>
          </a:prstGeom>
          <a:solidFill>
            <a:srgbClr val="EEF7FD"/>
          </a:solidFill>
          <a:ln w="12700">
            <a:solidFill>
              <a:srgbClr val="00A5B5"/>
            </a:solidFill>
            <a:prstDash val="solid"/>
          </a:ln>
        </p:spPr>
      </p:sp>
      <p:sp>
        <p:nvSpPr>
          <p:cNvPr id="40" name="Shape 38"/>
          <p:cNvSpPr/>
          <p:nvPr/>
        </p:nvSpPr>
        <p:spPr>
          <a:xfrm>
            <a:off x="3355848" y="1316736"/>
            <a:ext cx="41148" cy="2656332"/>
          </a:xfrm>
          <a:prstGeom prst="rect">
            <a:avLst/>
          </a:prstGeom>
          <a:solidFill>
            <a:srgbClr val="00A5B5"/>
          </a:solidFill>
          <a:ln w="12700">
            <a:solidFill>
              <a:srgbClr val="00A5B5"/>
            </a:solidFill>
            <a:prstDash val="solid"/>
          </a:ln>
        </p:spPr>
      </p:sp>
      <p:sp>
        <p:nvSpPr>
          <p:cNvPr id="41" name="Text 39"/>
          <p:cNvSpPr/>
          <p:nvPr/>
        </p:nvSpPr>
        <p:spPr>
          <a:xfrm>
            <a:off x="3447288" y="1426464"/>
            <a:ext cx="3429000" cy="2308860"/>
          </a:xfrm>
          <a:prstGeom prst="rect">
            <a:avLst/>
          </a:prstGeom>
          <a:noFill/>
          <a:ln/>
        </p:spPr>
        <p:txBody>
          <a:bodyPr wrap="square" lIns="0" tIns="0" rIns="0" bIns="0" rtlCol="0" anchor="t"/>
          <a:lstStyle/>
          <a:p>
            <a:pPr>
              <a:spcAft>
                <a:spcPts val="300"/>
              </a:spcAft>
            </a:pPr>
            <a:r>
              <a:rPr lang="en-US" sz="900" dirty="0">
                <a:solidFill>
                  <a:srgbClr val="1A2640"/>
                </a:solidFill>
                <a:latin typeface="Calibri" pitchFamily="34" charset="0"/>
                <a:ea typeface="Calibri" pitchFamily="34" charset="-122"/>
                <a:cs typeface="Calibri" pitchFamily="34" charset="-120"/>
              </a:rPr>
              <a:t>Create 9 mandatory ISO documents with annual review cycle — RACI, onboarding/offboarding, labelling, supplier register, HR screening, configuration standards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Data discovery &amp; classification — map PII across all systems, design data lifecycle framework, create data flow diagrams for MyCar, NAB, cloud integrations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Revive IT Risk Register — JIRA triage workflow, time-limited exceptions with compensating controls, NFRC format for Risk Committee reporting</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Deploy CMDB — leverage JIRA to track configuration baselines; enable accurate risk assessment for MACD requests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Conduct Business Impact Analysis — identify critical function recovery priorities and define RTO/RPO targets</a:t>
            </a:r>
            <a:endParaRPr lang="en-US" sz="900" dirty="0"/>
          </a:p>
        </p:txBody>
      </p:sp>
      <p:sp>
        <p:nvSpPr>
          <p:cNvPr id="42" name="Shape 40"/>
          <p:cNvSpPr/>
          <p:nvPr/>
        </p:nvSpPr>
        <p:spPr>
          <a:xfrm>
            <a:off x="3355848" y="4046220"/>
            <a:ext cx="3611880" cy="699516"/>
          </a:xfrm>
          <a:prstGeom prst="rect">
            <a:avLst/>
          </a:prstGeom>
          <a:solidFill>
            <a:srgbClr val="F6F7FA"/>
          </a:solidFill>
          <a:ln w="12700">
            <a:solidFill>
              <a:srgbClr val="E8EBF0"/>
            </a:solidFill>
            <a:prstDash val="solid"/>
          </a:ln>
        </p:spPr>
      </p:sp>
      <p:sp>
        <p:nvSpPr>
          <p:cNvPr id="43" name="Text 41"/>
          <p:cNvSpPr/>
          <p:nvPr/>
        </p:nvSpPr>
        <p:spPr>
          <a:xfrm>
            <a:off x="3465576" y="4110228"/>
            <a:ext cx="3474720" cy="137160"/>
          </a:xfrm>
          <a:prstGeom prst="rect">
            <a:avLst/>
          </a:prstGeom>
          <a:noFill/>
          <a:ln/>
        </p:spPr>
        <p:txBody>
          <a:bodyPr wrap="square" lIns="0" tIns="0" rIns="0" bIns="0" rtlCol="0" anchor="ctr"/>
          <a:lstStyle/>
          <a:p>
            <a:pPr indent="0" marL="0">
              <a:buNone/>
            </a:pPr>
            <a:r>
              <a:rPr lang="en-US" sz="700" b="1" spc="200" kern="0" dirty="0">
                <a:solidFill>
                  <a:srgbClr val="6B7A96"/>
                </a:solidFill>
                <a:latin typeface="Calibri" pitchFamily="34" charset="0"/>
                <a:ea typeface="Calibri" pitchFamily="34" charset="-122"/>
                <a:cs typeface="Calibri" pitchFamily="34" charset="-120"/>
              </a:rPr>
              <a:t>DELIVERABLES</a:t>
            </a:r>
            <a:endParaRPr lang="en-US" sz="700" dirty="0"/>
          </a:p>
        </p:txBody>
      </p:sp>
      <p:sp>
        <p:nvSpPr>
          <p:cNvPr id="44" name="Text 42"/>
          <p:cNvSpPr/>
          <p:nvPr/>
        </p:nvSpPr>
        <p:spPr>
          <a:xfrm>
            <a:off x="3465576"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9 ISO documents created</a:t>
            </a:r>
            <a:endParaRPr lang="en-US" sz="850" dirty="0"/>
          </a:p>
        </p:txBody>
      </p:sp>
      <p:sp>
        <p:nvSpPr>
          <p:cNvPr id="45" name="Text 43"/>
          <p:cNvSpPr/>
          <p:nvPr/>
        </p:nvSpPr>
        <p:spPr>
          <a:xfrm>
            <a:off x="5216652"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Data classification framework</a:t>
            </a:r>
            <a:endParaRPr lang="en-US" sz="850" dirty="0"/>
          </a:p>
        </p:txBody>
      </p:sp>
      <p:sp>
        <p:nvSpPr>
          <p:cNvPr id="46" name="Text 44"/>
          <p:cNvSpPr/>
          <p:nvPr/>
        </p:nvSpPr>
        <p:spPr>
          <a:xfrm>
            <a:off x="3465576"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Data flow diagrams complete</a:t>
            </a:r>
            <a:endParaRPr lang="en-US" sz="850" dirty="0"/>
          </a:p>
        </p:txBody>
      </p:sp>
      <p:sp>
        <p:nvSpPr>
          <p:cNvPr id="47" name="Text 45"/>
          <p:cNvSpPr/>
          <p:nvPr/>
        </p:nvSpPr>
        <p:spPr>
          <a:xfrm>
            <a:off x="5216652"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IT Risk Register active</a:t>
            </a:r>
            <a:endParaRPr lang="en-US" sz="850" dirty="0"/>
          </a:p>
        </p:txBody>
      </p:sp>
      <p:sp>
        <p:nvSpPr>
          <p:cNvPr id="48" name="Text 46"/>
          <p:cNvSpPr/>
          <p:nvPr/>
        </p:nvSpPr>
        <p:spPr>
          <a:xfrm>
            <a:off x="3465576"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CMDB operational</a:t>
            </a:r>
            <a:endParaRPr lang="en-US" sz="850" dirty="0"/>
          </a:p>
        </p:txBody>
      </p:sp>
      <p:sp>
        <p:nvSpPr>
          <p:cNvPr id="49" name="Text 47"/>
          <p:cNvSpPr/>
          <p:nvPr/>
        </p:nvSpPr>
        <p:spPr>
          <a:xfrm>
            <a:off x="5216652"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BIA completed</a:t>
            </a:r>
            <a:endParaRPr lang="en-US" sz="850" dirty="0"/>
          </a:p>
        </p:txBody>
      </p:sp>
      <p:sp>
        <p:nvSpPr>
          <p:cNvPr id="50" name="Shape 48"/>
          <p:cNvSpPr/>
          <p:nvPr/>
        </p:nvSpPr>
        <p:spPr>
          <a:xfrm>
            <a:off x="7077456" y="1115568"/>
            <a:ext cx="1737360" cy="3863340"/>
          </a:xfrm>
          <a:prstGeom prst="rect">
            <a:avLst/>
          </a:prstGeom>
          <a:solidFill>
            <a:srgbClr val="F6F7FA"/>
          </a:solidFill>
          <a:ln w="12700">
            <a:solidFill>
              <a:srgbClr val="E8EBF0"/>
            </a:solidFill>
            <a:prstDash val="solid"/>
          </a:ln>
        </p:spPr>
      </p:sp>
      <p:sp>
        <p:nvSpPr>
          <p:cNvPr id="51" name="Shape 49"/>
          <p:cNvSpPr/>
          <p:nvPr/>
        </p:nvSpPr>
        <p:spPr>
          <a:xfrm>
            <a:off x="7168896" y="1298448"/>
            <a:ext cx="822960" cy="20117"/>
          </a:xfrm>
          <a:prstGeom prst="rect">
            <a:avLst/>
          </a:prstGeom>
          <a:solidFill>
            <a:srgbClr val="007D8A"/>
          </a:solidFill>
          <a:ln w="12700">
            <a:solidFill>
              <a:srgbClr val="007D8A"/>
            </a:solidFill>
            <a:prstDash val="solid"/>
          </a:ln>
        </p:spPr>
      </p:sp>
      <p:sp>
        <p:nvSpPr>
          <p:cNvPr id="52" name="Text 50"/>
          <p:cNvSpPr/>
          <p:nvPr/>
        </p:nvSpPr>
        <p:spPr>
          <a:xfrm>
            <a:off x="7168896" y="1170432"/>
            <a:ext cx="1828800" cy="146304"/>
          </a:xfrm>
          <a:prstGeom prst="rect">
            <a:avLst/>
          </a:prstGeom>
          <a:noFill/>
          <a:ln/>
        </p:spPr>
        <p:txBody>
          <a:bodyPr wrap="square" lIns="0" tIns="0" rIns="0" bIns="0" rtlCol="0" anchor="ctr"/>
          <a:lstStyle/>
          <a:p>
            <a:pPr indent="0" marL="0">
              <a:buNone/>
            </a:pPr>
            <a:r>
              <a:rPr lang="en-US" sz="750" b="1" spc="250" kern="0" dirty="0">
                <a:solidFill>
                  <a:srgbClr val="007D8A"/>
                </a:solidFill>
                <a:latin typeface="Calibri" pitchFamily="34" charset="0"/>
                <a:ea typeface="Calibri" pitchFamily="34" charset="-122"/>
                <a:cs typeface="Calibri" pitchFamily="34" charset="-120"/>
              </a:rPr>
              <a:t>ISO CONTROLS</a:t>
            </a:r>
            <a:endParaRPr lang="en-US" sz="750" dirty="0"/>
          </a:p>
        </p:txBody>
      </p:sp>
      <p:sp>
        <p:nvSpPr>
          <p:cNvPr id="53" name="Shape 51"/>
          <p:cNvSpPr/>
          <p:nvPr/>
        </p:nvSpPr>
        <p:spPr>
          <a:xfrm>
            <a:off x="7168896" y="1389888"/>
            <a:ext cx="438912" cy="164592"/>
          </a:xfrm>
          <a:prstGeom prst="roundRect">
            <a:avLst>
              <a:gd name="adj" fmla="val 22222"/>
            </a:avLst>
          </a:prstGeom>
          <a:solidFill>
            <a:srgbClr val="E0F5F7"/>
          </a:solidFill>
          <a:ln w="12700">
            <a:solidFill>
              <a:srgbClr val="B3E8EC"/>
            </a:solidFill>
            <a:prstDash val="solid"/>
          </a:ln>
        </p:spPr>
      </p:sp>
      <p:sp>
        <p:nvSpPr>
          <p:cNvPr id="54" name="Text 52"/>
          <p:cNvSpPr/>
          <p:nvPr/>
        </p:nvSpPr>
        <p:spPr>
          <a:xfrm>
            <a:off x="7168896" y="1389888"/>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a:t>
            </a:r>
            <a:endParaRPr lang="en-US" sz="750" dirty="0"/>
          </a:p>
        </p:txBody>
      </p:sp>
      <p:sp>
        <p:nvSpPr>
          <p:cNvPr id="55" name="Shape 53"/>
          <p:cNvSpPr/>
          <p:nvPr/>
        </p:nvSpPr>
        <p:spPr>
          <a:xfrm>
            <a:off x="7653528" y="1389888"/>
            <a:ext cx="438912" cy="164592"/>
          </a:xfrm>
          <a:prstGeom prst="roundRect">
            <a:avLst>
              <a:gd name="adj" fmla="val 22222"/>
            </a:avLst>
          </a:prstGeom>
          <a:solidFill>
            <a:srgbClr val="E0F5F7"/>
          </a:solidFill>
          <a:ln w="12700">
            <a:solidFill>
              <a:srgbClr val="B3E8EC"/>
            </a:solidFill>
            <a:prstDash val="solid"/>
          </a:ln>
        </p:spPr>
      </p:sp>
      <p:sp>
        <p:nvSpPr>
          <p:cNvPr id="56" name="Text 54"/>
          <p:cNvSpPr/>
          <p:nvPr/>
        </p:nvSpPr>
        <p:spPr>
          <a:xfrm>
            <a:off x="7653528" y="1389888"/>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A.5.2</a:t>
            </a:r>
            <a:endParaRPr lang="en-US" sz="750" dirty="0"/>
          </a:p>
        </p:txBody>
      </p:sp>
      <p:sp>
        <p:nvSpPr>
          <p:cNvPr id="57" name="Shape 55"/>
          <p:cNvSpPr/>
          <p:nvPr/>
        </p:nvSpPr>
        <p:spPr>
          <a:xfrm>
            <a:off x="8138160" y="1389888"/>
            <a:ext cx="438912" cy="164592"/>
          </a:xfrm>
          <a:prstGeom prst="roundRect">
            <a:avLst>
              <a:gd name="adj" fmla="val 22222"/>
            </a:avLst>
          </a:prstGeom>
          <a:solidFill>
            <a:srgbClr val="E0F5F7"/>
          </a:solidFill>
          <a:ln w="12700">
            <a:solidFill>
              <a:srgbClr val="B3E8EC"/>
            </a:solidFill>
            <a:prstDash val="solid"/>
          </a:ln>
        </p:spPr>
      </p:sp>
      <p:sp>
        <p:nvSpPr>
          <p:cNvPr id="58" name="Text 56"/>
          <p:cNvSpPr/>
          <p:nvPr/>
        </p:nvSpPr>
        <p:spPr>
          <a:xfrm>
            <a:off x="8138160" y="1389888"/>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A.5.3</a:t>
            </a:r>
            <a:endParaRPr lang="en-US" sz="750" dirty="0"/>
          </a:p>
        </p:txBody>
      </p:sp>
      <p:sp>
        <p:nvSpPr>
          <p:cNvPr id="59" name="Shape 57"/>
          <p:cNvSpPr/>
          <p:nvPr/>
        </p:nvSpPr>
        <p:spPr>
          <a:xfrm>
            <a:off x="7168896" y="1591056"/>
            <a:ext cx="438912" cy="164592"/>
          </a:xfrm>
          <a:prstGeom prst="roundRect">
            <a:avLst>
              <a:gd name="adj" fmla="val 22222"/>
            </a:avLst>
          </a:prstGeom>
          <a:solidFill>
            <a:srgbClr val="E0F5F7"/>
          </a:solidFill>
          <a:ln w="12700">
            <a:solidFill>
              <a:srgbClr val="B3E8EC"/>
            </a:solidFill>
            <a:prstDash val="solid"/>
          </a:ln>
        </p:spPr>
      </p:sp>
      <p:sp>
        <p:nvSpPr>
          <p:cNvPr id="60" name="Text 58"/>
          <p:cNvSpPr/>
          <p:nvPr/>
        </p:nvSpPr>
        <p:spPr>
          <a:xfrm>
            <a:off x="7168896"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A.5.5</a:t>
            </a:r>
            <a:endParaRPr lang="en-US" sz="750" dirty="0"/>
          </a:p>
        </p:txBody>
      </p:sp>
      <p:sp>
        <p:nvSpPr>
          <p:cNvPr id="61" name="Shape 59"/>
          <p:cNvSpPr/>
          <p:nvPr/>
        </p:nvSpPr>
        <p:spPr>
          <a:xfrm>
            <a:off x="7653528" y="1591056"/>
            <a:ext cx="438912" cy="164592"/>
          </a:xfrm>
          <a:prstGeom prst="roundRect">
            <a:avLst>
              <a:gd name="adj" fmla="val 22222"/>
            </a:avLst>
          </a:prstGeom>
          <a:solidFill>
            <a:srgbClr val="E0F5F7"/>
          </a:solidFill>
          <a:ln w="12700">
            <a:solidFill>
              <a:srgbClr val="B3E8EC"/>
            </a:solidFill>
            <a:prstDash val="solid"/>
          </a:ln>
        </p:spPr>
      </p:sp>
      <p:sp>
        <p:nvSpPr>
          <p:cNvPr id="62" name="Text 60"/>
          <p:cNvSpPr/>
          <p:nvPr/>
        </p:nvSpPr>
        <p:spPr>
          <a:xfrm>
            <a:off x="7653528"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A.5.6</a:t>
            </a:r>
            <a:endParaRPr lang="en-US" sz="750" dirty="0"/>
          </a:p>
        </p:txBody>
      </p:sp>
      <p:sp>
        <p:nvSpPr>
          <p:cNvPr id="63" name="Shape 61"/>
          <p:cNvSpPr/>
          <p:nvPr/>
        </p:nvSpPr>
        <p:spPr>
          <a:xfrm>
            <a:off x="8138160" y="1591056"/>
            <a:ext cx="438912" cy="164592"/>
          </a:xfrm>
          <a:prstGeom prst="roundRect">
            <a:avLst>
              <a:gd name="adj" fmla="val 22222"/>
            </a:avLst>
          </a:prstGeom>
          <a:solidFill>
            <a:srgbClr val="E0F5F7"/>
          </a:solidFill>
          <a:ln w="12700">
            <a:solidFill>
              <a:srgbClr val="B3E8EC"/>
            </a:solidFill>
            <a:prstDash val="solid"/>
          </a:ln>
        </p:spPr>
      </p:sp>
      <p:sp>
        <p:nvSpPr>
          <p:cNvPr id="64" name="Text 62"/>
          <p:cNvSpPr/>
          <p:nvPr/>
        </p:nvSpPr>
        <p:spPr>
          <a:xfrm>
            <a:off x="8138160"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A.5.7</a:t>
            </a:r>
            <a:endParaRPr lang="en-US" sz="750" dirty="0"/>
          </a:p>
        </p:txBody>
      </p:sp>
      <p:sp>
        <p:nvSpPr>
          <p:cNvPr id="65" name="Shape 63"/>
          <p:cNvSpPr/>
          <p:nvPr/>
        </p:nvSpPr>
        <p:spPr>
          <a:xfrm>
            <a:off x="7168896" y="1792224"/>
            <a:ext cx="501091" cy="164592"/>
          </a:xfrm>
          <a:prstGeom prst="roundRect">
            <a:avLst>
              <a:gd name="adj" fmla="val 22222"/>
            </a:avLst>
          </a:prstGeom>
          <a:solidFill>
            <a:srgbClr val="E0F5F7"/>
          </a:solidFill>
          <a:ln w="12700">
            <a:solidFill>
              <a:srgbClr val="B3E8EC"/>
            </a:solidFill>
            <a:prstDash val="solid"/>
          </a:ln>
        </p:spPr>
      </p:sp>
      <p:sp>
        <p:nvSpPr>
          <p:cNvPr id="66" name="Text 64"/>
          <p:cNvSpPr/>
          <p:nvPr/>
        </p:nvSpPr>
        <p:spPr>
          <a:xfrm>
            <a:off x="7168896"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A.5.12</a:t>
            </a:r>
            <a:endParaRPr lang="en-US" sz="750" dirty="0"/>
          </a:p>
        </p:txBody>
      </p:sp>
      <p:sp>
        <p:nvSpPr>
          <p:cNvPr id="67" name="Shape 65"/>
          <p:cNvSpPr/>
          <p:nvPr/>
        </p:nvSpPr>
        <p:spPr>
          <a:xfrm>
            <a:off x="7715707" y="1792224"/>
            <a:ext cx="501091" cy="164592"/>
          </a:xfrm>
          <a:prstGeom prst="roundRect">
            <a:avLst>
              <a:gd name="adj" fmla="val 22222"/>
            </a:avLst>
          </a:prstGeom>
          <a:solidFill>
            <a:srgbClr val="E0F5F7"/>
          </a:solidFill>
          <a:ln w="12700">
            <a:solidFill>
              <a:srgbClr val="B3E8EC"/>
            </a:solidFill>
            <a:prstDash val="solid"/>
          </a:ln>
        </p:spPr>
      </p:sp>
      <p:sp>
        <p:nvSpPr>
          <p:cNvPr id="68" name="Text 66"/>
          <p:cNvSpPr/>
          <p:nvPr/>
        </p:nvSpPr>
        <p:spPr>
          <a:xfrm>
            <a:off x="7715707"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A.5.13</a:t>
            </a:r>
            <a:endParaRPr lang="en-US" sz="750" dirty="0"/>
          </a:p>
        </p:txBody>
      </p:sp>
      <p:sp>
        <p:nvSpPr>
          <p:cNvPr id="69" name="Shape 67"/>
          <p:cNvSpPr/>
          <p:nvPr/>
        </p:nvSpPr>
        <p:spPr>
          <a:xfrm>
            <a:off x="8262518" y="1792224"/>
            <a:ext cx="501091" cy="164592"/>
          </a:xfrm>
          <a:prstGeom prst="roundRect">
            <a:avLst>
              <a:gd name="adj" fmla="val 22222"/>
            </a:avLst>
          </a:prstGeom>
          <a:solidFill>
            <a:srgbClr val="E0F5F7"/>
          </a:solidFill>
          <a:ln w="12700">
            <a:solidFill>
              <a:srgbClr val="B3E8EC"/>
            </a:solidFill>
            <a:prstDash val="solid"/>
          </a:ln>
        </p:spPr>
      </p:sp>
      <p:sp>
        <p:nvSpPr>
          <p:cNvPr id="70" name="Text 68"/>
          <p:cNvSpPr/>
          <p:nvPr/>
        </p:nvSpPr>
        <p:spPr>
          <a:xfrm>
            <a:off x="8262518"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A.5.14</a:t>
            </a:r>
            <a:endParaRPr lang="en-US" sz="750" dirty="0"/>
          </a:p>
        </p:txBody>
      </p:sp>
      <p:sp>
        <p:nvSpPr>
          <p:cNvPr id="71" name="Shape 69"/>
          <p:cNvSpPr/>
          <p:nvPr/>
        </p:nvSpPr>
        <p:spPr>
          <a:xfrm>
            <a:off x="7168896" y="1993392"/>
            <a:ext cx="501091" cy="164592"/>
          </a:xfrm>
          <a:prstGeom prst="roundRect">
            <a:avLst>
              <a:gd name="adj" fmla="val 22222"/>
            </a:avLst>
          </a:prstGeom>
          <a:solidFill>
            <a:srgbClr val="E0F5F7"/>
          </a:solidFill>
          <a:ln w="12700">
            <a:solidFill>
              <a:srgbClr val="B3E8EC"/>
            </a:solidFill>
            <a:prstDash val="solid"/>
          </a:ln>
        </p:spPr>
      </p:sp>
      <p:sp>
        <p:nvSpPr>
          <p:cNvPr id="72" name="Text 70"/>
          <p:cNvSpPr/>
          <p:nvPr/>
        </p:nvSpPr>
        <p:spPr>
          <a:xfrm>
            <a:off x="7168896"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A.5.29</a:t>
            </a:r>
            <a:endParaRPr lang="en-US" sz="750" dirty="0"/>
          </a:p>
        </p:txBody>
      </p:sp>
      <p:sp>
        <p:nvSpPr>
          <p:cNvPr id="73" name="Shape 71"/>
          <p:cNvSpPr/>
          <p:nvPr/>
        </p:nvSpPr>
        <p:spPr>
          <a:xfrm>
            <a:off x="7715707" y="1993392"/>
            <a:ext cx="501091" cy="164592"/>
          </a:xfrm>
          <a:prstGeom prst="roundRect">
            <a:avLst>
              <a:gd name="adj" fmla="val 22222"/>
            </a:avLst>
          </a:prstGeom>
          <a:solidFill>
            <a:srgbClr val="E0F5F7"/>
          </a:solidFill>
          <a:ln w="12700">
            <a:solidFill>
              <a:srgbClr val="B3E8EC"/>
            </a:solidFill>
            <a:prstDash val="solid"/>
          </a:ln>
        </p:spPr>
      </p:sp>
      <p:sp>
        <p:nvSpPr>
          <p:cNvPr id="74" name="Text 72"/>
          <p:cNvSpPr/>
          <p:nvPr/>
        </p:nvSpPr>
        <p:spPr>
          <a:xfrm>
            <a:off x="7715707"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A.5.30</a:t>
            </a:r>
            <a:endParaRPr lang="en-US" sz="750" dirty="0"/>
          </a:p>
        </p:txBody>
      </p:sp>
      <p:sp>
        <p:nvSpPr>
          <p:cNvPr id="75" name="Shape 73"/>
          <p:cNvSpPr/>
          <p:nvPr/>
        </p:nvSpPr>
        <p:spPr>
          <a:xfrm>
            <a:off x="8262518" y="1993392"/>
            <a:ext cx="438912" cy="164592"/>
          </a:xfrm>
          <a:prstGeom prst="roundRect">
            <a:avLst>
              <a:gd name="adj" fmla="val 22222"/>
            </a:avLst>
          </a:prstGeom>
          <a:solidFill>
            <a:srgbClr val="E0F5F7"/>
          </a:solidFill>
          <a:ln w="12700">
            <a:solidFill>
              <a:srgbClr val="B3E8EC"/>
            </a:solidFill>
            <a:prstDash val="solid"/>
          </a:ln>
        </p:spPr>
      </p:sp>
      <p:sp>
        <p:nvSpPr>
          <p:cNvPr id="76" name="Text 74"/>
          <p:cNvSpPr/>
          <p:nvPr/>
        </p:nvSpPr>
        <p:spPr>
          <a:xfrm>
            <a:off x="8262518" y="1993392"/>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A.6.1</a:t>
            </a:r>
            <a:endParaRPr lang="en-US" sz="750" dirty="0"/>
          </a:p>
        </p:txBody>
      </p:sp>
      <p:sp>
        <p:nvSpPr>
          <p:cNvPr id="77" name="Shape 75"/>
          <p:cNvSpPr/>
          <p:nvPr/>
        </p:nvSpPr>
        <p:spPr>
          <a:xfrm>
            <a:off x="7168896" y="2194560"/>
            <a:ext cx="438912" cy="164592"/>
          </a:xfrm>
          <a:prstGeom prst="roundRect">
            <a:avLst>
              <a:gd name="adj" fmla="val 22222"/>
            </a:avLst>
          </a:prstGeom>
          <a:solidFill>
            <a:srgbClr val="E0F5F7"/>
          </a:solidFill>
          <a:ln w="12700">
            <a:solidFill>
              <a:srgbClr val="B3E8EC"/>
            </a:solidFill>
            <a:prstDash val="solid"/>
          </a:ln>
        </p:spPr>
      </p:sp>
      <p:sp>
        <p:nvSpPr>
          <p:cNvPr id="78" name="Text 76"/>
          <p:cNvSpPr/>
          <p:nvPr/>
        </p:nvSpPr>
        <p:spPr>
          <a:xfrm>
            <a:off x="7168896" y="2194560"/>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A.8.8</a:t>
            </a:r>
            <a:endParaRPr lang="en-US" sz="750" dirty="0"/>
          </a:p>
        </p:txBody>
      </p:sp>
      <p:sp>
        <p:nvSpPr>
          <p:cNvPr id="79" name="Shape 77"/>
          <p:cNvSpPr/>
          <p:nvPr/>
        </p:nvSpPr>
        <p:spPr>
          <a:xfrm>
            <a:off x="7653528" y="2194560"/>
            <a:ext cx="438912" cy="164592"/>
          </a:xfrm>
          <a:prstGeom prst="roundRect">
            <a:avLst>
              <a:gd name="adj" fmla="val 22222"/>
            </a:avLst>
          </a:prstGeom>
          <a:solidFill>
            <a:srgbClr val="E0F5F7"/>
          </a:solidFill>
          <a:ln w="12700">
            <a:solidFill>
              <a:srgbClr val="B3E8EC"/>
            </a:solidFill>
            <a:prstDash val="solid"/>
          </a:ln>
        </p:spPr>
      </p:sp>
      <p:sp>
        <p:nvSpPr>
          <p:cNvPr id="80" name="Text 78"/>
          <p:cNvSpPr/>
          <p:nvPr/>
        </p:nvSpPr>
        <p:spPr>
          <a:xfrm>
            <a:off x="7653528" y="2194560"/>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A.8.9</a:t>
            </a:r>
            <a:endParaRPr lang="en-US" sz="750" dirty="0"/>
          </a:p>
        </p:txBody>
      </p:sp>
      <p:sp>
        <p:nvSpPr>
          <p:cNvPr id="81" name="Shape 79"/>
          <p:cNvSpPr/>
          <p:nvPr/>
        </p:nvSpPr>
        <p:spPr>
          <a:xfrm>
            <a:off x="8138160" y="2194560"/>
            <a:ext cx="501091" cy="164592"/>
          </a:xfrm>
          <a:prstGeom prst="roundRect">
            <a:avLst>
              <a:gd name="adj" fmla="val 22222"/>
            </a:avLst>
          </a:prstGeom>
          <a:solidFill>
            <a:srgbClr val="E0F5F7"/>
          </a:solidFill>
          <a:ln w="12700">
            <a:solidFill>
              <a:srgbClr val="B3E8EC"/>
            </a:solidFill>
            <a:prstDash val="solid"/>
          </a:ln>
        </p:spPr>
      </p:sp>
      <p:sp>
        <p:nvSpPr>
          <p:cNvPr id="82" name="Text 80"/>
          <p:cNvSpPr/>
          <p:nvPr/>
        </p:nvSpPr>
        <p:spPr>
          <a:xfrm>
            <a:off x="8138160" y="2194560"/>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A.8.32</a:t>
            </a:r>
            <a:endParaRPr lang="en-US" sz="750" dirty="0"/>
          </a:p>
        </p:txBody>
      </p:sp>
      <p:sp>
        <p:nvSpPr>
          <p:cNvPr id="83" name="Shape 81"/>
          <p:cNvSpPr/>
          <p:nvPr/>
        </p:nvSpPr>
        <p:spPr>
          <a:xfrm>
            <a:off x="0" y="5093208"/>
            <a:ext cx="9144000" cy="50292"/>
          </a:xfrm>
          <a:prstGeom prst="rect">
            <a:avLst/>
          </a:prstGeom>
          <a:solidFill>
            <a:srgbClr val="00A5B5"/>
          </a:solidFill>
          <a:ln w="12700">
            <a:solidFill>
              <a:srgbClr val="00A5B5"/>
            </a:solidFill>
            <a:prstDash val="solid"/>
          </a:ln>
        </p:spPr>
      </p:sp>
      <p:sp>
        <p:nvSpPr>
          <p:cNvPr id="84" name="Shape 82"/>
          <p:cNvSpPr/>
          <p:nvPr/>
        </p:nvSpPr>
        <p:spPr>
          <a:xfrm>
            <a:off x="8503920" y="4549140"/>
            <a:ext cx="384048" cy="384048"/>
          </a:xfrm>
          <a:prstGeom prst="ellipse">
            <a:avLst/>
          </a:prstGeom>
          <a:solidFill>
            <a:srgbClr val="E8EBF0"/>
          </a:solidFill>
          <a:ln w="12700">
            <a:solidFill>
              <a:srgbClr val="B0B8C8"/>
            </a:solidFill>
            <a:prstDash val="solid"/>
          </a:ln>
        </p:spPr>
      </p:sp>
      <p:sp>
        <p:nvSpPr>
          <p:cNvPr id="85" name="Text 83"/>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86" name="Text 84"/>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145"/>
          </a:solidFill>
          <a:ln w="12700">
            <a:solidFill>
              <a:srgbClr val="0D2145"/>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7EBBFF"/>
                </a:solidFill>
                <a:latin typeface="Calibri" pitchFamily="34" charset="0"/>
                <a:ea typeface="Calibri" pitchFamily="34" charset="-122"/>
                <a:cs typeface="Calibri" pitchFamily="34" charset="-120"/>
              </a:rPr>
              <a:t>PHASE 2 · Q2 FY27 · JAN – MAR 2027</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Identity, visibility, and awareness controls are the highest-ROI investments FleetPartners can make — Phase 2 delivers them</a:t>
            </a:r>
            <a:endParaRPr lang="en-US" sz="1700" dirty="0"/>
          </a:p>
        </p:txBody>
      </p:sp>
      <p:sp>
        <p:nvSpPr>
          <p:cNvPr id="5" name="Shape 3"/>
          <p:cNvSpPr/>
          <p:nvPr/>
        </p:nvSpPr>
        <p:spPr>
          <a:xfrm>
            <a:off x="457200" y="1243584"/>
            <a:ext cx="822960" cy="20117"/>
          </a:xfrm>
          <a:prstGeom prst="rect">
            <a:avLst/>
          </a:prstGeom>
          <a:solidFill>
            <a:srgbClr val="3A7BD5"/>
          </a:solidFill>
          <a:ln w="12700">
            <a:solidFill>
              <a:srgbClr val="3A7BD5"/>
            </a:solidFill>
            <a:prstDash val="solid"/>
          </a:ln>
        </p:spPr>
      </p:sp>
      <p:sp>
        <p:nvSpPr>
          <p:cNvPr id="6" name="Text 4"/>
          <p:cNvSpPr/>
          <p:nvPr/>
        </p:nvSpPr>
        <p:spPr>
          <a:xfrm>
            <a:off x="457200" y="1115568"/>
            <a:ext cx="1828800" cy="146304"/>
          </a:xfrm>
          <a:prstGeom prst="rect">
            <a:avLst/>
          </a:prstGeom>
          <a:noFill/>
          <a:ln/>
        </p:spPr>
        <p:txBody>
          <a:bodyPr wrap="square" lIns="0" tIns="0" rIns="0" bIns="0" rtlCol="0" anchor="ctr"/>
          <a:lstStyle/>
          <a:p>
            <a:pPr indent="0" marL="0">
              <a:buNone/>
            </a:pPr>
            <a:r>
              <a:rPr lang="en-US" sz="750" b="1" spc="250" kern="0" dirty="0">
                <a:solidFill>
                  <a:srgbClr val="3A7BD5"/>
                </a:solidFill>
                <a:latin typeface="Calibri" pitchFamily="34" charset="0"/>
                <a:ea typeface="Calibri" pitchFamily="34" charset="-122"/>
                <a:cs typeface="Calibri" pitchFamily="34" charset="-120"/>
              </a:rPr>
              <a:t>WHY IT MATTERS</a:t>
            </a:r>
            <a:endParaRPr lang="en-US" sz="750" dirty="0"/>
          </a:p>
        </p:txBody>
      </p:sp>
      <p:sp>
        <p:nvSpPr>
          <p:cNvPr id="7" name="Shape 5"/>
          <p:cNvSpPr/>
          <p:nvPr/>
        </p:nvSpPr>
        <p:spPr>
          <a:xfrm>
            <a:off x="457200" y="1316736"/>
            <a:ext cx="2788920" cy="1156716"/>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8" name="Shape 6"/>
          <p:cNvSpPr/>
          <p:nvPr/>
        </p:nvSpPr>
        <p:spPr>
          <a:xfrm>
            <a:off x="457200" y="1316736"/>
            <a:ext cx="41148" cy="1156716"/>
          </a:xfrm>
          <a:prstGeom prst="rect">
            <a:avLst/>
          </a:prstGeom>
          <a:solidFill>
            <a:srgbClr val="D94F3D"/>
          </a:solidFill>
          <a:ln w="12700">
            <a:solidFill>
              <a:srgbClr val="D94F3D"/>
            </a:solidFill>
            <a:prstDash val="solid"/>
          </a:ln>
        </p:spPr>
      </p:sp>
      <p:sp>
        <p:nvSpPr>
          <p:cNvPr id="9" name="Text 7"/>
          <p:cNvSpPr/>
          <p:nvPr/>
        </p:nvSpPr>
        <p:spPr>
          <a:xfrm>
            <a:off x="548640" y="138074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80% of breaches exploit weak identity controls</a:t>
            </a:r>
            <a:endParaRPr lang="en-US" sz="1000" dirty="0"/>
          </a:p>
        </p:txBody>
      </p:sp>
      <p:sp>
        <p:nvSpPr>
          <p:cNvPr id="10" name="Text 8"/>
          <p:cNvSpPr/>
          <p:nvPr/>
        </p:nvSpPr>
        <p:spPr>
          <a:xfrm>
            <a:off x="548640" y="156362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Linux servers on local accounts, no MFA enforcement, and no centralised identity governance leave every privileged credential as a potential breach entry point. Identity is the new perimeter — and it is unprotected.</a:t>
            </a:r>
            <a:endParaRPr lang="en-US" sz="850" dirty="0"/>
          </a:p>
        </p:txBody>
      </p:sp>
      <p:sp>
        <p:nvSpPr>
          <p:cNvPr id="11" name="Shape 9"/>
          <p:cNvSpPr/>
          <p:nvPr/>
        </p:nvSpPr>
        <p:spPr>
          <a:xfrm>
            <a:off x="548640" y="2272284"/>
            <a:ext cx="466344" cy="155448"/>
          </a:xfrm>
          <a:prstGeom prst="roundRect">
            <a:avLst>
              <a:gd name="adj" fmla="val 23529"/>
            </a:avLst>
          </a:prstGeom>
          <a:solidFill>
            <a:srgbClr val="E0F5F7"/>
          </a:solidFill>
          <a:ln w="12700">
            <a:solidFill>
              <a:srgbClr val="B3E8EC"/>
            </a:solidFill>
            <a:prstDash val="solid"/>
          </a:ln>
        </p:spPr>
      </p:sp>
      <p:sp>
        <p:nvSpPr>
          <p:cNvPr id="12" name="Text 10"/>
          <p:cNvSpPr/>
          <p:nvPr/>
        </p:nvSpPr>
        <p:spPr>
          <a:xfrm>
            <a:off x="548640" y="227228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A.5.15</a:t>
            </a:r>
            <a:endParaRPr lang="en-US" sz="700" dirty="0"/>
          </a:p>
        </p:txBody>
      </p:sp>
      <p:sp>
        <p:nvSpPr>
          <p:cNvPr id="13" name="Shape 11"/>
          <p:cNvSpPr/>
          <p:nvPr/>
        </p:nvSpPr>
        <p:spPr>
          <a:xfrm>
            <a:off x="1060704" y="2272284"/>
            <a:ext cx="466344" cy="155448"/>
          </a:xfrm>
          <a:prstGeom prst="roundRect">
            <a:avLst>
              <a:gd name="adj" fmla="val 23529"/>
            </a:avLst>
          </a:prstGeom>
          <a:solidFill>
            <a:srgbClr val="E0F5F7"/>
          </a:solidFill>
          <a:ln w="12700">
            <a:solidFill>
              <a:srgbClr val="B3E8EC"/>
            </a:solidFill>
            <a:prstDash val="solid"/>
          </a:ln>
        </p:spPr>
      </p:sp>
      <p:sp>
        <p:nvSpPr>
          <p:cNvPr id="14" name="Text 12"/>
          <p:cNvSpPr/>
          <p:nvPr/>
        </p:nvSpPr>
        <p:spPr>
          <a:xfrm>
            <a:off x="1060704" y="227228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A.5.16</a:t>
            </a:r>
            <a:endParaRPr lang="en-US" sz="700" dirty="0"/>
          </a:p>
        </p:txBody>
      </p:sp>
      <p:sp>
        <p:nvSpPr>
          <p:cNvPr id="15" name="Shape 13"/>
          <p:cNvSpPr/>
          <p:nvPr/>
        </p:nvSpPr>
        <p:spPr>
          <a:xfrm>
            <a:off x="1572768" y="2272284"/>
            <a:ext cx="406908" cy="155448"/>
          </a:xfrm>
          <a:prstGeom prst="roundRect">
            <a:avLst>
              <a:gd name="adj" fmla="val 23529"/>
            </a:avLst>
          </a:prstGeom>
          <a:solidFill>
            <a:srgbClr val="E0F5F7"/>
          </a:solidFill>
          <a:ln w="12700">
            <a:solidFill>
              <a:srgbClr val="B3E8EC"/>
            </a:solidFill>
            <a:prstDash val="solid"/>
          </a:ln>
        </p:spPr>
      </p:sp>
      <p:sp>
        <p:nvSpPr>
          <p:cNvPr id="16" name="Text 14"/>
          <p:cNvSpPr/>
          <p:nvPr/>
        </p:nvSpPr>
        <p:spPr>
          <a:xfrm>
            <a:off x="1572768" y="227228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A.8.5</a:t>
            </a:r>
            <a:endParaRPr lang="en-US" sz="700" dirty="0"/>
          </a:p>
        </p:txBody>
      </p:sp>
      <p:sp>
        <p:nvSpPr>
          <p:cNvPr id="17" name="Shape 15"/>
          <p:cNvSpPr/>
          <p:nvPr/>
        </p:nvSpPr>
        <p:spPr>
          <a:xfrm>
            <a:off x="457200" y="2528316"/>
            <a:ext cx="2788920" cy="1156716"/>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457200" y="2528316"/>
            <a:ext cx="41148" cy="1156716"/>
          </a:xfrm>
          <a:prstGeom prst="rect">
            <a:avLst/>
          </a:prstGeom>
          <a:solidFill>
            <a:srgbClr val="D94F3D"/>
          </a:solidFill>
          <a:ln w="12700">
            <a:solidFill>
              <a:srgbClr val="D94F3D"/>
            </a:solidFill>
            <a:prstDash val="solid"/>
          </a:ln>
        </p:spPr>
      </p:sp>
      <p:sp>
        <p:nvSpPr>
          <p:cNvPr id="19" name="Text 17"/>
          <p:cNvSpPr/>
          <p:nvPr/>
        </p:nvSpPr>
        <p:spPr>
          <a:xfrm>
            <a:off x="548640" y="259232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Zero detection capability means zero response time</a:t>
            </a:r>
            <a:endParaRPr lang="en-US" sz="1000" dirty="0"/>
          </a:p>
        </p:txBody>
      </p:sp>
      <p:sp>
        <p:nvSpPr>
          <p:cNvPr id="20" name="Text 18"/>
          <p:cNvSpPr/>
          <p:nvPr/>
        </p:nvSpPr>
        <p:spPr>
          <a:xfrm>
            <a:off x="548640" y="277520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Without a SIEM, FleetPartners has no ability to detect anomalies, correlate security events, or perform DFIR after a breach. Logs from laptops, servers, and network devices exist in isolation — unmonitored and unretained.</a:t>
            </a:r>
            <a:endParaRPr lang="en-US" sz="850" dirty="0"/>
          </a:p>
        </p:txBody>
      </p:sp>
      <p:sp>
        <p:nvSpPr>
          <p:cNvPr id="21" name="Shape 19"/>
          <p:cNvSpPr/>
          <p:nvPr/>
        </p:nvSpPr>
        <p:spPr>
          <a:xfrm>
            <a:off x="548640" y="3483864"/>
            <a:ext cx="466344" cy="155448"/>
          </a:xfrm>
          <a:prstGeom prst="roundRect">
            <a:avLst>
              <a:gd name="adj" fmla="val 23529"/>
            </a:avLst>
          </a:prstGeom>
          <a:solidFill>
            <a:srgbClr val="E0F5F7"/>
          </a:solidFill>
          <a:ln w="12700">
            <a:solidFill>
              <a:srgbClr val="B3E8EC"/>
            </a:solidFill>
            <a:prstDash val="solid"/>
          </a:ln>
        </p:spPr>
      </p:sp>
      <p:sp>
        <p:nvSpPr>
          <p:cNvPr id="22" name="Text 20"/>
          <p:cNvSpPr/>
          <p:nvPr/>
        </p:nvSpPr>
        <p:spPr>
          <a:xfrm>
            <a:off x="548640"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A.8.15</a:t>
            </a:r>
            <a:endParaRPr lang="en-US" sz="700" dirty="0"/>
          </a:p>
        </p:txBody>
      </p:sp>
      <p:sp>
        <p:nvSpPr>
          <p:cNvPr id="23" name="Shape 21"/>
          <p:cNvSpPr/>
          <p:nvPr/>
        </p:nvSpPr>
        <p:spPr>
          <a:xfrm>
            <a:off x="1060704" y="3483864"/>
            <a:ext cx="466344" cy="155448"/>
          </a:xfrm>
          <a:prstGeom prst="roundRect">
            <a:avLst>
              <a:gd name="adj" fmla="val 23529"/>
            </a:avLst>
          </a:prstGeom>
          <a:solidFill>
            <a:srgbClr val="E0F5F7"/>
          </a:solidFill>
          <a:ln w="12700">
            <a:solidFill>
              <a:srgbClr val="B3E8EC"/>
            </a:solidFill>
            <a:prstDash val="solid"/>
          </a:ln>
        </p:spPr>
      </p:sp>
      <p:sp>
        <p:nvSpPr>
          <p:cNvPr id="24" name="Text 22"/>
          <p:cNvSpPr/>
          <p:nvPr/>
        </p:nvSpPr>
        <p:spPr>
          <a:xfrm>
            <a:off x="1060704"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A.8.16</a:t>
            </a:r>
            <a:endParaRPr lang="en-US" sz="700" dirty="0"/>
          </a:p>
        </p:txBody>
      </p:sp>
      <p:sp>
        <p:nvSpPr>
          <p:cNvPr id="25" name="Shape 23"/>
          <p:cNvSpPr/>
          <p:nvPr/>
        </p:nvSpPr>
        <p:spPr>
          <a:xfrm>
            <a:off x="1572768" y="3483864"/>
            <a:ext cx="466344" cy="155448"/>
          </a:xfrm>
          <a:prstGeom prst="roundRect">
            <a:avLst>
              <a:gd name="adj" fmla="val 23529"/>
            </a:avLst>
          </a:prstGeom>
          <a:solidFill>
            <a:srgbClr val="E0F5F7"/>
          </a:solidFill>
          <a:ln w="12700">
            <a:solidFill>
              <a:srgbClr val="B3E8EC"/>
            </a:solidFill>
            <a:prstDash val="solid"/>
          </a:ln>
        </p:spPr>
      </p:sp>
      <p:sp>
        <p:nvSpPr>
          <p:cNvPr id="26" name="Text 24"/>
          <p:cNvSpPr/>
          <p:nvPr/>
        </p:nvSpPr>
        <p:spPr>
          <a:xfrm>
            <a:off x="1572768"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A.5.25</a:t>
            </a:r>
            <a:endParaRPr lang="en-US" sz="700" dirty="0"/>
          </a:p>
        </p:txBody>
      </p:sp>
      <p:sp>
        <p:nvSpPr>
          <p:cNvPr id="27" name="Shape 25"/>
          <p:cNvSpPr/>
          <p:nvPr/>
        </p:nvSpPr>
        <p:spPr>
          <a:xfrm>
            <a:off x="457200" y="3739896"/>
            <a:ext cx="2788920" cy="1156716"/>
          </a:xfrm>
          <a:prstGeom prst="rect">
            <a:avLst/>
          </a:prstGeom>
          <a:solidFill>
            <a:srgbClr val="FEF9F0"/>
          </a:solidFill>
          <a:ln w="12700">
            <a:solidFill>
              <a:srgbClr val="F5DFA0"/>
            </a:solidFill>
            <a:prstDash val="solid"/>
          </a:ln>
          <a:effectLst>
            <a:outerShdw sx="100000" sy="100000" kx="0" ky="0" algn="bl" rotWithShape="0" blurRad="63500" dist="25400" dir="8100000">
              <a:srgbClr val="000000">
                <a:alpha val="10000"/>
              </a:srgbClr>
            </a:outerShdw>
          </a:effectLst>
        </p:spPr>
      </p:sp>
      <p:sp>
        <p:nvSpPr>
          <p:cNvPr id="28" name="Shape 26"/>
          <p:cNvSpPr/>
          <p:nvPr/>
        </p:nvSpPr>
        <p:spPr>
          <a:xfrm>
            <a:off x="457200" y="3739896"/>
            <a:ext cx="41148" cy="1156716"/>
          </a:xfrm>
          <a:prstGeom prst="rect">
            <a:avLst/>
          </a:prstGeom>
          <a:solidFill>
            <a:srgbClr val="E8A01E"/>
          </a:solidFill>
          <a:ln w="12700">
            <a:solidFill>
              <a:srgbClr val="E8A01E"/>
            </a:solidFill>
            <a:prstDash val="solid"/>
          </a:ln>
        </p:spPr>
      </p:sp>
      <p:sp>
        <p:nvSpPr>
          <p:cNvPr id="29" name="Text 27"/>
          <p:cNvSpPr/>
          <p:nvPr/>
        </p:nvSpPr>
        <p:spPr>
          <a:xfrm>
            <a:off x="548640" y="380390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Human error remains the #1 breach vector</a:t>
            </a:r>
            <a:endParaRPr lang="en-US" sz="1000" dirty="0"/>
          </a:p>
        </p:txBody>
      </p:sp>
      <p:sp>
        <p:nvSpPr>
          <p:cNvPr id="30" name="Text 28"/>
          <p:cNvSpPr/>
          <p:nvPr/>
        </p:nvSpPr>
        <p:spPr>
          <a:xfrm>
            <a:off x="548640" y="398678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Ad-hoc security awareness training leaves staff unprepared to recognise phishing, social engineering, and data handling violations. A structured program significantly reduces susceptibility rates.</a:t>
            </a:r>
            <a:endParaRPr lang="en-US" sz="850" dirty="0"/>
          </a:p>
        </p:txBody>
      </p:sp>
      <p:sp>
        <p:nvSpPr>
          <p:cNvPr id="31" name="Shape 29"/>
          <p:cNvSpPr/>
          <p:nvPr/>
        </p:nvSpPr>
        <p:spPr>
          <a:xfrm>
            <a:off x="548640" y="4695444"/>
            <a:ext cx="406908" cy="155448"/>
          </a:xfrm>
          <a:prstGeom prst="roundRect">
            <a:avLst>
              <a:gd name="adj" fmla="val 23529"/>
            </a:avLst>
          </a:prstGeom>
          <a:solidFill>
            <a:srgbClr val="E0F5F7"/>
          </a:solidFill>
          <a:ln w="12700">
            <a:solidFill>
              <a:srgbClr val="B3E8EC"/>
            </a:solidFill>
            <a:prstDash val="solid"/>
          </a:ln>
        </p:spPr>
      </p:sp>
      <p:sp>
        <p:nvSpPr>
          <p:cNvPr id="32" name="Text 30"/>
          <p:cNvSpPr/>
          <p:nvPr/>
        </p:nvSpPr>
        <p:spPr>
          <a:xfrm>
            <a:off x="548640" y="469544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A.6.3</a:t>
            </a:r>
            <a:endParaRPr lang="en-US" sz="700" dirty="0"/>
          </a:p>
        </p:txBody>
      </p:sp>
      <p:sp>
        <p:nvSpPr>
          <p:cNvPr id="33" name="Shape 31"/>
          <p:cNvSpPr/>
          <p:nvPr/>
        </p:nvSpPr>
        <p:spPr>
          <a:xfrm>
            <a:off x="1001268" y="4695444"/>
            <a:ext cx="406908" cy="155448"/>
          </a:xfrm>
          <a:prstGeom prst="roundRect">
            <a:avLst>
              <a:gd name="adj" fmla="val 23529"/>
            </a:avLst>
          </a:prstGeom>
          <a:solidFill>
            <a:srgbClr val="E0F5F7"/>
          </a:solidFill>
          <a:ln w="12700">
            <a:solidFill>
              <a:srgbClr val="B3E8EC"/>
            </a:solidFill>
            <a:prstDash val="solid"/>
          </a:ln>
        </p:spPr>
      </p:sp>
      <p:sp>
        <p:nvSpPr>
          <p:cNvPr id="34" name="Text 32"/>
          <p:cNvSpPr/>
          <p:nvPr/>
        </p:nvSpPr>
        <p:spPr>
          <a:xfrm>
            <a:off x="1001268" y="469544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A.6.8</a:t>
            </a:r>
            <a:endParaRPr lang="en-US" sz="700" dirty="0"/>
          </a:p>
        </p:txBody>
      </p:sp>
      <p:sp>
        <p:nvSpPr>
          <p:cNvPr id="35" name="Shape 33"/>
          <p:cNvSpPr/>
          <p:nvPr/>
        </p:nvSpPr>
        <p:spPr>
          <a:xfrm>
            <a:off x="3355848" y="1243584"/>
            <a:ext cx="822960" cy="20117"/>
          </a:xfrm>
          <a:prstGeom prst="rect">
            <a:avLst/>
          </a:prstGeom>
          <a:solidFill>
            <a:srgbClr val="3A7BD5"/>
          </a:solidFill>
          <a:ln w="12700">
            <a:solidFill>
              <a:srgbClr val="3A7BD5"/>
            </a:solidFill>
            <a:prstDash val="solid"/>
          </a:ln>
        </p:spPr>
      </p:sp>
      <p:sp>
        <p:nvSpPr>
          <p:cNvPr id="36" name="Text 34"/>
          <p:cNvSpPr/>
          <p:nvPr/>
        </p:nvSpPr>
        <p:spPr>
          <a:xfrm>
            <a:off x="3355848" y="1115568"/>
            <a:ext cx="1828800" cy="146304"/>
          </a:xfrm>
          <a:prstGeom prst="rect">
            <a:avLst/>
          </a:prstGeom>
          <a:noFill/>
          <a:ln/>
        </p:spPr>
        <p:txBody>
          <a:bodyPr wrap="square" lIns="0" tIns="0" rIns="0" bIns="0" rtlCol="0" anchor="ctr"/>
          <a:lstStyle/>
          <a:p>
            <a:pPr indent="0" marL="0">
              <a:buNone/>
            </a:pPr>
            <a:r>
              <a:rPr lang="en-US" sz="750" b="1" spc="250" kern="0" dirty="0">
                <a:solidFill>
                  <a:srgbClr val="3A7BD5"/>
                </a:solidFill>
                <a:latin typeface="Calibri" pitchFamily="34" charset="0"/>
                <a:ea typeface="Calibri" pitchFamily="34" charset="-122"/>
                <a:cs typeface="Calibri" pitchFamily="34" charset="-120"/>
              </a:rPr>
              <a:t>HOW WE FIX IT</a:t>
            </a:r>
            <a:endParaRPr lang="en-US" sz="750" dirty="0"/>
          </a:p>
        </p:txBody>
      </p:sp>
      <p:sp>
        <p:nvSpPr>
          <p:cNvPr id="37" name="Shape 35"/>
          <p:cNvSpPr/>
          <p:nvPr/>
        </p:nvSpPr>
        <p:spPr>
          <a:xfrm>
            <a:off x="3355848" y="1316736"/>
            <a:ext cx="3611880" cy="2656332"/>
          </a:xfrm>
          <a:prstGeom prst="rect">
            <a:avLst/>
          </a:prstGeom>
          <a:solidFill>
            <a:srgbClr val="EEF4FF"/>
          </a:solidFill>
          <a:ln w="12700">
            <a:solidFill>
              <a:srgbClr val="3A7BD5"/>
            </a:solidFill>
            <a:prstDash val="solid"/>
          </a:ln>
        </p:spPr>
      </p:sp>
      <p:sp>
        <p:nvSpPr>
          <p:cNvPr id="38" name="Shape 36"/>
          <p:cNvSpPr/>
          <p:nvPr/>
        </p:nvSpPr>
        <p:spPr>
          <a:xfrm>
            <a:off x="3355848" y="1316736"/>
            <a:ext cx="41148" cy="2656332"/>
          </a:xfrm>
          <a:prstGeom prst="rect">
            <a:avLst/>
          </a:prstGeom>
          <a:solidFill>
            <a:srgbClr val="3A7BD5"/>
          </a:solidFill>
          <a:ln w="12700">
            <a:solidFill>
              <a:srgbClr val="3A7BD5"/>
            </a:solidFill>
            <a:prstDash val="solid"/>
          </a:ln>
        </p:spPr>
      </p:sp>
      <p:sp>
        <p:nvSpPr>
          <p:cNvPr id="39" name="Text 37"/>
          <p:cNvSpPr/>
          <p:nvPr/>
        </p:nvSpPr>
        <p:spPr>
          <a:xfrm>
            <a:off x="3447288" y="1426464"/>
            <a:ext cx="3429000" cy="2308860"/>
          </a:xfrm>
          <a:prstGeom prst="rect">
            <a:avLst/>
          </a:prstGeom>
          <a:noFill/>
          <a:ln/>
        </p:spPr>
        <p:txBody>
          <a:bodyPr wrap="square" lIns="0" tIns="0" rIns="0" bIns="0" rtlCol="0" anchor="t"/>
          <a:lstStyle/>
          <a:p>
            <a:pPr>
              <a:spcAft>
                <a:spcPts val="300"/>
              </a:spcAft>
            </a:pPr>
            <a:r>
              <a:rPr lang="en-US" sz="900" dirty="0">
                <a:solidFill>
                  <a:srgbClr val="1A2640"/>
                </a:solidFill>
                <a:latin typeface="Calibri" pitchFamily="34" charset="0"/>
                <a:ea typeface="Calibri" pitchFamily="34" charset="-122"/>
                <a:cs typeface="Calibri" pitchFamily="34" charset="-120"/>
              </a:rPr>
              <a:t>AD-join Linux servers — centralise identity, enable governance, eliminate unmanaged local accounts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MFA consolidation — enforce MFA across all systems, cloud services, VPN, and administrative access on a single platform</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Deploy SIEM (e.g. Microsoft Sentinel / Splunk) — centralise log ingestion, define retention policy, configure alerting and JIRA integration</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Standard SOE build — enforce uniform software via MDM/SCCM with whitelist; revise Wi-Fi to 802.1X RADIUS authentication</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Security awareness program — role-based modules, monthly phishing simulations, mandatory annual refresher training</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Revive IT Risk Register workflow — JIRA triage pipeline, exception management, Risk Committee reporting cadence</a:t>
            </a:r>
            <a:endParaRPr lang="en-US" sz="900" dirty="0"/>
          </a:p>
        </p:txBody>
      </p:sp>
      <p:sp>
        <p:nvSpPr>
          <p:cNvPr id="40" name="Shape 38"/>
          <p:cNvSpPr/>
          <p:nvPr/>
        </p:nvSpPr>
        <p:spPr>
          <a:xfrm>
            <a:off x="3355848" y="4046220"/>
            <a:ext cx="3611880" cy="699516"/>
          </a:xfrm>
          <a:prstGeom prst="rect">
            <a:avLst/>
          </a:prstGeom>
          <a:solidFill>
            <a:srgbClr val="F6F7FA"/>
          </a:solidFill>
          <a:ln w="12700">
            <a:solidFill>
              <a:srgbClr val="E8EBF0"/>
            </a:solidFill>
            <a:prstDash val="solid"/>
          </a:ln>
        </p:spPr>
      </p:sp>
      <p:sp>
        <p:nvSpPr>
          <p:cNvPr id="41" name="Text 39"/>
          <p:cNvSpPr/>
          <p:nvPr/>
        </p:nvSpPr>
        <p:spPr>
          <a:xfrm>
            <a:off x="3465576" y="4110228"/>
            <a:ext cx="3474720" cy="137160"/>
          </a:xfrm>
          <a:prstGeom prst="rect">
            <a:avLst/>
          </a:prstGeom>
          <a:noFill/>
          <a:ln/>
        </p:spPr>
        <p:txBody>
          <a:bodyPr wrap="square" lIns="0" tIns="0" rIns="0" bIns="0" rtlCol="0" anchor="ctr"/>
          <a:lstStyle/>
          <a:p>
            <a:pPr indent="0" marL="0">
              <a:buNone/>
            </a:pPr>
            <a:r>
              <a:rPr lang="en-US" sz="700" b="1" spc="200" kern="0" dirty="0">
                <a:solidFill>
                  <a:srgbClr val="6B7A96"/>
                </a:solidFill>
                <a:latin typeface="Calibri" pitchFamily="34" charset="0"/>
                <a:ea typeface="Calibri" pitchFamily="34" charset="-122"/>
                <a:cs typeface="Calibri" pitchFamily="34" charset="-120"/>
              </a:rPr>
              <a:t>DELIVERABLES</a:t>
            </a:r>
            <a:endParaRPr lang="en-US" sz="700" dirty="0"/>
          </a:p>
        </p:txBody>
      </p:sp>
      <p:sp>
        <p:nvSpPr>
          <p:cNvPr id="42" name="Text 40"/>
          <p:cNvSpPr/>
          <p:nvPr/>
        </p:nvSpPr>
        <p:spPr>
          <a:xfrm>
            <a:off x="3465576"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All Linux servers AD-joined</a:t>
            </a:r>
            <a:endParaRPr lang="en-US" sz="850" dirty="0"/>
          </a:p>
        </p:txBody>
      </p:sp>
      <p:sp>
        <p:nvSpPr>
          <p:cNvPr id="43" name="Text 41"/>
          <p:cNvSpPr/>
          <p:nvPr/>
        </p:nvSpPr>
        <p:spPr>
          <a:xfrm>
            <a:off x="5216652"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MFA enforced enterprise-wide</a:t>
            </a:r>
            <a:endParaRPr lang="en-US" sz="850" dirty="0"/>
          </a:p>
        </p:txBody>
      </p:sp>
      <p:sp>
        <p:nvSpPr>
          <p:cNvPr id="44" name="Text 42"/>
          <p:cNvSpPr/>
          <p:nvPr/>
        </p:nvSpPr>
        <p:spPr>
          <a:xfrm>
            <a:off x="3465576"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SIEM live with alerting</a:t>
            </a:r>
            <a:endParaRPr lang="en-US" sz="850" dirty="0"/>
          </a:p>
        </p:txBody>
      </p:sp>
      <p:sp>
        <p:nvSpPr>
          <p:cNvPr id="45" name="Text 43"/>
          <p:cNvSpPr/>
          <p:nvPr/>
        </p:nvSpPr>
        <p:spPr>
          <a:xfrm>
            <a:off x="5216652"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SOE deployed to endpoints</a:t>
            </a:r>
            <a:endParaRPr lang="en-US" sz="850" dirty="0"/>
          </a:p>
        </p:txBody>
      </p:sp>
      <p:sp>
        <p:nvSpPr>
          <p:cNvPr id="46" name="Text 44"/>
          <p:cNvSpPr/>
          <p:nvPr/>
        </p:nvSpPr>
        <p:spPr>
          <a:xfrm>
            <a:off x="3465576"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Awareness training launched</a:t>
            </a:r>
            <a:endParaRPr lang="en-US" sz="850" dirty="0"/>
          </a:p>
        </p:txBody>
      </p:sp>
      <p:sp>
        <p:nvSpPr>
          <p:cNvPr id="47" name="Text 45"/>
          <p:cNvSpPr/>
          <p:nvPr/>
        </p:nvSpPr>
        <p:spPr>
          <a:xfrm>
            <a:off x="5216652"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Risk Register active</a:t>
            </a:r>
            <a:endParaRPr lang="en-US" sz="850" dirty="0"/>
          </a:p>
        </p:txBody>
      </p:sp>
      <p:sp>
        <p:nvSpPr>
          <p:cNvPr id="48" name="Shape 46"/>
          <p:cNvSpPr/>
          <p:nvPr/>
        </p:nvSpPr>
        <p:spPr>
          <a:xfrm>
            <a:off x="7077456" y="1115568"/>
            <a:ext cx="1737360" cy="3863340"/>
          </a:xfrm>
          <a:prstGeom prst="rect">
            <a:avLst/>
          </a:prstGeom>
          <a:solidFill>
            <a:srgbClr val="F6F7FA"/>
          </a:solidFill>
          <a:ln w="12700">
            <a:solidFill>
              <a:srgbClr val="E8EBF0"/>
            </a:solidFill>
            <a:prstDash val="solid"/>
          </a:ln>
        </p:spPr>
      </p:sp>
      <p:sp>
        <p:nvSpPr>
          <p:cNvPr id="49" name="Shape 47"/>
          <p:cNvSpPr/>
          <p:nvPr/>
        </p:nvSpPr>
        <p:spPr>
          <a:xfrm>
            <a:off x="7168896" y="1298448"/>
            <a:ext cx="822960" cy="20117"/>
          </a:xfrm>
          <a:prstGeom prst="rect">
            <a:avLst/>
          </a:prstGeom>
          <a:solidFill>
            <a:srgbClr val="007D8A"/>
          </a:solidFill>
          <a:ln w="12700">
            <a:solidFill>
              <a:srgbClr val="007D8A"/>
            </a:solidFill>
            <a:prstDash val="solid"/>
          </a:ln>
        </p:spPr>
      </p:sp>
      <p:sp>
        <p:nvSpPr>
          <p:cNvPr id="50" name="Text 48"/>
          <p:cNvSpPr/>
          <p:nvPr/>
        </p:nvSpPr>
        <p:spPr>
          <a:xfrm>
            <a:off x="7168896" y="1170432"/>
            <a:ext cx="1828800" cy="146304"/>
          </a:xfrm>
          <a:prstGeom prst="rect">
            <a:avLst/>
          </a:prstGeom>
          <a:noFill/>
          <a:ln/>
        </p:spPr>
        <p:txBody>
          <a:bodyPr wrap="square" lIns="0" tIns="0" rIns="0" bIns="0" rtlCol="0" anchor="ctr"/>
          <a:lstStyle/>
          <a:p>
            <a:pPr indent="0" marL="0">
              <a:buNone/>
            </a:pPr>
            <a:r>
              <a:rPr lang="en-US" sz="750" b="1" spc="250" kern="0" dirty="0">
                <a:solidFill>
                  <a:srgbClr val="007D8A"/>
                </a:solidFill>
                <a:latin typeface="Calibri" pitchFamily="34" charset="0"/>
                <a:ea typeface="Calibri" pitchFamily="34" charset="-122"/>
                <a:cs typeface="Calibri" pitchFamily="34" charset="-120"/>
              </a:rPr>
              <a:t>ISO CONTROLS</a:t>
            </a:r>
            <a:endParaRPr lang="en-US" sz="750" dirty="0"/>
          </a:p>
        </p:txBody>
      </p:sp>
      <p:sp>
        <p:nvSpPr>
          <p:cNvPr id="51" name="Shape 49"/>
          <p:cNvSpPr/>
          <p:nvPr/>
        </p:nvSpPr>
        <p:spPr>
          <a:xfrm>
            <a:off x="7168896" y="1389888"/>
            <a:ext cx="501091" cy="164592"/>
          </a:xfrm>
          <a:prstGeom prst="roundRect">
            <a:avLst>
              <a:gd name="adj" fmla="val 22222"/>
            </a:avLst>
          </a:prstGeom>
          <a:solidFill>
            <a:srgbClr val="E0F5F7"/>
          </a:solidFill>
          <a:ln w="12700">
            <a:solidFill>
              <a:srgbClr val="B3E8EC"/>
            </a:solidFill>
            <a:prstDash val="solid"/>
          </a:ln>
        </p:spPr>
      </p:sp>
      <p:sp>
        <p:nvSpPr>
          <p:cNvPr id="52" name="Text 50"/>
          <p:cNvSpPr/>
          <p:nvPr/>
        </p:nvSpPr>
        <p:spPr>
          <a:xfrm>
            <a:off x="7168896" y="1389888"/>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A.5.15</a:t>
            </a:r>
            <a:endParaRPr lang="en-US" sz="750" dirty="0"/>
          </a:p>
        </p:txBody>
      </p:sp>
      <p:sp>
        <p:nvSpPr>
          <p:cNvPr id="53" name="Shape 51"/>
          <p:cNvSpPr/>
          <p:nvPr/>
        </p:nvSpPr>
        <p:spPr>
          <a:xfrm>
            <a:off x="7715707" y="1389888"/>
            <a:ext cx="501091" cy="164592"/>
          </a:xfrm>
          <a:prstGeom prst="roundRect">
            <a:avLst>
              <a:gd name="adj" fmla="val 22222"/>
            </a:avLst>
          </a:prstGeom>
          <a:solidFill>
            <a:srgbClr val="E0F5F7"/>
          </a:solidFill>
          <a:ln w="12700">
            <a:solidFill>
              <a:srgbClr val="B3E8EC"/>
            </a:solidFill>
            <a:prstDash val="solid"/>
          </a:ln>
        </p:spPr>
      </p:sp>
      <p:sp>
        <p:nvSpPr>
          <p:cNvPr id="54" name="Text 52"/>
          <p:cNvSpPr/>
          <p:nvPr/>
        </p:nvSpPr>
        <p:spPr>
          <a:xfrm>
            <a:off x="7715707" y="1389888"/>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A.5.16</a:t>
            </a:r>
            <a:endParaRPr lang="en-US" sz="750" dirty="0"/>
          </a:p>
        </p:txBody>
      </p:sp>
      <p:sp>
        <p:nvSpPr>
          <p:cNvPr id="55" name="Shape 53"/>
          <p:cNvSpPr/>
          <p:nvPr/>
        </p:nvSpPr>
        <p:spPr>
          <a:xfrm>
            <a:off x="8262518" y="1389888"/>
            <a:ext cx="501091" cy="164592"/>
          </a:xfrm>
          <a:prstGeom prst="roundRect">
            <a:avLst>
              <a:gd name="adj" fmla="val 22222"/>
            </a:avLst>
          </a:prstGeom>
          <a:solidFill>
            <a:srgbClr val="E0F5F7"/>
          </a:solidFill>
          <a:ln w="12700">
            <a:solidFill>
              <a:srgbClr val="B3E8EC"/>
            </a:solidFill>
            <a:prstDash val="solid"/>
          </a:ln>
        </p:spPr>
      </p:sp>
      <p:sp>
        <p:nvSpPr>
          <p:cNvPr id="56" name="Text 54"/>
          <p:cNvSpPr/>
          <p:nvPr/>
        </p:nvSpPr>
        <p:spPr>
          <a:xfrm>
            <a:off x="8262518" y="1389888"/>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A.5.17</a:t>
            </a:r>
            <a:endParaRPr lang="en-US" sz="750" dirty="0"/>
          </a:p>
        </p:txBody>
      </p:sp>
      <p:sp>
        <p:nvSpPr>
          <p:cNvPr id="57" name="Shape 55"/>
          <p:cNvSpPr/>
          <p:nvPr/>
        </p:nvSpPr>
        <p:spPr>
          <a:xfrm>
            <a:off x="7168896" y="1591056"/>
            <a:ext cx="438912" cy="164592"/>
          </a:xfrm>
          <a:prstGeom prst="roundRect">
            <a:avLst>
              <a:gd name="adj" fmla="val 22222"/>
            </a:avLst>
          </a:prstGeom>
          <a:solidFill>
            <a:srgbClr val="E0F5F7"/>
          </a:solidFill>
          <a:ln w="12700">
            <a:solidFill>
              <a:srgbClr val="B3E8EC"/>
            </a:solidFill>
            <a:prstDash val="solid"/>
          </a:ln>
        </p:spPr>
      </p:sp>
      <p:sp>
        <p:nvSpPr>
          <p:cNvPr id="58" name="Text 56"/>
          <p:cNvSpPr/>
          <p:nvPr/>
        </p:nvSpPr>
        <p:spPr>
          <a:xfrm>
            <a:off x="7168896"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A.6.3</a:t>
            </a:r>
            <a:endParaRPr lang="en-US" sz="750" dirty="0"/>
          </a:p>
        </p:txBody>
      </p:sp>
      <p:sp>
        <p:nvSpPr>
          <p:cNvPr id="59" name="Shape 57"/>
          <p:cNvSpPr/>
          <p:nvPr/>
        </p:nvSpPr>
        <p:spPr>
          <a:xfrm>
            <a:off x="7653528" y="1591056"/>
            <a:ext cx="438912" cy="164592"/>
          </a:xfrm>
          <a:prstGeom prst="roundRect">
            <a:avLst>
              <a:gd name="adj" fmla="val 22222"/>
            </a:avLst>
          </a:prstGeom>
          <a:solidFill>
            <a:srgbClr val="E0F5F7"/>
          </a:solidFill>
          <a:ln w="12700">
            <a:solidFill>
              <a:srgbClr val="B3E8EC"/>
            </a:solidFill>
            <a:prstDash val="solid"/>
          </a:ln>
        </p:spPr>
      </p:sp>
      <p:sp>
        <p:nvSpPr>
          <p:cNvPr id="60" name="Text 58"/>
          <p:cNvSpPr/>
          <p:nvPr/>
        </p:nvSpPr>
        <p:spPr>
          <a:xfrm>
            <a:off x="7653528"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A.6.8</a:t>
            </a:r>
            <a:endParaRPr lang="en-US" sz="750" dirty="0"/>
          </a:p>
        </p:txBody>
      </p:sp>
      <p:sp>
        <p:nvSpPr>
          <p:cNvPr id="61" name="Shape 59"/>
          <p:cNvSpPr/>
          <p:nvPr/>
        </p:nvSpPr>
        <p:spPr>
          <a:xfrm>
            <a:off x="8138160" y="1591056"/>
            <a:ext cx="438912" cy="164592"/>
          </a:xfrm>
          <a:prstGeom prst="roundRect">
            <a:avLst>
              <a:gd name="adj" fmla="val 22222"/>
            </a:avLst>
          </a:prstGeom>
          <a:solidFill>
            <a:srgbClr val="E0F5F7"/>
          </a:solidFill>
          <a:ln w="12700">
            <a:solidFill>
              <a:srgbClr val="B3E8EC"/>
            </a:solidFill>
            <a:prstDash val="solid"/>
          </a:ln>
        </p:spPr>
      </p:sp>
      <p:sp>
        <p:nvSpPr>
          <p:cNvPr id="62" name="Text 60"/>
          <p:cNvSpPr/>
          <p:nvPr/>
        </p:nvSpPr>
        <p:spPr>
          <a:xfrm>
            <a:off x="8138160"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a:t>
            </a:r>
            <a:endParaRPr lang="en-US" sz="750" dirty="0"/>
          </a:p>
        </p:txBody>
      </p:sp>
      <p:sp>
        <p:nvSpPr>
          <p:cNvPr id="63" name="Shape 61"/>
          <p:cNvSpPr/>
          <p:nvPr/>
        </p:nvSpPr>
        <p:spPr>
          <a:xfrm>
            <a:off x="7168896" y="1792224"/>
            <a:ext cx="438912" cy="164592"/>
          </a:xfrm>
          <a:prstGeom prst="roundRect">
            <a:avLst>
              <a:gd name="adj" fmla="val 22222"/>
            </a:avLst>
          </a:prstGeom>
          <a:solidFill>
            <a:srgbClr val="E0F5F7"/>
          </a:solidFill>
          <a:ln w="12700">
            <a:solidFill>
              <a:srgbClr val="B3E8EC"/>
            </a:solidFill>
            <a:prstDash val="solid"/>
          </a:ln>
        </p:spPr>
      </p:sp>
      <p:sp>
        <p:nvSpPr>
          <p:cNvPr id="64" name="Text 62"/>
          <p:cNvSpPr/>
          <p:nvPr/>
        </p:nvSpPr>
        <p:spPr>
          <a:xfrm>
            <a:off x="7168896" y="1792224"/>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A.8.5</a:t>
            </a:r>
            <a:endParaRPr lang="en-US" sz="750" dirty="0"/>
          </a:p>
        </p:txBody>
      </p:sp>
      <p:sp>
        <p:nvSpPr>
          <p:cNvPr id="65" name="Shape 63"/>
          <p:cNvSpPr/>
          <p:nvPr/>
        </p:nvSpPr>
        <p:spPr>
          <a:xfrm>
            <a:off x="7653528" y="1792224"/>
            <a:ext cx="501091" cy="164592"/>
          </a:xfrm>
          <a:prstGeom prst="roundRect">
            <a:avLst>
              <a:gd name="adj" fmla="val 22222"/>
            </a:avLst>
          </a:prstGeom>
          <a:solidFill>
            <a:srgbClr val="E0F5F7"/>
          </a:solidFill>
          <a:ln w="12700">
            <a:solidFill>
              <a:srgbClr val="B3E8EC"/>
            </a:solidFill>
            <a:prstDash val="solid"/>
          </a:ln>
        </p:spPr>
      </p:sp>
      <p:sp>
        <p:nvSpPr>
          <p:cNvPr id="66" name="Text 64"/>
          <p:cNvSpPr/>
          <p:nvPr/>
        </p:nvSpPr>
        <p:spPr>
          <a:xfrm>
            <a:off x="7653528"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A.8.15</a:t>
            </a:r>
            <a:endParaRPr lang="en-US" sz="750" dirty="0"/>
          </a:p>
        </p:txBody>
      </p:sp>
      <p:sp>
        <p:nvSpPr>
          <p:cNvPr id="67" name="Shape 65"/>
          <p:cNvSpPr/>
          <p:nvPr/>
        </p:nvSpPr>
        <p:spPr>
          <a:xfrm>
            <a:off x="8200339" y="1792224"/>
            <a:ext cx="501091" cy="164592"/>
          </a:xfrm>
          <a:prstGeom prst="roundRect">
            <a:avLst>
              <a:gd name="adj" fmla="val 22222"/>
            </a:avLst>
          </a:prstGeom>
          <a:solidFill>
            <a:srgbClr val="E0F5F7"/>
          </a:solidFill>
          <a:ln w="12700">
            <a:solidFill>
              <a:srgbClr val="B3E8EC"/>
            </a:solidFill>
            <a:prstDash val="solid"/>
          </a:ln>
        </p:spPr>
      </p:sp>
      <p:sp>
        <p:nvSpPr>
          <p:cNvPr id="68" name="Text 66"/>
          <p:cNvSpPr/>
          <p:nvPr/>
        </p:nvSpPr>
        <p:spPr>
          <a:xfrm>
            <a:off x="8200339"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A.8.16</a:t>
            </a:r>
            <a:endParaRPr lang="en-US" sz="750" dirty="0"/>
          </a:p>
        </p:txBody>
      </p:sp>
      <p:sp>
        <p:nvSpPr>
          <p:cNvPr id="69" name="Shape 67"/>
          <p:cNvSpPr/>
          <p:nvPr/>
        </p:nvSpPr>
        <p:spPr>
          <a:xfrm>
            <a:off x="7168896" y="1993392"/>
            <a:ext cx="501091" cy="164592"/>
          </a:xfrm>
          <a:prstGeom prst="roundRect">
            <a:avLst>
              <a:gd name="adj" fmla="val 22222"/>
            </a:avLst>
          </a:prstGeom>
          <a:solidFill>
            <a:srgbClr val="E0F5F7"/>
          </a:solidFill>
          <a:ln w="12700">
            <a:solidFill>
              <a:srgbClr val="B3E8EC"/>
            </a:solidFill>
            <a:prstDash val="solid"/>
          </a:ln>
        </p:spPr>
      </p:sp>
      <p:sp>
        <p:nvSpPr>
          <p:cNvPr id="70" name="Text 68"/>
          <p:cNvSpPr/>
          <p:nvPr/>
        </p:nvSpPr>
        <p:spPr>
          <a:xfrm>
            <a:off x="7168896"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A.8.17</a:t>
            </a:r>
            <a:endParaRPr lang="en-US" sz="750" dirty="0"/>
          </a:p>
        </p:txBody>
      </p:sp>
      <p:sp>
        <p:nvSpPr>
          <p:cNvPr id="71" name="Shape 69"/>
          <p:cNvSpPr/>
          <p:nvPr/>
        </p:nvSpPr>
        <p:spPr>
          <a:xfrm>
            <a:off x="7715707" y="1993392"/>
            <a:ext cx="501091" cy="164592"/>
          </a:xfrm>
          <a:prstGeom prst="roundRect">
            <a:avLst>
              <a:gd name="adj" fmla="val 22222"/>
            </a:avLst>
          </a:prstGeom>
          <a:solidFill>
            <a:srgbClr val="E0F5F7"/>
          </a:solidFill>
          <a:ln w="12700">
            <a:solidFill>
              <a:srgbClr val="B3E8EC"/>
            </a:solidFill>
            <a:prstDash val="solid"/>
          </a:ln>
        </p:spPr>
      </p:sp>
      <p:sp>
        <p:nvSpPr>
          <p:cNvPr id="72" name="Text 70"/>
          <p:cNvSpPr/>
          <p:nvPr/>
        </p:nvSpPr>
        <p:spPr>
          <a:xfrm>
            <a:off x="7715707"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A.8.20</a:t>
            </a:r>
            <a:endParaRPr lang="en-US" sz="750" dirty="0"/>
          </a:p>
        </p:txBody>
      </p:sp>
      <p:sp>
        <p:nvSpPr>
          <p:cNvPr id="73" name="Shape 71"/>
          <p:cNvSpPr/>
          <p:nvPr/>
        </p:nvSpPr>
        <p:spPr>
          <a:xfrm>
            <a:off x="8262518" y="1993392"/>
            <a:ext cx="501091" cy="164592"/>
          </a:xfrm>
          <a:prstGeom prst="roundRect">
            <a:avLst>
              <a:gd name="adj" fmla="val 22222"/>
            </a:avLst>
          </a:prstGeom>
          <a:solidFill>
            <a:srgbClr val="E0F5F7"/>
          </a:solidFill>
          <a:ln w="12700">
            <a:solidFill>
              <a:srgbClr val="B3E8EC"/>
            </a:solidFill>
            <a:prstDash val="solid"/>
          </a:ln>
        </p:spPr>
      </p:sp>
      <p:sp>
        <p:nvSpPr>
          <p:cNvPr id="74" name="Text 72"/>
          <p:cNvSpPr/>
          <p:nvPr/>
        </p:nvSpPr>
        <p:spPr>
          <a:xfrm>
            <a:off x="8262518"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A.8.21</a:t>
            </a:r>
            <a:endParaRPr lang="en-US" sz="750" dirty="0"/>
          </a:p>
        </p:txBody>
      </p:sp>
      <p:sp>
        <p:nvSpPr>
          <p:cNvPr id="75" name="Shape 73"/>
          <p:cNvSpPr/>
          <p:nvPr/>
        </p:nvSpPr>
        <p:spPr>
          <a:xfrm>
            <a:off x="7168896" y="2194560"/>
            <a:ext cx="501091" cy="164592"/>
          </a:xfrm>
          <a:prstGeom prst="roundRect">
            <a:avLst>
              <a:gd name="adj" fmla="val 22222"/>
            </a:avLst>
          </a:prstGeom>
          <a:solidFill>
            <a:srgbClr val="E0F5F7"/>
          </a:solidFill>
          <a:ln w="12700">
            <a:solidFill>
              <a:srgbClr val="B3E8EC"/>
            </a:solidFill>
            <a:prstDash val="solid"/>
          </a:ln>
        </p:spPr>
      </p:sp>
      <p:sp>
        <p:nvSpPr>
          <p:cNvPr id="76" name="Text 74"/>
          <p:cNvSpPr/>
          <p:nvPr/>
        </p:nvSpPr>
        <p:spPr>
          <a:xfrm>
            <a:off x="7168896" y="2194560"/>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A.8.22</a:t>
            </a:r>
            <a:endParaRPr lang="en-US" sz="750" dirty="0"/>
          </a:p>
        </p:txBody>
      </p:sp>
      <p:sp>
        <p:nvSpPr>
          <p:cNvPr id="77" name="Shape 75"/>
          <p:cNvSpPr/>
          <p:nvPr/>
        </p:nvSpPr>
        <p:spPr>
          <a:xfrm>
            <a:off x="0" y="5093208"/>
            <a:ext cx="9144000" cy="50292"/>
          </a:xfrm>
          <a:prstGeom prst="rect">
            <a:avLst/>
          </a:prstGeom>
          <a:solidFill>
            <a:srgbClr val="3A7BD5"/>
          </a:solidFill>
          <a:ln w="12700">
            <a:solidFill>
              <a:srgbClr val="3A7BD5"/>
            </a:solidFill>
            <a:prstDash val="solid"/>
          </a:ln>
        </p:spPr>
      </p:sp>
      <p:sp>
        <p:nvSpPr>
          <p:cNvPr id="78" name="Shape 76"/>
          <p:cNvSpPr/>
          <p:nvPr/>
        </p:nvSpPr>
        <p:spPr>
          <a:xfrm>
            <a:off x="8503920" y="4549140"/>
            <a:ext cx="384048" cy="384048"/>
          </a:xfrm>
          <a:prstGeom prst="ellipse">
            <a:avLst/>
          </a:prstGeom>
          <a:solidFill>
            <a:srgbClr val="E8EBF0"/>
          </a:solidFill>
          <a:ln w="12700">
            <a:solidFill>
              <a:srgbClr val="B0B8C8"/>
            </a:solidFill>
            <a:prstDash val="solid"/>
          </a:ln>
        </p:spPr>
      </p:sp>
      <p:sp>
        <p:nvSpPr>
          <p:cNvPr id="79" name="Text 77"/>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80" name="Text 78"/>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1040"/>
          </a:solidFill>
          <a:ln w="12700">
            <a:solidFill>
              <a:srgbClr val="1A1040"/>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BDB0FF"/>
                </a:solidFill>
                <a:latin typeface="Calibri" pitchFamily="34" charset="0"/>
                <a:ea typeface="Calibri" pitchFamily="34" charset="-122"/>
                <a:cs typeface="Calibri" pitchFamily="34" charset="-120"/>
              </a:rPr>
              <a:t>PHASE 3 · Q3 FY27 · APR – JUN 2027</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Privileged access is the highest-impact attack vector — Phase 3 eliminates it while hardening the full infrastructure layer</a:t>
            </a:r>
            <a:endParaRPr lang="en-US" sz="1700" dirty="0"/>
          </a:p>
        </p:txBody>
      </p:sp>
      <p:sp>
        <p:nvSpPr>
          <p:cNvPr id="5" name="Shape 3"/>
          <p:cNvSpPr/>
          <p:nvPr/>
        </p:nvSpPr>
        <p:spPr>
          <a:xfrm>
            <a:off x="457200" y="1243584"/>
            <a:ext cx="822960" cy="20117"/>
          </a:xfrm>
          <a:prstGeom prst="rect">
            <a:avLst/>
          </a:prstGeom>
          <a:solidFill>
            <a:srgbClr val="7B68EE"/>
          </a:solidFill>
          <a:ln w="12700">
            <a:solidFill>
              <a:srgbClr val="7B68EE"/>
            </a:solidFill>
            <a:prstDash val="solid"/>
          </a:ln>
        </p:spPr>
      </p:sp>
      <p:sp>
        <p:nvSpPr>
          <p:cNvPr id="6" name="Text 4"/>
          <p:cNvSpPr/>
          <p:nvPr/>
        </p:nvSpPr>
        <p:spPr>
          <a:xfrm>
            <a:off x="457200" y="1115568"/>
            <a:ext cx="1828800" cy="146304"/>
          </a:xfrm>
          <a:prstGeom prst="rect">
            <a:avLst/>
          </a:prstGeom>
          <a:noFill/>
          <a:ln/>
        </p:spPr>
        <p:txBody>
          <a:bodyPr wrap="square" lIns="0" tIns="0" rIns="0" bIns="0" rtlCol="0" anchor="ctr"/>
          <a:lstStyle/>
          <a:p>
            <a:pPr indent="0" marL="0">
              <a:buNone/>
            </a:pPr>
            <a:r>
              <a:rPr lang="en-US" sz="750" b="1" spc="250" kern="0" dirty="0">
                <a:solidFill>
                  <a:srgbClr val="7B68EE"/>
                </a:solidFill>
                <a:latin typeface="Calibri" pitchFamily="34" charset="0"/>
                <a:ea typeface="Calibri" pitchFamily="34" charset="-122"/>
                <a:cs typeface="Calibri" pitchFamily="34" charset="-120"/>
              </a:rPr>
              <a:t>WHY IT MATTERS</a:t>
            </a:r>
            <a:endParaRPr lang="en-US" sz="750" dirty="0"/>
          </a:p>
        </p:txBody>
      </p:sp>
      <p:sp>
        <p:nvSpPr>
          <p:cNvPr id="7" name="Shape 5"/>
          <p:cNvSpPr/>
          <p:nvPr/>
        </p:nvSpPr>
        <p:spPr>
          <a:xfrm>
            <a:off x="457200" y="1316736"/>
            <a:ext cx="2788920" cy="1156716"/>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8" name="Shape 6"/>
          <p:cNvSpPr/>
          <p:nvPr/>
        </p:nvSpPr>
        <p:spPr>
          <a:xfrm>
            <a:off x="457200" y="1316736"/>
            <a:ext cx="41148" cy="1156716"/>
          </a:xfrm>
          <a:prstGeom prst="rect">
            <a:avLst/>
          </a:prstGeom>
          <a:solidFill>
            <a:srgbClr val="D94F3D"/>
          </a:solidFill>
          <a:ln w="12700">
            <a:solidFill>
              <a:srgbClr val="D94F3D"/>
            </a:solidFill>
            <a:prstDash val="solid"/>
          </a:ln>
        </p:spPr>
      </p:sp>
      <p:sp>
        <p:nvSpPr>
          <p:cNvPr id="9" name="Text 7"/>
          <p:cNvSpPr/>
          <p:nvPr/>
        </p:nvSpPr>
        <p:spPr>
          <a:xfrm>
            <a:off x="548640" y="138074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Privileged accounts are invisible and uncontrolled</a:t>
            </a:r>
            <a:endParaRPr lang="en-US" sz="1000" dirty="0"/>
          </a:p>
        </p:txBody>
      </p:sp>
      <p:sp>
        <p:nvSpPr>
          <p:cNvPr id="10" name="Text 8"/>
          <p:cNvSpPr/>
          <p:nvPr/>
        </p:nvSpPr>
        <p:spPr>
          <a:xfrm>
            <a:off x="548640" y="156362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No PAM solution means privileged credentials are unknown, unrotated, and unmonitored. Remote server sessions via TeamViewer, RDP, and SSH leave no audit trail. A single compromised admin account can cause catastrophic damage.</a:t>
            </a:r>
            <a:endParaRPr lang="en-US" sz="850" dirty="0"/>
          </a:p>
        </p:txBody>
      </p:sp>
      <p:sp>
        <p:nvSpPr>
          <p:cNvPr id="11" name="Shape 9"/>
          <p:cNvSpPr/>
          <p:nvPr/>
        </p:nvSpPr>
        <p:spPr>
          <a:xfrm>
            <a:off x="548640" y="2272284"/>
            <a:ext cx="406908" cy="155448"/>
          </a:xfrm>
          <a:prstGeom prst="roundRect">
            <a:avLst>
              <a:gd name="adj" fmla="val 23529"/>
            </a:avLst>
          </a:prstGeom>
          <a:solidFill>
            <a:srgbClr val="E0F5F7"/>
          </a:solidFill>
          <a:ln w="12700">
            <a:solidFill>
              <a:srgbClr val="B3E8EC"/>
            </a:solidFill>
            <a:prstDash val="solid"/>
          </a:ln>
        </p:spPr>
      </p:sp>
      <p:sp>
        <p:nvSpPr>
          <p:cNvPr id="12" name="Text 10"/>
          <p:cNvSpPr/>
          <p:nvPr/>
        </p:nvSpPr>
        <p:spPr>
          <a:xfrm>
            <a:off x="548640" y="227228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A.8.2</a:t>
            </a:r>
            <a:endParaRPr lang="en-US" sz="700" dirty="0"/>
          </a:p>
        </p:txBody>
      </p:sp>
      <p:sp>
        <p:nvSpPr>
          <p:cNvPr id="13" name="Shape 11"/>
          <p:cNvSpPr/>
          <p:nvPr/>
        </p:nvSpPr>
        <p:spPr>
          <a:xfrm>
            <a:off x="1001268" y="2272284"/>
            <a:ext cx="406908" cy="155448"/>
          </a:xfrm>
          <a:prstGeom prst="roundRect">
            <a:avLst>
              <a:gd name="adj" fmla="val 23529"/>
            </a:avLst>
          </a:prstGeom>
          <a:solidFill>
            <a:srgbClr val="E0F5F7"/>
          </a:solidFill>
          <a:ln w="12700">
            <a:solidFill>
              <a:srgbClr val="B3E8EC"/>
            </a:solidFill>
            <a:prstDash val="solid"/>
          </a:ln>
        </p:spPr>
      </p:sp>
      <p:sp>
        <p:nvSpPr>
          <p:cNvPr id="14" name="Text 12"/>
          <p:cNvSpPr/>
          <p:nvPr/>
        </p:nvSpPr>
        <p:spPr>
          <a:xfrm>
            <a:off x="1001268" y="227228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A.8.3</a:t>
            </a:r>
            <a:endParaRPr lang="en-US" sz="700" dirty="0"/>
          </a:p>
        </p:txBody>
      </p:sp>
      <p:sp>
        <p:nvSpPr>
          <p:cNvPr id="15" name="Shape 13"/>
          <p:cNvSpPr/>
          <p:nvPr/>
        </p:nvSpPr>
        <p:spPr>
          <a:xfrm>
            <a:off x="1453896" y="2272284"/>
            <a:ext cx="466344" cy="155448"/>
          </a:xfrm>
          <a:prstGeom prst="roundRect">
            <a:avLst>
              <a:gd name="adj" fmla="val 23529"/>
            </a:avLst>
          </a:prstGeom>
          <a:solidFill>
            <a:srgbClr val="E0F5F7"/>
          </a:solidFill>
          <a:ln w="12700">
            <a:solidFill>
              <a:srgbClr val="B3E8EC"/>
            </a:solidFill>
            <a:prstDash val="solid"/>
          </a:ln>
        </p:spPr>
      </p:sp>
      <p:sp>
        <p:nvSpPr>
          <p:cNvPr id="16" name="Text 14"/>
          <p:cNvSpPr/>
          <p:nvPr/>
        </p:nvSpPr>
        <p:spPr>
          <a:xfrm>
            <a:off x="1453896" y="227228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A.8.15</a:t>
            </a:r>
            <a:endParaRPr lang="en-US" sz="700" dirty="0"/>
          </a:p>
        </p:txBody>
      </p:sp>
      <p:sp>
        <p:nvSpPr>
          <p:cNvPr id="17" name="Shape 15"/>
          <p:cNvSpPr/>
          <p:nvPr/>
        </p:nvSpPr>
        <p:spPr>
          <a:xfrm>
            <a:off x="1965960" y="2272284"/>
            <a:ext cx="406908" cy="155448"/>
          </a:xfrm>
          <a:prstGeom prst="roundRect">
            <a:avLst>
              <a:gd name="adj" fmla="val 23529"/>
            </a:avLst>
          </a:prstGeom>
          <a:solidFill>
            <a:srgbClr val="E0F5F7"/>
          </a:solidFill>
          <a:ln w="12700">
            <a:solidFill>
              <a:srgbClr val="B3E8EC"/>
            </a:solidFill>
            <a:prstDash val="solid"/>
          </a:ln>
        </p:spPr>
      </p:sp>
      <p:sp>
        <p:nvSpPr>
          <p:cNvPr id="18" name="Text 16"/>
          <p:cNvSpPr/>
          <p:nvPr/>
        </p:nvSpPr>
        <p:spPr>
          <a:xfrm>
            <a:off x="1965960" y="227228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A.6.6</a:t>
            </a:r>
            <a:endParaRPr lang="en-US" sz="700" dirty="0"/>
          </a:p>
        </p:txBody>
      </p:sp>
      <p:sp>
        <p:nvSpPr>
          <p:cNvPr id="19" name="Shape 17"/>
          <p:cNvSpPr/>
          <p:nvPr/>
        </p:nvSpPr>
        <p:spPr>
          <a:xfrm>
            <a:off x="457200" y="2528316"/>
            <a:ext cx="2788920" cy="1156716"/>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20" name="Shape 18"/>
          <p:cNvSpPr/>
          <p:nvPr/>
        </p:nvSpPr>
        <p:spPr>
          <a:xfrm>
            <a:off x="457200" y="2528316"/>
            <a:ext cx="41148" cy="1156716"/>
          </a:xfrm>
          <a:prstGeom prst="rect">
            <a:avLst/>
          </a:prstGeom>
          <a:solidFill>
            <a:srgbClr val="D94F3D"/>
          </a:solidFill>
          <a:ln w="12700">
            <a:solidFill>
              <a:srgbClr val="D94F3D"/>
            </a:solidFill>
            <a:prstDash val="solid"/>
          </a:ln>
        </p:spPr>
      </p:sp>
      <p:sp>
        <p:nvSpPr>
          <p:cNvPr id="21" name="Text 19"/>
          <p:cNvSpPr/>
          <p:nvPr/>
        </p:nvSpPr>
        <p:spPr>
          <a:xfrm>
            <a:off x="548640" y="259232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Vulnerability management is effectively blind</a:t>
            </a:r>
            <a:endParaRPr lang="en-US" sz="1000" dirty="0"/>
          </a:p>
        </p:txBody>
      </p:sp>
      <p:sp>
        <p:nvSpPr>
          <p:cNvPr id="22" name="Text 20"/>
          <p:cNvSpPr/>
          <p:nvPr/>
        </p:nvSpPr>
        <p:spPr>
          <a:xfrm>
            <a:off x="548640" y="277520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Current tools cannot scan Kubernetes containers, and CVSS-only scoring fails to reflect real-world exploitability — making prioritisation impossible. The patching process lacks validation, producing an inconsistent cadence.</a:t>
            </a:r>
            <a:endParaRPr lang="en-US" sz="850" dirty="0"/>
          </a:p>
        </p:txBody>
      </p:sp>
      <p:sp>
        <p:nvSpPr>
          <p:cNvPr id="23" name="Shape 21"/>
          <p:cNvSpPr/>
          <p:nvPr/>
        </p:nvSpPr>
        <p:spPr>
          <a:xfrm>
            <a:off x="548640" y="3483864"/>
            <a:ext cx="406908" cy="155448"/>
          </a:xfrm>
          <a:prstGeom prst="roundRect">
            <a:avLst>
              <a:gd name="adj" fmla="val 23529"/>
            </a:avLst>
          </a:prstGeom>
          <a:solidFill>
            <a:srgbClr val="E0F5F7"/>
          </a:solidFill>
          <a:ln w="12700">
            <a:solidFill>
              <a:srgbClr val="B3E8EC"/>
            </a:solidFill>
            <a:prstDash val="solid"/>
          </a:ln>
        </p:spPr>
      </p:sp>
      <p:sp>
        <p:nvSpPr>
          <p:cNvPr id="24" name="Text 22"/>
          <p:cNvSpPr/>
          <p:nvPr/>
        </p:nvSpPr>
        <p:spPr>
          <a:xfrm>
            <a:off x="548640" y="348386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A.8.8</a:t>
            </a:r>
            <a:endParaRPr lang="en-US" sz="700" dirty="0"/>
          </a:p>
        </p:txBody>
      </p:sp>
      <p:sp>
        <p:nvSpPr>
          <p:cNvPr id="25" name="Shape 23"/>
          <p:cNvSpPr/>
          <p:nvPr/>
        </p:nvSpPr>
        <p:spPr>
          <a:xfrm>
            <a:off x="1001268" y="3483864"/>
            <a:ext cx="406908" cy="155448"/>
          </a:xfrm>
          <a:prstGeom prst="roundRect">
            <a:avLst>
              <a:gd name="adj" fmla="val 23529"/>
            </a:avLst>
          </a:prstGeom>
          <a:solidFill>
            <a:srgbClr val="E0F5F7"/>
          </a:solidFill>
          <a:ln w="12700">
            <a:solidFill>
              <a:srgbClr val="B3E8EC"/>
            </a:solidFill>
            <a:prstDash val="solid"/>
          </a:ln>
        </p:spPr>
      </p:sp>
      <p:sp>
        <p:nvSpPr>
          <p:cNvPr id="26" name="Text 24"/>
          <p:cNvSpPr/>
          <p:nvPr/>
        </p:nvSpPr>
        <p:spPr>
          <a:xfrm>
            <a:off x="1001268" y="348386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A.8.9</a:t>
            </a:r>
            <a:endParaRPr lang="en-US" sz="700" dirty="0"/>
          </a:p>
        </p:txBody>
      </p:sp>
      <p:sp>
        <p:nvSpPr>
          <p:cNvPr id="27" name="Shape 25"/>
          <p:cNvSpPr/>
          <p:nvPr/>
        </p:nvSpPr>
        <p:spPr>
          <a:xfrm>
            <a:off x="1453896" y="3483864"/>
            <a:ext cx="466344" cy="155448"/>
          </a:xfrm>
          <a:prstGeom prst="roundRect">
            <a:avLst>
              <a:gd name="adj" fmla="val 23529"/>
            </a:avLst>
          </a:prstGeom>
          <a:solidFill>
            <a:srgbClr val="E0F5F7"/>
          </a:solidFill>
          <a:ln w="12700">
            <a:solidFill>
              <a:srgbClr val="B3E8EC"/>
            </a:solidFill>
            <a:prstDash val="solid"/>
          </a:ln>
        </p:spPr>
      </p:sp>
      <p:sp>
        <p:nvSpPr>
          <p:cNvPr id="28" name="Text 26"/>
          <p:cNvSpPr/>
          <p:nvPr/>
        </p:nvSpPr>
        <p:spPr>
          <a:xfrm>
            <a:off x="1453896"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A.8.32</a:t>
            </a:r>
            <a:endParaRPr lang="en-US" sz="700" dirty="0"/>
          </a:p>
        </p:txBody>
      </p:sp>
      <p:sp>
        <p:nvSpPr>
          <p:cNvPr id="29" name="Shape 27"/>
          <p:cNvSpPr/>
          <p:nvPr/>
        </p:nvSpPr>
        <p:spPr>
          <a:xfrm>
            <a:off x="457200" y="3739896"/>
            <a:ext cx="2788920" cy="1156716"/>
          </a:xfrm>
          <a:prstGeom prst="rect">
            <a:avLst/>
          </a:prstGeom>
          <a:solidFill>
            <a:srgbClr val="FEF9F0"/>
          </a:solidFill>
          <a:ln w="12700">
            <a:solidFill>
              <a:srgbClr val="F5DFA0"/>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457200" y="3739896"/>
            <a:ext cx="41148" cy="1156716"/>
          </a:xfrm>
          <a:prstGeom prst="rect">
            <a:avLst/>
          </a:prstGeom>
          <a:solidFill>
            <a:srgbClr val="E8A01E"/>
          </a:solidFill>
          <a:ln w="12700">
            <a:solidFill>
              <a:srgbClr val="E8A01E"/>
            </a:solidFill>
            <a:prstDash val="solid"/>
          </a:ln>
        </p:spPr>
      </p:sp>
      <p:sp>
        <p:nvSpPr>
          <p:cNvPr id="31" name="Text 29"/>
          <p:cNvSpPr/>
          <p:nvPr/>
        </p:nvSpPr>
        <p:spPr>
          <a:xfrm>
            <a:off x="548640" y="380390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Cloud misconfigurations and insecure code go undetected</a:t>
            </a:r>
            <a:endParaRPr lang="en-US" sz="1000" dirty="0"/>
          </a:p>
        </p:txBody>
      </p:sp>
      <p:sp>
        <p:nvSpPr>
          <p:cNvPr id="32" name="Text 30"/>
          <p:cNvSpPr/>
          <p:nvPr/>
        </p:nvSpPr>
        <p:spPr>
          <a:xfrm>
            <a:off x="548640" y="398678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No CSPM means cloud configuration drift is invisible. No code scanning means applications ship with vulnerabilities. No API security controls means the attack surface expands with every new integration.</a:t>
            </a:r>
            <a:endParaRPr lang="en-US" sz="850" dirty="0"/>
          </a:p>
        </p:txBody>
      </p:sp>
      <p:sp>
        <p:nvSpPr>
          <p:cNvPr id="33" name="Shape 31"/>
          <p:cNvSpPr/>
          <p:nvPr/>
        </p:nvSpPr>
        <p:spPr>
          <a:xfrm>
            <a:off x="548640" y="4695444"/>
            <a:ext cx="466344" cy="155448"/>
          </a:xfrm>
          <a:prstGeom prst="roundRect">
            <a:avLst>
              <a:gd name="adj" fmla="val 23529"/>
            </a:avLst>
          </a:prstGeom>
          <a:solidFill>
            <a:srgbClr val="E0F5F7"/>
          </a:solidFill>
          <a:ln w="12700">
            <a:solidFill>
              <a:srgbClr val="B3E8EC"/>
            </a:solidFill>
            <a:prstDash val="solid"/>
          </a:ln>
        </p:spPr>
      </p:sp>
      <p:sp>
        <p:nvSpPr>
          <p:cNvPr id="34" name="Text 32"/>
          <p:cNvSpPr/>
          <p:nvPr/>
        </p:nvSpPr>
        <p:spPr>
          <a:xfrm>
            <a:off x="548640" y="469544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A.5.23</a:t>
            </a:r>
            <a:endParaRPr lang="en-US" sz="700" dirty="0"/>
          </a:p>
        </p:txBody>
      </p:sp>
      <p:sp>
        <p:nvSpPr>
          <p:cNvPr id="35" name="Shape 33"/>
          <p:cNvSpPr/>
          <p:nvPr/>
        </p:nvSpPr>
        <p:spPr>
          <a:xfrm>
            <a:off x="1060704" y="4695444"/>
            <a:ext cx="466344" cy="155448"/>
          </a:xfrm>
          <a:prstGeom prst="roundRect">
            <a:avLst>
              <a:gd name="adj" fmla="val 23529"/>
            </a:avLst>
          </a:prstGeom>
          <a:solidFill>
            <a:srgbClr val="E0F5F7"/>
          </a:solidFill>
          <a:ln w="12700">
            <a:solidFill>
              <a:srgbClr val="B3E8EC"/>
            </a:solidFill>
            <a:prstDash val="solid"/>
          </a:ln>
        </p:spPr>
      </p:sp>
      <p:sp>
        <p:nvSpPr>
          <p:cNvPr id="36" name="Text 34"/>
          <p:cNvSpPr/>
          <p:nvPr/>
        </p:nvSpPr>
        <p:spPr>
          <a:xfrm>
            <a:off x="1060704" y="469544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A.8.25</a:t>
            </a:r>
            <a:endParaRPr lang="en-US" sz="700" dirty="0"/>
          </a:p>
        </p:txBody>
      </p:sp>
      <p:sp>
        <p:nvSpPr>
          <p:cNvPr id="37" name="Shape 35"/>
          <p:cNvSpPr/>
          <p:nvPr/>
        </p:nvSpPr>
        <p:spPr>
          <a:xfrm>
            <a:off x="1572768" y="4695444"/>
            <a:ext cx="466344" cy="155448"/>
          </a:xfrm>
          <a:prstGeom prst="roundRect">
            <a:avLst>
              <a:gd name="adj" fmla="val 23529"/>
            </a:avLst>
          </a:prstGeom>
          <a:solidFill>
            <a:srgbClr val="E0F5F7"/>
          </a:solidFill>
          <a:ln w="12700">
            <a:solidFill>
              <a:srgbClr val="B3E8EC"/>
            </a:solidFill>
            <a:prstDash val="solid"/>
          </a:ln>
        </p:spPr>
      </p:sp>
      <p:sp>
        <p:nvSpPr>
          <p:cNvPr id="38" name="Text 36"/>
          <p:cNvSpPr/>
          <p:nvPr/>
        </p:nvSpPr>
        <p:spPr>
          <a:xfrm>
            <a:off x="1572768" y="469544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A.8.27</a:t>
            </a:r>
            <a:endParaRPr lang="en-US" sz="700" dirty="0"/>
          </a:p>
        </p:txBody>
      </p:sp>
      <p:sp>
        <p:nvSpPr>
          <p:cNvPr id="39" name="Shape 37"/>
          <p:cNvSpPr/>
          <p:nvPr/>
        </p:nvSpPr>
        <p:spPr>
          <a:xfrm>
            <a:off x="3355848" y="1243584"/>
            <a:ext cx="822960" cy="20117"/>
          </a:xfrm>
          <a:prstGeom prst="rect">
            <a:avLst/>
          </a:prstGeom>
          <a:solidFill>
            <a:srgbClr val="7B68EE"/>
          </a:solidFill>
          <a:ln w="12700">
            <a:solidFill>
              <a:srgbClr val="7B68EE"/>
            </a:solidFill>
            <a:prstDash val="solid"/>
          </a:ln>
        </p:spPr>
      </p:sp>
      <p:sp>
        <p:nvSpPr>
          <p:cNvPr id="40" name="Text 38"/>
          <p:cNvSpPr/>
          <p:nvPr/>
        </p:nvSpPr>
        <p:spPr>
          <a:xfrm>
            <a:off x="3355848" y="1115568"/>
            <a:ext cx="1828800" cy="146304"/>
          </a:xfrm>
          <a:prstGeom prst="rect">
            <a:avLst/>
          </a:prstGeom>
          <a:noFill/>
          <a:ln/>
        </p:spPr>
        <p:txBody>
          <a:bodyPr wrap="square" lIns="0" tIns="0" rIns="0" bIns="0" rtlCol="0" anchor="ctr"/>
          <a:lstStyle/>
          <a:p>
            <a:pPr indent="0" marL="0">
              <a:buNone/>
            </a:pPr>
            <a:r>
              <a:rPr lang="en-US" sz="750" b="1" spc="250" kern="0" dirty="0">
                <a:solidFill>
                  <a:srgbClr val="7B68EE"/>
                </a:solidFill>
                <a:latin typeface="Calibri" pitchFamily="34" charset="0"/>
                <a:ea typeface="Calibri" pitchFamily="34" charset="-122"/>
                <a:cs typeface="Calibri" pitchFamily="34" charset="-120"/>
              </a:rPr>
              <a:t>HOW WE FIX IT</a:t>
            </a:r>
            <a:endParaRPr lang="en-US" sz="750" dirty="0"/>
          </a:p>
        </p:txBody>
      </p:sp>
      <p:sp>
        <p:nvSpPr>
          <p:cNvPr id="41" name="Shape 39"/>
          <p:cNvSpPr/>
          <p:nvPr/>
        </p:nvSpPr>
        <p:spPr>
          <a:xfrm>
            <a:off x="3355848" y="1316736"/>
            <a:ext cx="3611880" cy="2656332"/>
          </a:xfrm>
          <a:prstGeom prst="rect">
            <a:avLst/>
          </a:prstGeom>
          <a:solidFill>
            <a:srgbClr val="F3F0FF"/>
          </a:solidFill>
          <a:ln w="12700">
            <a:solidFill>
              <a:srgbClr val="7B68EE"/>
            </a:solidFill>
            <a:prstDash val="solid"/>
          </a:ln>
        </p:spPr>
      </p:sp>
      <p:sp>
        <p:nvSpPr>
          <p:cNvPr id="42" name="Shape 40"/>
          <p:cNvSpPr/>
          <p:nvPr/>
        </p:nvSpPr>
        <p:spPr>
          <a:xfrm>
            <a:off x="3355848" y="1316736"/>
            <a:ext cx="41148" cy="2656332"/>
          </a:xfrm>
          <a:prstGeom prst="rect">
            <a:avLst/>
          </a:prstGeom>
          <a:solidFill>
            <a:srgbClr val="7B68EE"/>
          </a:solidFill>
          <a:ln w="12700">
            <a:solidFill>
              <a:srgbClr val="7B68EE"/>
            </a:solidFill>
            <a:prstDash val="solid"/>
          </a:ln>
        </p:spPr>
      </p:sp>
      <p:sp>
        <p:nvSpPr>
          <p:cNvPr id="43" name="Text 41"/>
          <p:cNvSpPr/>
          <p:nvPr/>
        </p:nvSpPr>
        <p:spPr>
          <a:xfrm>
            <a:off x="3447288" y="1426464"/>
            <a:ext cx="3429000" cy="2308860"/>
          </a:xfrm>
          <a:prstGeom prst="rect">
            <a:avLst/>
          </a:prstGeom>
          <a:noFill/>
          <a:ln/>
        </p:spPr>
        <p:txBody>
          <a:bodyPr wrap="square" lIns="0" tIns="0" rIns="0" bIns="0" rtlCol="0" anchor="t"/>
          <a:lstStyle/>
          <a:p>
            <a:pPr>
              <a:spcAft>
                <a:spcPts val="300"/>
              </a:spcAft>
            </a:pPr>
            <a:r>
              <a:rPr lang="en-US" sz="900" dirty="0">
                <a:solidFill>
                  <a:srgbClr val="1A2640"/>
                </a:solidFill>
                <a:latin typeface="Calibri" pitchFamily="34" charset="0"/>
                <a:ea typeface="Calibri" pitchFamily="34" charset="-122"/>
                <a:cs typeface="Calibri" pitchFamily="34" charset="-120"/>
              </a:rPr>
              <a:t>Deploy PAM (e.g. CyberArk / BeyondTrust) — vault and rotate all privileged credentials, enable session recording for all administrative access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Implement Jumphost / Bastion Host — mandate all remote server access through a single audited gateway; eliminate direct RDP/SSH/TeamViewer</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Upgrade vulnerability management (e.g. Rapid7 Exposure Command) — container scanning, risk-based prioritisation, revised patching workflow with validation</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Deploy CSPM (e.g. Wiz / Prisma Cloud) — continuous cloud configuration monitoring, drift detection, compliance policy enforcement</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Secure app dev pipeline — SAST/DAST (e.g. SonarQube), OWASP Top 10 API controls, architecture review gate, ASVS 5.0 adoption</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Network segmentation — VLAN-based isolation of PCI, production, dev, corporate; firewall rule review and cleanup</a:t>
            </a:r>
            <a:endParaRPr lang="en-US" sz="900" dirty="0"/>
          </a:p>
        </p:txBody>
      </p:sp>
      <p:sp>
        <p:nvSpPr>
          <p:cNvPr id="44" name="Shape 42"/>
          <p:cNvSpPr/>
          <p:nvPr/>
        </p:nvSpPr>
        <p:spPr>
          <a:xfrm>
            <a:off x="3355848" y="4046220"/>
            <a:ext cx="3611880" cy="699516"/>
          </a:xfrm>
          <a:prstGeom prst="rect">
            <a:avLst/>
          </a:prstGeom>
          <a:solidFill>
            <a:srgbClr val="F6F7FA"/>
          </a:solidFill>
          <a:ln w="12700">
            <a:solidFill>
              <a:srgbClr val="E8EBF0"/>
            </a:solidFill>
            <a:prstDash val="solid"/>
          </a:ln>
        </p:spPr>
      </p:sp>
      <p:sp>
        <p:nvSpPr>
          <p:cNvPr id="45" name="Text 43"/>
          <p:cNvSpPr/>
          <p:nvPr/>
        </p:nvSpPr>
        <p:spPr>
          <a:xfrm>
            <a:off x="3465576" y="4110228"/>
            <a:ext cx="3474720" cy="137160"/>
          </a:xfrm>
          <a:prstGeom prst="rect">
            <a:avLst/>
          </a:prstGeom>
          <a:noFill/>
          <a:ln/>
        </p:spPr>
        <p:txBody>
          <a:bodyPr wrap="square" lIns="0" tIns="0" rIns="0" bIns="0" rtlCol="0" anchor="ctr"/>
          <a:lstStyle/>
          <a:p>
            <a:pPr indent="0" marL="0">
              <a:buNone/>
            </a:pPr>
            <a:r>
              <a:rPr lang="en-US" sz="700" b="1" spc="200" kern="0" dirty="0">
                <a:solidFill>
                  <a:srgbClr val="6B7A96"/>
                </a:solidFill>
                <a:latin typeface="Calibri" pitchFamily="34" charset="0"/>
                <a:ea typeface="Calibri" pitchFamily="34" charset="-122"/>
                <a:cs typeface="Calibri" pitchFamily="34" charset="-120"/>
              </a:rPr>
              <a:t>DELIVERABLES</a:t>
            </a:r>
            <a:endParaRPr lang="en-US" sz="700" dirty="0"/>
          </a:p>
        </p:txBody>
      </p:sp>
      <p:sp>
        <p:nvSpPr>
          <p:cNvPr id="46" name="Text 44"/>
          <p:cNvSpPr/>
          <p:nvPr/>
        </p:nvSpPr>
        <p:spPr>
          <a:xfrm>
            <a:off x="3465576"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PAM — all priv. accounts vaulted</a:t>
            </a:r>
            <a:endParaRPr lang="en-US" sz="850" dirty="0"/>
          </a:p>
        </p:txBody>
      </p:sp>
      <p:sp>
        <p:nvSpPr>
          <p:cNvPr id="47" name="Text 45"/>
          <p:cNvSpPr/>
          <p:nvPr/>
        </p:nvSpPr>
        <p:spPr>
          <a:xfrm>
            <a:off x="5216652"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Jumphost deployed</a:t>
            </a:r>
            <a:endParaRPr lang="en-US" sz="850" dirty="0"/>
          </a:p>
        </p:txBody>
      </p:sp>
      <p:sp>
        <p:nvSpPr>
          <p:cNvPr id="48" name="Text 46"/>
          <p:cNvSpPr/>
          <p:nvPr/>
        </p:nvSpPr>
        <p:spPr>
          <a:xfrm>
            <a:off x="3465576"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Risk-based vuln mgmt live</a:t>
            </a:r>
            <a:endParaRPr lang="en-US" sz="850" dirty="0"/>
          </a:p>
        </p:txBody>
      </p:sp>
      <p:sp>
        <p:nvSpPr>
          <p:cNvPr id="49" name="Text 47"/>
          <p:cNvSpPr/>
          <p:nvPr/>
        </p:nvSpPr>
        <p:spPr>
          <a:xfrm>
            <a:off x="5216652"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CSPM monitoring cloud</a:t>
            </a:r>
            <a:endParaRPr lang="en-US" sz="850" dirty="0"/>
          </a:p>
        </p:txBody>
      </p:sp>
      <p:sp>
        <p:nvSpPr>
          <p:cNvPr id="50" name="Text 48"/>
          <p:cNvSpPr/>
          <p:nvPr/>
        </p:nvSpPr>
        <p:spPr>
          <a:xfrm>
            <a:off x="3465576"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Code scanning in CI/CD</a:t>
            </a:r>
            <a:endParaRPr lang="en-US" sz="850" dirty="0"/>
          </a:p>
        </p:txBody>
      </p:sp>
      <p:sp>
        <p:nvSpPr>
          <p:cNvPr id="51" name="Text 49"/>
          <p:cNvSpPr/>
          <p:nvPr/>
        </p:nvSpPr>
        <p:spPr>
          <a:xfrm>
            <a:off x="5216652"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Network segmentation done</a:t>
            </a:r>
            <a:endParaRPr lang="en-US" sz="850" dirty="0"/>
          </a:p>
        </p:txBody>
      </p:sp>
      <p:sp>
        <p:nvSpPr>
          <p:cNvPr id="52" name="Shape 50"/>
          <p:cNvSpPr/>
          <p:nvPr/>
        </p:nvSpPr>
        <p:spPr>
          <a:xfrm>
            <a:off x="7077456" y="1115568"/>
            <a:ext cx="1737360" cy="3863340"/>
          </a:xfrm>
          <a:prstGeom prst="rect">
            <a:avLst/>
          </a:prstGeom>
          <a:solidFill>
            <a:srgbClr val="F6F7FA"/>
          </a:solidFill>
          <a:ln w="12700">
            <a:solidFill>
              <a:srgbClr val="E8EBF0"/>
            </a:solidFill>
            <a:prstDash val="solid"/>
          </a:ln>
        </p:spPr>
      </p:sp>
      <p:sp>
        <p:nvSpPr>
          <p:cNvPr id="53" name="Shape 51"/>
          <p:cNvSpPr/>
          <p:nvPr/>
        </p:nvSpPr>
        <p:spPr>
          <a:xfrm>
            <a:off x="7168896" y="1298448"/>
            <a:ext cx="822960" cy="20117"/>
          </a:xfrm>
          <a:prstGeom prst="rect">
            <a:avLst/>
          </a:prstGeom>
          <a:solidFill>
            <a:srgbClr val="007D8A"/>
          </a:solidFill>
          <a:ln w="12700">
            <a:solidFill>
              <a:srgbClr val="007D8A"/>
            </a:solidFill>
            <a:prstDash val="solid"/>
          </a:ln>
        </p:spPr>
      </p:sp>
      <p:sp>
        <p:nvSpPr>
          <p:cNvPr id="54" name="Text 52"/>
          <p:cNvSpPr/>
          <p:nvPr/>
        </p:nvSpPr>
        <p:spPr>
          <a:xfrm>
            <a:off x="7168896" y="1170432"/>
            <a:ext cx="1828800" cy="146304"/>
          </a:xfrm>
          <a:prstGeom prst="rect">
            <a:avLst/>
          </a:prstGeom>
          <a:noFill/>
          <a:ln/>
        </p:spPr>
        <p:txBody>
          <a:bodyPr wrap="square" lIns="0" tIns="0" rIns="0" bIns="0" rtlCol="0" anchor="ctr"/>
          <a:lstStyle/>
          <a:p>
            <a:pPr indent="0" marL="0">
              <a:buNone/>
            </a:pPr>
            <a:r>
              <a:rPr lang="en-US" sz="750" b="1" spc="250" kern="0" dirty="0">
                <a:solidFill>
                  <a:srgbClr val="007D8A"/>
                </a:solidFill>
                <a:latin typeface="Calibri" pitchFamily="34" charset="0"/>
                <a:ea typeface="Calibri" pitchFamily="34" charset="-122"/>
                <a:cs typeface="Calibri" pitchFamily="34" charset="-120"/>
              </a:rPr>
              <a:t>ISO CONTROLS</a:t>
            </a:r>
            <a:endParaRPr lang="en-US" sz="750" dirty="0"/>
          </a:p>
        </p:txBody>
      </p:sp>
      <p:sp>
        <p:nvSpPr>
          <p:cNvPr id="55" name="Shape 53"/>
          <p:cNvSpPr/>
          <p:nvPr/>
        </p:nvSpPr>
        <p:spPr>
          <a:xfrm>
            <a:off x="7168896" y="1389888"/>
            <a:ext cx="501091" cy="164592"/>
          </a:xfrm>
          <a:prstGeom prst="roundRect">
            <a:avLst>
              <a:gd name="adj" fmla="val 22222"/>
            </a:avLst>
          </a:prstGeom>
          <a:solidFill>
            <a:srgbClr val="E0F5F7"/>
          </a:solidFill>
          <a:ln w="12700">
            <a:solidFill>
              <a:srgbClr val="B3E8EC"/>
            </a:solidFill>
            <a:prstDash val="solid"/>
          </a:ln>
        </p:spPr>
      </p:sp>
      <p:sp>
        <p:nvSpPr>
          <p:cNvPr id="56" name="Text 54"/>
          <p:cNvSpPr/>
          <p:nvPr/>
        </p:nvSpPr>
        <p:spPr>
          <a:xfrm>
            <a:off x="7168896" y="1389888"/>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A.5.23</a:t>
            </a:r>
            <a:endParaRPr lang="en-US" sz="750" dirty="0"/>
          </a:p>
        </p:txBody>
      </p:sp>
      <p:sp>
        <p:nvSpPr>
          <p:cNvPr id="57" name="Shape 55"/>
          <p:cNvSpPr/>
          <p:nvPr/>
        </p:nvSpPr>
        <p:spPr>
          <a:xfrm>
            <a:off x="7715707" y="1389888"/>
            <a:ext cx="438912" cy="164592"/>
          </a:xfrm>
          <a:prstGeom prst="roundRect">
            <a:avLst>
              <a:gd name="adj" fmla="val 22222"/>
            </a:avLst>
          </a:prstGeom>
          <a:solidFill>
            <a:srgbClr val="E0F5F7"/>
          </a:solidFill>
          <a:ln w="12700">
            <a:solidFill>
              <a:srgbClr val="B3E8EC"/>
            </a:solidFill>
            <a:prstDash val="solid"/>
          </a:ln>
        </p:spPr>
      </p:sp>
      <p:sp>
        <p:nvSpPr>
          <p:cNvPr id="58" name="Text 56"/>
          <p:cNvSpPr/>
          <p:nvPr/>
        </p:nvSpPr>
        <p:spPr>
          <a:xfrm>
            <a:off x="7715707" y="1389888"/>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A.6.6</a:t>
            </a:r>
            <a:endParaRPr lang="en-US" sz="750" dirty="0"/>
          </a:p>
        </p:txBody>
      </p:sp>
      <p:sp>
        <p:nvSpPr>
          <p:cNvPr id="59" name="Shape 57"/>
          <p:cNvSpPr/>
          <p:nvPr/>
        </p:nvSpPr>
        <p:spPr>
          <a:xfrm>
            <a:off x="8200339" y="1389888"/>
            <a:ext cx="438912" cy="164592"/>
          </a:xfrm>
          <a:prstGeom prst="roundRect">
            <a:avLst>
              <a:gd name="adj" fmla="val 22222"/>
            </a:avLst>
          </a:prstGeom>
          <a:solidFill>
            <a:srgbClr val="E0F5F7"/>
          </a:solidFill>
          <a:ln w="12700">
            <a:solidFill>
              <a:srgbClr val="B3E8EC"/>
            </a:solidFill>
            <a:prstDash val="solid"/>
          </a:ln>
        </p:spPr>
      </p:sp>
      <p:sp>
        <p:nvSpPr>
          <p:cNvPr id="60" name="Text 58"/>
          <p:cNvSpPr/>
          <p:nvPr/>
        </p:nvSpPr>
        <p:spPr>
          <a:xfrm>
            <a:off x="8200339" y="1389888"/>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a:t>
            </a:r>
            <a:endParaRPr lang="en-US" sz="750" dirty="0"/>
          </a:p>
        </p:txBody>
      </p:sp>
      <p:sp>
        <p:nvSpPr>
          <p:cNvPr id="61" name="Shape 59"/>
          <p:cNvSpPr/>
          <p:nvPr/>
        </p:nvSpPr>
        <p:spPr>
          <a:xfrm>
            <a:off x="7168896" y="1591056"/>
            <a:ext cx="438912" cy="164592"/>
          </a:xfrm>
          <a:prstGeom prst="roundRect">
            <a:avLst>
              <a:gd name="adj" fmla="val 22222"/>
            </a:avLst>
          </a:prstGeom>
          <a:solidFill>
            <a:srgbClr val="E0F5F7"/>
          </a:solidFill>
          <a:ln w="12700">
            <a:solidFill>
              <a:srgbClr val="B3E8EC"/>
            </a:solidFill>
            <a:prstDash val="solid"/>
          </a:ln>
        </p:spPr>
      </p:sp>
      <p:sp>
        <p:nvSpPr>
          <p:cNvPr id="62" name="Text 60"/>
          <p:cNvSpPr/>
          <p:nvPr/>
        </p:nvSpPr>
        <p:spPr>
          <a:xfrm>
            <a:off x="7168896"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a:t>
            </a:r>
            <a:endParaRPr lang="en-US" sz="750" dirty="0"/>
          </a:p>
        </p:txBody>
      </p:sp>
      <p:sp>
        <p:nvSpPr>
          <p:cNvPr id="63" name="Shape 61"/>
          <p:cNvSpPr/>
          <p:nvPr/>
        </p:nvSpPr>
        <p:spPr>
          <a:xfrm>
            <a:off x="7653528" y="1591056"/>
            <a:ext cx="438912" cy="164592"/>
          </a:xfrm>
          <a:prstGeom prst="roundRect">
            <a:avLst>
              <a:gd name="adj" fmla="val 22222"/>
            </a:avLst>
          </a:prstGeom>
          <a:solidFill>
            <a:srgbClr val="E0F5F7"/>
          </a:solidFill>
          <a:ln w="12700">
            <a:solidFill>
              <a:srgbClr val="B3E8EC"/>
            </a:solidFill>
            <a:prstDash val="solid"/>
          </a:ln>
        </p:spPr>
      </p:sp>
      <p:sp>
        <p:nvSpPr>
          <p:cNvPr id="64" name="Text 62"/>
          <p:cNvSpPr/>
          <p:nvPr/>
        </p:nvSpPr>
        <p:spPr>
          <a:xfrm>
            <a:off x="7653528"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A.8.3</a:t>
            </a:r>
            <a:endParaRPr lang="en-US" sz="750" dirty="0"/>
          </a:p>
        </p:txBody>
      </p:sp>
      <p:sp>
        <p:nvSpPr>
          <p:cNvPr id="65" name="Shape 63"/>
          <p:cNvSpPr/>
          <p:nvPr/>
        </p:nvSpPr>
        <p:spPr>
          <a:xfrm>
            <a:off x="8138160" y="1591056"/>
            <a:ext cx="438912" cy="164592"/>
          </a:xfrm>
          <a:prstGeom prst="roundRect">
            <a:avLst>
              <a:gd name="adj" fmla="val 22222"/>
            </a:avLst>
          </a:prstGeom>
          <a:solidFill>
            <a:srgbClr val="E0F5F7"/>
          </a:solidFill>
          <a:ln w="12700">
            <a:solidFill>
              <a:srgbClr val="B3E8EC"/>
            </a:solidFill>
            <a:prstDash val="solid"/>
          </a:ln>
        </p:spPr>
      </p:sp>
      <p:sp>
        <p:nvSpPr>
          <p:cNvPr id="66" name="Text 64"/>
          <p:cNvSpPr/>
          <p:nvPr/>
        </p:nvSpPr>
        <p:spPr>
          <a:xfrm>
            <a:off x="8138160" y="1591056"/>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A.8.4</a:t>
            </a:r>
            <a:endParaRPr lang="en-US" sz="750" dirty="0"/>
          </a:p>
        </p:txBody>
      </p:sp>
      <p:sp>
        <p:nvSpPr>
          <p:cNvPr id="67" name="Shape 65"/>
          <p:cNvSpPr/>
          <p:nvPr/>
        </p:nvSpPr>
        <p:spPr>
          <a:xfrm>
            <a:off x="7168896" y="1792224"/>
            <a:ext cx="438912" cy="164592"/>
          </a:xfrm>
          <a:prstGeom prst="roundRect">
            <a:avLst>
              <a:gd name="adj" fmla="val 22222"/>
            </a:avLst>
          </a:prstGeom>
          <a:solidFill>
            <a:srgbClr val="E0F5F7"/>
          </a:solidFill>
          <a:ln w="12700">
            <a:solidFill>
              <a:srgbClr val="B3E8EC"/>
            </a:solidFill>
            <a:prstDash val="solid"/>
          </a:ln>
        </p:spPr>
      </p:sp>
      <p:sp>
        <p:nvSpPr>
          <p:cNvPr id="68" name="Text 66"/>
          <p:cNvSpPr/>
          <p:nvPr/>
        </p:nvSpPr>
        <p:spPr>
          <a:xfrm>
            <a:off x="7168896" y="1792224"/>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A.8.5</a:t>
            </a:r>
            <a:endParaRPr lang="en-US" sz="750" dirty="0"/>
          </a:p>
        </p:txBody>
      </p:sp>
      <p:sp>
        <p:nvSpPr>
          <p:cNvPr id="69" name="Shape 67"/>
          <p:cNvSpPr/>
          <p:nvPr/>
        </p:nvSpPr>
        <p:spPr>
          <a:xfrm>
            <a:off x="7653528" y="1792224"/>
            <a:ext cx="438912" cy="164592"/>
          </a:xfrm>
          <a:prstGeom prst="roundRect">
            <a:avLst>
              <a:gd name="adj" fmla="val 22222"/>
            </a:avLst>
          </a:prstGeom>
          <a:solidFill>
            <a:srgbClr val="E0F5F7"/>
          </a:solidFill>
          <a:ln w="12700">
            <a:solidFill>
              <a:srgbClr val="B3E8EC"/>
            </a:solidFill>
            <a:prstDash val="solid"/>
          </a:ln>
        </p:spPr>
      </p:sp>
      <p:sp>
        <p:nvSpPr>
          <p:cNvPr id="70" name="Text 68"/>
          <p:cNvSpPr/>
          <p:nvPr/>
        </p:nvSpPr>
        <p:spPr>
          <a:xfrm>
            <a:off x="7653528" y="1792224"/>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A.8.8</a:t>
            </a:r>
            <a:endParaRPr lang="en-US" sz="750" dirty="0"/>
          </a:p>
        </p:txBody>
      </p:sp>
      <p:sp>
        <p:nvSpPr>
          <p:cNvPr id="71" name="Shape 69"/>
          <p:cNvSpPr/>
          <p:nvPr/>
        </p:nvSpPr>
        <p:spPr>
          <a:xfrm>
            <a:off x="8138160" y="1792224"/>
            <a:ext cx="438912" cy="164592"/>
          </a:xfrm>
          <a:prstGeom prst="roundRect">
            <a:avLst>
              <a:gd name="adj" fmla="val 22222"/>
            </a:avLst>
          </a:prstGeom>
          <a:solidFill>
            <a:srgbClr val="E0F5F7"/>
          </a:solidFill>
          <a:ln w="12700">
            <a:solidFill>
              <a:srgbClr val="B3E8EC"/>
            </a:solidFill>
            <a:prstDash val="solid"/>
          </a:ln>
        </p:spPr>
      </p:sp>
      <p:sp>
        <p:nvSpPr>
          <p:cNvPr id="72" name="Text 70"/>
          <p:cNvSpPr/>
          <p:nvPr/>
        </p:nvSpPr>
        <p:spPr>
          <a:xfrm>
            <a:off x="8138160" y="1792224"/>
            <a:ext cx="438912"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A.8.9</a:t>
            </a:r>
            <a:endParaRPr lang="en-US" sz="750" dirty="0"/>
          </a:p>
        </p:txBody>
      </p:sp>
      <p:sp>
        <p:nvSpPr>
          <p:cNvPr id="73" name="Shape 71"/>
          <p:cNvSpPr/>
          <p:nvPr/>
        </p:nvSpPr>
        <p:spPr>
          <a:xfrm>
            <a:off x="7168896" y="1993392"/>
            <a:ext cx="501091" cy="164592"/>
          </a:xfrm>
          <a:prstGeom prst="roundRect">
            <a:avLst>
              <a:gd name="adj" fmla="val 22222"/>
            </a:avLst>
          </a:prstGeom>
          <a:solidFill>
            <a:srgbClr val="E0F5F7"/>
          </a:solidFill>
          <a:ln w="12700">
            <a:solidFill>
              <a:srgbClr val="B3E8EC"/>
            </a:solidFill>
            <a:prstDash val="solid"/>
          </a:ln>
        </p:spPr>
      </p:sp>
      <p:sp>
        <p:nvSpPr>
          <p:cNvPr id="74" name="Text 72"/>
          <p:cNvSpPr/>
          <p:nvPr/>
        </p:nvSpPr>
        <p:spPr>
          <a:xfrm>
            <a:off x="7168896"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A.8.15</a:t>
            </a:r>
            <a:endParaRPr lang="en-US" sz="750" dirty="0"/>
          </a:p>
        </p:txBody>
      </p:sp>
      <p:sp>
        <p:nvSpPr>
          <p:cNvPr id="75" name="Shape 73"/>
          <p:cNvSpPr/>
          <p:nvPr/>
        </p:nvSpPr>
        <p:spPr>
          <a:xfrm>
            <a:off x="7715707" y="1993392"/>
            <a:ext cx="501091" cy="164592"/>
          </a:xfrm>
          <a:prstGeom prst="roundRect">
            <a:avLst>
              <a:gd name="adj" fmla="val 22222"/>
            </a:avLst>
          </a:prstGeom>
          <a:solidFill>
            <a:srgbClr val="E0F5F7"/>
          </a:solidFill>
          <a:ln w="12700">
            <a:solidFill>
              <a:srgbClr val="B3E8EC"/>
            </a:solidFill>
            <a:prstDash val="solid"/>
          </a:ln>
        </p:spPr>
      </p:sp>
      <p:sp>
        <p:nvSpPr>
          <p:cNvPr id="76" name="Text 74"/>
          <p:cNvSpPr/>
          <p:nvPr/>
        </p:nvSpPr>
        <p:spPr>
          <a:xfrm>
            <a:off x="7715707"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A.8.20</a:t>
            </a:r>
            <a:endParaRPr lang="en-US" sz="750" dirty="0"/>
          </a:p>
        </p:txBody>
      </p:sp>
      <p:sp>
        <p:nvSpPr>
          <p:cNvPr id="77" name="Shape 75"/>
          <p:cNvSpPr/>
          <p:nvPr/>
        </p:nvSpPr>
        <p:spPr>
          <a:xfrm>
            <a:off x="8262518" y="1993392"/>
            <a:ext cx="501091" cy="164592"/>
          </a:xfrm>
          <a:prstGeom prst="roundRect">
            <a:avLst>
              <a:gd name="adj" fmla="val 22222"/>
            </a:avLst>
          </a:prstGeom>
          <a:solidFill>
            <a:srgbClr val="E0F5F7"/>
          </a:solidFill>
          <a:ln w="12700">
            <a:solidFill>
              <a:srgbClr val="B3E8EC"/>
            </a:solidFill>
            <a:prstDash val="solid"/>
          </a:ln>
        </p:spPr>
      </p:sp>
      <p:sp>
        <p:nvSpPr>
          <p:cNvPr id="78" name="Text 76"/>
          <p:cNvSpPr/>
          <p:nvPr/>
        </p:nvSpPr>
        <p:spPr>
          <a:xfrm>
            <a:off x="8262518"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A.8.22</a:t>
            </a:r>
            <a:endParaRPr lang="en-US" sz="750" dirty="0"/>
          </a:p>
        </p:txBody>
      </p:sp>
      <p:sp>
        <p:nvSpPr>
          <p:cNvPr id="79" name="Shape 77"/>
          <p:cNvSpPr/>
          <p:nvPr/>
        </p:nvSpPr>
        <p:spPr>
          <a:xfrm>
            <a:off x="7168896" y="2194560"/>
            <a:ext cx="501091" cy="164592"/>
          </a:xfrm>
          <a:prstGeom prst="roundRect">
            <a:avLst>
              <a:gd name="adj" fmla="val 22222"/>
            </a:avLst>
          </a:prstGeom>
          <a:solidFill>
            <a:srgbClr val="E0F5F7"/>
          </a:solidFill>
          <a:ln w="12700">
            <a:solidFill>
              <a:srgbClr val="B3E8EC"/>
            </a:solidFill>
            <a:prstDash val="solid"/>
          </a:ln>
        </p:spPr>
      </p:sp>
      <p:sp>
        <p:nvSpPr>
          <p:cNvPr id="80" name="Text 78"/>
          <p:cNvSpPr/>
          <p:nvPr/>
        </p:nvSpPr>
        <p:spPr>
          <a:xfrm>
            <a:off x="7168896" y="2194560"/>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A.8.25</a:t>
            </a:r>
            <a:endParaRPr lang="en-US" sz="750" dirty="0"/>
          </a:p>
        </p:txBody>
      </p:sp>
      <p:sp>
        <p:nvSpPr>
          <p:cNvPr id="81" name="Shape 79"/>
          <p:cNvSpPr/>
          <p:nvPr/>
        </p:nvSpPr>
        <p:spPr>
          <a:xfrm>
            <a:off x="7715707" y="2194560"/>
            <a:ext cx="501091" cy="164592"/>
          </a:xfrm>
          <a:prstGeom prst="roundRect">
            <a:avLst>
              <a:gd name="adj" fmla="val 22222"/>
            </a:avLst>
          </a:prstGeom>
          <a:solidFill>
            <a:srgbClr val="E0F5F7"/>
          </a:solidFill>
          <a:ln w="12700">
            <a:solidFill>
              <a:srgbClr val="B3E8EC"/>
            </a:solidFill>
            <a:prstDash val="solid"/>
          </a:ln>
        </p:spPr>
      </p:sp>
      <p:sp>
        <p:nvSpPr>
          <p:cNvPr id="82" name="Text 80"/>
          <p:cNvSpPr/>
          <p:nvPr/>
        </p:nvSpPr>
        <p:spPr>
          <a:xfrm>
            <a:off x="7715707" y="2194560"/>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A.8.27</a:t>
            </a:r>
            <a:endParaRPr lang="en-US" sz="750" dirty="0"/>
          </a:p>
        </p:txBody>
      </p:sp>
      <p:sp>
        <p:nvSpPr>
          <p:cNvPr id="83" name="Shape 81"/>
          <p:cNvSpPr/>
          <p:nvPr/>
        </p:nvSpPr>
        <p:spPr>
          <a:xfrm>
            <a:off x="8262518" y="2194560"/>
            <a:ext cx="501091" cy="164592"/>
          </a:xfrm>
          <a:prstGeom prst="roundRect">
            <a:avLst>
              <a:gd name="adj" fmla="val 22222"/>
            </a:avLst>
          </a:prstGeom>
          <a:solidFill>
            <a:srgbClr val="E0F5F7"/>
          </a:solidFill>
          <a:ln w="12700">
            <a:solidFill>
              <a:srgbClr val="B3E8EC"/>
            </a:solidFill>
            <a:prstDash val="solid"/>
          </a:ln>
        </p:spPr>
      </p:sp>
      <p:sp>
        <p:nvSpPr>
          <p:cNvPr id="84" name="Text 82"/>
          <p:cNvSpPr/>
          <p:nvPr/>
        </p:nvSpPr>
        <p:spPr>
          <a:xfrm>
            <a:off x="8262518" y="2194560"/>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A.8.29</a:t>
            </a:r>
            <a:endParaRPr lang="en-US" sz="750" dirty="0"/>
          </a:p>
        </p:txBody>
      </p:sp>
      <p:sp>
        <p:nvSpPr>
          <p:cNvPr id="85" name="Shape 83"/>
          <p:cNvSpPr/>
          <p:nvPr/>
        </p:nvSpPr>
        <p:spPr>
          <a:xfrm>
            <a:off x="0" y="5093208"/>
            <a:ext cx="9144000" cy="50292"/>
          </a:xfrm>
          <a:prstGeom prst="rect">
            <a:avLst/>
          </a:prstGeom>
          <a:solidFill>
            <a:srgbClr val="7B68EE"/>
          </a:solidFill>
          <a:ln w="12700">
            <a:solidFill>
              <a:srgbClr val="7B68EE"/>
            </a:solidFill>
            <a:prstDash val="solid"/>
          </a:ln>
        </p:spPr>
      </p:sp>
      <p:sp>
        <p:nvSpPr>
          <p:cNvPr id="86" name="Shape 84"/>
          <p:cNvSpPr/>
          <p:nvPr/>
        </p:nvSpPr>
        <p:spPr>
          <a:xfrm>
            <a:off x="8503920" y="4549140"/>
            <a:ext cx="384048" cy="384048"/>
          </a:xfrm>
          <a:prstGeom prst="ellipse">
            <a:avLst/>
          </a:prstGeom>
          <a:solidFill>
            <a:srgbClr val="E8EBF0"/>
          </a:solidFill>
          <a:ln w="12700">
            <a:solidFill>
              <a:srgbClr val="B0B8C8"/>
            </a:solidFill>
            <a:prstDash val="solid"/>
          </a:ln>
        </p:spPr>
      </p:sp>
      <p:sp>
        <p:nvSpPr>
          <p:cNvPr id="87" name="Text 85"/>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88" name="Text 86"/>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A2200"/>
          </a:solidFill>
          <a:ln w="12700">
            <a:solidFill>
              <a:srgbClr val="3A2200"/>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FFD580"/>
                </a:solidFill>
                <a:latin typeface="Calibri" pitchFamily="34" charset="0"/>
                <a:ea typeface="Calibri" pitchFamily="34" charset="-122"/>
                <a:cs typeface="Calibri" pitchFamily="34" charset="-120"/>
              </a:rPr>
              <a:t>PHASE 4 · Q4 FY27 · JUL – SEP 2027</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Advanced defence closes the final gaps — DLP, resilience, and continuous validation complete FleetPartners' ISO 27001:2022 posture</a:t>
            </a:r>
            <a:endParaRPr lang="en-US" sz="1700" dirty="0"/>
          </a:p>
        </p:txBody>
      </p:sp>
      <p:sp>
        <p:nvSpPr>
          <p:cNvPr id="5" name="Shape 3"/>
          <p:cNvSpPr/>
          <p:nvPr/>
        </p:nvSpPr>
        <p:spPr>
          <a:xfrm>
            <a:off x="457200" y="1243584"/>
            <a:ext cx="822960" cy="20117"/>
          </a:xfrm>
          <a:prstGeom prst="rect">
            <a:avLst/>
          </a:prstGeom>
          <a:solidFill>
            <a:srgbClr val="E8A01E"/>
          </a:solidFill>
          <a:ln w="12700">
            <a:solidFill>
              <a:srgbClr val="E8A01E"/>
            </a:solidFill>
            <a:prstDash val="solid"/>
          </a:ln>
        </p:spPr>
      </p:sp>
      <p:sp>
        <p:nvSpPr>
          <p:cNvPr id="6" name="Text 4"/>
          <p:cNvSpPr/>
          <p:nvPr/>
        </p:nvSpPr>
        <p:spPr>
          <a:xfrm>
            <a:off x="457200" y="1115568"/>
            <a:ext cx="1828800" cy="146304"/>
          </a:xfrm>
          <a:prstGeom prst="rect">
            <a:avLst/>
          </a:prstGeom>
          <a:noFill/>
          <a:ln/>
        </p:spPr>
        <p:txBody>
          <a:bodyPr wrap="square" lIns="0" tIns="0" rIns="0" bIns="0" rtlCol="0" anchor="ctr"/>
          <a:lstStyle/>
          <a:p>
            <a:pPr indent="0" marL="0">
              <a:buNone/>
            </a:pPr>
            <a:r>
              <a:rPr lang="en-US" sz="750" b="1" spc="250" kern="0" dirty="0">
                <a:solidFill>
                  <a:srgbClr val="E8A01E"/>
                </a:solidFill>
                <a:latin typeface="Calibri" pitchFamily="34" charset="0"/>
                <a:ea typeface="Calibri" pitchFamily="34" charset="-122"/>
                <a:cs typeface="Calibri" pitchFamily="34" charset="-120"/>
              </a:rPr>
              <a:t>WHY IT MATTERS</a:t>
            </a:r>
            <a:endParaRPr lang="en-US" sz="750" dirty="0"/>
          </a:p>
        </p:txBody>
      </p:sp>
      <p:sp>
        <p:nvSpPr>
          <p:cNvPr id="7" name="Shape 5"/>
          <p:cNvSpPr/>
          <p:nvPr/>
        </p:nvSpPr>
        <p:spPr>
          <a:xfrm>
            <a:off x="457200" y="1316736"/>
            <a:ext cx="2788920" cy="1156716"/>
          </a:xfrm>
          <a:prstGeom prst="rect">
            <a:avLst/>
          </a:prstGeom>
          <a:solidFill>
            <a:srgbClr val="FDF3F2"/>
          </a:solidFill>
          <a:ln w="12700">
            <a:solidFill>
              <a:srgbClr val="F5C5BF"/>
            </a:solidFill>
            <a:prstDash val="solid"/>
          </a:ln>
          <a:effectLst>
            <a:outerShdw sx="100000" sy="100000" kx="0" ky="0" algn="bl" rotWithShape="0" blurRad="63500" dist="25400" dir="8100000">
              <a:srgbClr val="000000">
                <a:alpha val="10000"/>
              </a:srgbClr>
            </a:outerShdw>
          </a:effectLst>
        </p:spPr>
      </p:sp>
      <p:sp>
        <p:nvSpPr>
          <p:cNvPr id="8" name="Shape 6"/>
          <p:cNvSpPr/>
          <p:nvPr/>
        </p:nvSpPr>
        <p:spPr>
          <a:xfrm>
            <a:off x="457200" y="1316736"/>
            <a:ext cx="41148" cy="1156716"/>
          </a:xfrm>
          <a:prstGeom prst="rect">
            <a:avLst/>
          </a:prstGeom>
          <a:solidFill>
            <a:srgbClr val="D94F3D"/>
          </a:solidFill>
          <a:ln w="12700">
            <a:solidFill>
              <a:srgbClr val="D94F3D"/>
            </a:solidFill>
            <a:prstDash val="solid"/>
          </a:ln>
        </p:spPr>
      </p:sp>
      <p:sp>
        <p:nvSpPr>
          <p:cNvPr id="9" name="Text 7"/>
          <p:cNvSpPr/>
          <p:nvPr/>
        </p:nvSpPr>
        <p:spPr>
          <a:xfrm>
            <a:off x="548640" y="138074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Data exfiltration is currently undetectable</a:t>
            </a:r>
            <a:endParaRPr lang="en-US" sz="1000" dirty="0"/>
          </a:p>
        </p:txBody>
      </p:sp>
      <p:sp>
        <p:nvSpPr>
          <p:cNvPr id="10" name="Text 8"/>
          <p:cNvSpPr/>
          <p:nvPr/>
        </p:nvSpPr>
        <p:spPr>
          <a:xfrm>
            <a:off x="548640" y="156362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Without DLP controls, sensitive data and PII can leave FleetPartners via email, USB, cloud storage, or shadow IT — entirely undetected. Given FleetPartners' customer data obligations, this is a material regulatory and reputational risk.</a:t>
            </a:r>
            <a:endParaRPr lang="en-US" sz="850" dirty="0"/>
          </a:p>
        </p:txBody>
      </p:sp>
      <p:sp>
        <p:nvSpPr>
          <p:cNvPr id="11" name="Shape 9"/>
          <p:cNvSpPr/>
          <p:nvPr/>
        </p:nvSpPr>
        <p:spPr>
          <a:xfrm>
            <a:off x="548640" y="2272284"/>
            <a:ext cx="466344" cy="155448"/>
          </a:xfrm>
          <a:prstGeom prst="roundRect">
            <a:avLst>
              <a:gd name="adj" fmla="val 23529"/>
            </a:avLst>
          </a:prstGeom>
          <a:solidFill>
            <a:srgbClr val="E0F5F7"/>
          </a:solidFill>
          <a:ln w="12700">
            <a:solidFill>
              <a:srgbClr val="B3E8EC"/>
            </a:solidFill>
            <a:prstDash val="solid"/>
          </a:ln>
        </p:spPr>
      </p:sp>
      <p:sp>
        <p:nvSpPr>
          <p:cNvPr id="12" name="Text 10"/>
          <p:cNvSpPr/>
          <p:nvPr/>
        </p:nvSpPr>
        <p:spPr>
          <a:xfrm>
            <a:off x="548640" y="227228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A.8.10</a:t>
            </a:r>
            <a:endParaRPr lang="en-US" sz="700" dirty="0"/>
          </a:p>
        </p:txBody>
      </p:sp>
      <p:sp>
        <p:nvSpPr>
          <p:cNvPr id="13" name="Shape 11"/>
          <p:cNvSpPr/>
          <p:nvPr/>
        </p:nvSpPr>
        <p:spPr>
          <a:xfrm>
            <a:off x="1060704" y="2272284"/>
            <a:ext cx="466344" cy="155448"/>
          </a:xfrm>
          <a:prstGeom prst="roundRect">
            <a:avLst>
              <a:gd name="adj" fmla="val 23529"/>
            </a:avLst>
          </a:prstGeom>
          <a:solidFill>
            <a:srgbClr val="E0F5F7"/>
          </a:solidFill>
          <a:ln w="12700">
            <a:solidFill>
              <a:srgbClr val="B3E8EC"/>
            </a:solidFill>
            <a:prstDash val="solid"/>
          </a:ln>
        </p:spPr>
      </p:sp>
      <p:sp>
        <p:nvSpPr>
          <p:cNvPr id="14" name="Text 12"/>
          <p:cNvSpPr/>
          <p:nvPr/>
        </p:nvSpPr>
        <p:spPr>
          <a:xfrm>
            <a:off x="1060704" y="227228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A.8.12</a:t>
            </a:r>
            <a:endParaRPr lang="en-US" sz="700" dirty="0"/>
          </a:p>
        </p:txBody>
      </p:sp>
      <p:sp>
        <p:nvSpPr>
          <p:cNvPr id="15" name="Shape 13"/>
          <p:cNvSpPr/>
          <p:nvPr/>
        </p:nvSpPr>
        <p:spPr>
          <a:xfrm>
            <a:off x="1572768" y="2272284"/>
            <a:ext cx="466344" cy="155448"/>
          </a:xfrm>
          <a:prstGeom prst="roundRect">
            <a:avLst>
              <a:gd name="adj" fmla="val 23529"/>
            </a:avLst>
          </a:prstGeom>
          <a:solidFill>
            <a:srgbClr val="E0F5F7"/>
          </a:solidFill>
          <a:ln w="12700">
            <a:solidFill>
              <a:srgbClr val="B3E8EC"/>
            </a:solidFill>
            <a:prstDash val="solid"/>
          </a:ln>
        </p:spPr>
      </p:sp>
      <p:sp>
        <p:nvSpPr>
          <p:cNvPr id="16" name="Text 14"/>
          <p:cNvSpPr/>
          <p:nvPr/>
        </p:nvSpPr>
        <p:spPr>
          <a:xfrm>
            <a:off x="1572768" y="227228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A.5.14</a:t>
            </a:r>
            <a:endParaRPr lang="en-US" sz="700" dirty="0"/>
          </a:p>
        </p:txBody>
      </p:sp>
      <p:sp>
        <p:nvSpPr>
          <p:cNvPr id="17" name="Shape 15"/>
          <p:cNvSpPr/>
          <p:nvPr/>
        </p:nvSpPr>
        <p:spPr>
          <a:xfrm>
            <a:off x="457200" y="2528316"/>
            <a:ext cx="2788920" cy="1156716"/>
          </a:xfrm>
          <a:prstGeom prst="rect">
            <a:avLst/>
          </a:prstGeom>
          <a:solidFill>
            <a:srgbClr val="FEF9F0"/>
          </a:solidFill>
          <a:ln w="12700">
            <a:solidFill>
              <a:srgbClr val="F5DFA0"/>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457200" y="2528316"/>
            <a:ext cx="41148" cy="1156716"/>
          </a:xfrm>
          <a:prstGeom prst="rect">
            <a:avLst/>
          </a:prstGeom>
          <a:solidFill>
            <a:srgbClr val="E8A01E"/>
          </a:solidFill>
          <a:ln w="12700">
            <a:solidFill>
              <a:srgbClr val="E8A01E"/>
            </a:solidFill>
            <a:prstDash val="solid"/>
          </a:ln>
        </p:spPr>
      </p:sp>
      <p:sp>
        <p:nvSpPr>
          <p:cNvPr id="19" name="Text 17"/>
          <p:cNvSpPr/>
          <p:nvPr/>
        </p:nvSpPr>
        <p:spPr>
          <a:xfrm>
            <a:off x="548640" y="259232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No tested recovery plan for a cyber incident</a:t>
            </a:r>
            <a:endParaRPr lang="en-US" sz="1000" dirty="0"/>
          </a:p>
        </p:txBody>
      </p:sp>
      <p:sp>
        <p:nvSpPr>
          <p:cNvPr id="20" name="Text 18"/>
          <p:cNvSpPr/>
          <p:nvPr/>
        </p:nvSpPr>
        <p:spPr>
          <a:xfrm>
            <a:off x="548640" y="277520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BCDR plans have not been formalised or tested against cyber scenarios. RTO/RPO targets are undefined. If ransomware strikes, FleetPartners has no documented playbook, no assigned roles, and no validated recovery capability.</a:t>
            </a:r>
            <a:endParaRPr lang="en-US" sz="850" dirty="0"/>
          </a:p>
        </p:txBody>
      </p:sp>
      <p:sp>
        <p:nvSpPr>
          <p:cNvPr id="21" name="Shape 19"/>
          <p:cNvSpPr/>
          <p:nvPr/>
        </p:nvSpPr>
        <p:spPr>
          <a:xfrm>
            <a:off x="548640" y="3483864"/>
            <a:ext cx="466344" cy="155448"/>
          </a:xfrm>
          <a:prstGeom prst="roundRect">
            <a:avLst>
              <a:gd name="adj" fmla="val 23529"/>
            </a:avLst>
          </a:prstGeom>
          <a:solidFill>
            <a:srgbClr val="E0F5F7"/>
          </a:solidFill>
          <a:ln w="12700">
            <a:solidFill>
              <a:srgbClr val="B3E8EC"/>
            </a:solidFill>
            <a:prstDash val="solid"/>
          </a:ln>
        </p:spPr>
      </p:sp>
      <p:sp>
        <p:nvSpPr>
          <p:cNvPr id="22" name="Text 20"/>
          <p:cNvSpPr/>
          <p:nvPr/>
        </p:nvSpPr>
        <p:spPr>
          <a:xfrm>
            <a:off x="548640"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A.5.24</a:t>
            </a:r>
            <a:endParaRPr lang="en-US" sz="700" dirty="0"/>
          </a:p>
        </p:txBody>
      </p:sp>
      <p:sp>
        <p:nvSpPr>
          <p:cNvPr id="23" name="Shape 21"/>
          <p:cNvSpPr/>
          <p:nvPr/>
        </p:nvSpPr>
        <p:spPr>
          <a:xfrm>
            <a:off x="1060704" y="3483864"/>
            <a:ext cx="466344" cy="155448"/>
          </a:xfrm>
          <a:prstGeom prst="roundRect">
            <a:avLst>
              <a:gd name="adj" fmla="val 23529"/>
            </a:avLst>
          </a:prstGeom>
          <a:solidFill>
            <a:srgbClr val="E0F5F7"/>
          </a:solidFill>
          <a:ln w="12700">
            <a:solidFill>
              <a:srgbClr val="B3E8EC"/>
            </a:solidFill>
            <a:prstDash val="solid"/>
          </a:ln>
        </p:spPr>
      </p:sp>
      <p:sp>
        <p:nvSpPr>
          <p:cNvPr id="24" name="Text 22"/>
          <p:cNvSpPr/>
          <p:nvPr/>
        </p:nvSpPr>
        <p:spPr>
          <a:xfrm>
            <a:off x="1060704"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A.5.29</a:t>
            </a:r>
            <a:endParaRPr lang="en-US" sz="700" dirty="0"/>
          </a:p>
        </p:txBody>
      </p:sp>
      <p:sp>
        <p:nvSpPr>
          <p:cNvPr id="25" name="Shape 23"/>
          <p:cNvSpPr/>
          <p:nvPr/>
        </p:nvSpPr>
        <p:spPr>
          <a:xfrm>
            <a:off x="1572768" y="3483864"/>
            <a:ext cx="466344" cy="155448"/>
          </a:xfrm>
          <a:prstGeom prst="roundRect">
            <a:avLst>
              <a:gd name="adj" fmla="val 23529"/>
            </a:avLst>
          </a:prstGeom>
          <a:solidFill>
            <a:srgbClr val="E0F5F7"/>
          </a:solidFill>
          <a:ln w="12700">
            <a:solidFill>
              <a:srgbClr val="B3E8EC"/>
            </a:solidFill>
            <a:prstDash val="solid"/>
          </a:ln>
        </p:spPr>
      </p:sp>
      <p:sp>
        <p:nvSpPr>
          <p:cNvPr id="26" name="Text 24"/>
          <p:cNvSpPr/>
          <p:nvPr/>
        </p:nvSpPr>
        <p:spPr>
          <a:xfrm>
            <a:off x="1572768"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A.5.30</a:t>
            </a:r>
            <a:endParaRPr lang="en-US" sz="700" dirty="0"/>
          </a:p>
        </p:txBody>
      </p:sp>
      <p:sp>
        <p:nvSpPr>
          <p:cNvPr id="27" name="Shape 25"/>
          <p:cNvSpPr/>
          <p:nvPr/>
        </p:nvSpPr>
        <p:spPr>
          <a:xfrm>
            <a:off x="2084832" y="3483864"/>
            <a:ext cx="466344" cy="155448"/>
          </a:xfrm>
          <a:prstGeom prst="roundRect">
            <a:avLst>
              <a:gd name="adj" fmla="val 23529"/>
            </a:avLst>
          </a:prstGeom>
          <a:solidFill>
            <a:srgbClr val="E0F5F7"/>
          </a:solidFill>
          <a:ln w="12700">
            <a:solidFill>
              <a:srgbClr val="B3E8EC"/>
            </a:solidFill>
            <a:prstDash val="solid"/>
          </a:ln>
        </p:spPr>
      </p:sp>
      <p:sp>
        <p:nvSpPr>
          <p:cNvPr id="28" name="Text 26"/>
          <p:cNvSpPr/>
          <p:nvPr/>
        </p:nvSpPr>
        <p:spPr>
          <a:xfrm>
            <a:off x="2084832" y="348386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A.8.13</a:t>
            </a:r>
            <a:endParaRPr lang="en-US" sz="700" dirty="0"/>
          </a:p>
        </p:txBody>
      </p:sp>
      <p:sp>
        <p:nvSpPr>
          <p:cNvPr id="29" name="Shape 27"/>
          <p:cNvSpPr/>
          <p:nvPr/>
        </p:nvSpPr>
        <p:spPr>
          <a:xfrm>
            <a:off x="457200" y="3739896"/>
            <a:ext cx="2788920" cy="1156716"/>
          </a:xfrm>
          <a:prstGeom prst="rect">
            <a:avLst/>
          </a:prstGeom>
          <a:solidFill>
            <a:srgbClr val="FEF9F0"/>
          </a:solidFill>
          <a:ln w="12700">
            <a:solidFill>
              <a:srgbClr val="F5DFA0"/>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457200" y="3739896"/>
            <a:ext cx="41148" cy="1156716"/>
          </a:xfrm>
          <a:prstGeom prst="rect">
            <a:avLst/>
          </a:prstGeom>
          <a:solidFill>
            <a:srgbClr val="E8A01E"/>
          </a:solidFill>
          <a:ln w="12700">
            <a:solidFill>
              <a:srgbClr val="E8A01E"/>
            </a:solidFill>
            <a:prstDash val="solid"/>
          </a:ln>
        </p:spPr>
      </p:sp>
      <p:sp>
        <p:nvSpPr>
          <p:cNvPr id="31" name="Text 29"/>
          <p:cNvSpPr/>
          <p:nvPr/>
        </p:nvSpPr>
        <p:spPr>
          <a:xfrm>
            <a:off x="548640" y="3803904"/>
            <a:ext cx="2651760" cy="164592"/>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Controls have never been independently validated</a:t>
            </a:r>
            <a:endParaRPr lang="en-US" sz="1000" dirty="0"/>
          </a:p>
        </p:txBody>
      </p:sp>
      <p:sp>
        <p:nvSpPr>
          <p:cNvPr id="32" name="Text 30"/>
          <p:cNvSpPr/>
          <p:nvPr/>
        </p:nvSpPr>
        <p:spPr>
          <a:xfrm>
            <a:off x="548640" y="3986784"/>
            <a:ext cx="2651760" cy="699516"/>
          </a:xfrm>
          <a:prstGeom prst="rect">
            <a:avLst/>
          </a:prstGeom>
          <a:noFill/>
          <a:ln/>
        </p:spPr>
        <p:txBody>
          <a:bodyPr wrap="square" lIns="0" tIns="0" rIns="0" bIns="0" rtlCol="0" anchor="t"/>
          <a:lstStyle/>
          <a:p>
            <a:pPr indent="0" marL="0">
              <a:buNone/>
            </a:pPr>
            <a:r>
              <a:rPr lang="en-US" sz="850" dirty="0">
                <a:solidFill>
                  <a:srgbClr val="6B7A96"/>
                </a:solidFill>
                <a:latin typeface="Calibri" pitchFamily="34" charset="0"/>
                <a:ea typeface="Calibri" pitchFamily="34" charset="-122"/>
                <a:cs typeface="Calibri" pitchFamily="34" charset="-120"/>
              </a:rPr>
              <a:t>No external penetration testing program exists. Controls implemented in Phases 1–3 will be untested until an adversary tests them. Annual CREST pen testing is the only way to validate effectiveness before attackers do.</a:t>
            </a:r>
            <a:endParaRPr lang="en-US" sz="850" dirty="0"/>
          </a:p>
        </p:txBody>
      </p:sp>
      <p:sp>
        <p:nvSpPr>
          <p:cNvPr id="33" name="Shape 31"/>
          <p:cNvSpPr/>
          <p:nvPr/>
        </p:nvSpPr>
        <p:spPr>
          <a:xfrm>
            <a:off x="548640" y="4695444"/>
            <a:ext cx="466344" cy="155448"/>
          </a:xfrm>
          <a:prstGeom prst="roundRect">
            <a:avLst>
              <a:gd name="adj" fmla="val 23529"/>
            </a:avLst>
          </a:prstGeom>
          <a:solidFill>
            <a:srgbClr val="E0F5F7"/>
          </a:solidFill>
          <a:ln w="12700">
            <a:solidFill>
              <a:srgbClr val="B3E8EC"/>
            </a:solidFill>
            <a:prstDash val="solid"/>
          </a:ln>
        </p:spPr>
      </p:sp>
      <p:sp>
        <p:nvSpPr>
          <p:cNvPr id="34" name="Text 32"/>
          <p:cNvSpPr/>
          <p:nvPr/>
        </p:nvSpPr>
        <p:spPr>
          <a:xfrm>
            <a:off x="548640" y="469544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A.5.35</a:t>
            </a:r>
            <a:endParaRPr lang="en-US" sz="700" dirty="0"/>
          </a:p>
        </p:txBody>
      </p:sp>
      <p:sp>
        <p:nvSpPr>
          <p:cNvPr id="35" name="Shape 33"/>
          <p:cNvSpPr/>
          <p:nvPr/>
        </p:nvSpPr>
        <p:spPr>
          <a:xfrm>
            <a:off x="1060704" y="4695444"/>
            <a:ext cx="466344" cy="155448"/>
          </a:xfrm>
          <a:prstGeom prst="roundRect">
            <a:avLst>
              <a:gd name="adj" fmla="val 23529"/>
            </a:avLst>
          </a:prstGeom>
          <a:solidFill>
            <a:srgbClr val="E0F5F7"/>
          </a:solidFill>
          <a:ln w="12700">
            <a:solidFill>
              <a:srgbClr val="B3E8EC"/>
            </a:solidFill>
            <a:prstDash val="solid"/>
          </a:ln>
        </p:spPr>
      </p:sp>
      <p:sp>
        <p:nvSpPr>
          <p:cNvPr id="36" name="Text 34"/>
          <p:cNvSpPr/>
          <p:nvPr/>
        </p:nvSpPr>
        <p:spPr>
          <a:xfrm>
            <a:off x="1060704" y="4695444"/>
            <a:ext cx="466344"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A.5.36</a:t>
            </a:r>
            <a:endParaRPr lang="en-US" sz="700" dirty="0"/>
          </a:p>
        </p:txBody>
      </p:sp>
      <p:sp>
        <p:nvSpPr>
          <p:cNvPr id="37" name="Shape 35"/>
          <p:cNvSpPr/>
          <p:nvPr/>
        </p:nvSpPr>
        <p:spPr>
          <a:xfrm>
            <a:off x="1572768" y="4695444"/>
            <a:ext cx="406908" cy="155448"/>
          </a:xfrm>
          <a:prstGeom prst="roundRect">
            <a:avLst>
              <a:gd name="adj" fmla="val 23529"/>
            </a:avLst>
          </a:prstGeom>
          <a:solidFill>
            <a:srgbClr val="E0F5F7"/>
          </a:solidFill>
          <a:ln w="12700">
            <a:solidFill>
              <a:srgbClr val="B3E8EC"/>
            </a:solidFill>
            <a:prstDash val="solid"/>
          </a:ln>
        </p:spPr>
      </p:sp>
      <p:sp>
        <p:nvSpPr>
          <p:cNvPr id="38" name="Text 36"/>
          <p:cNvSpPr/>
          <p:nvPr/>
        </p:nvSpPr>
        <p:spPr>
          <a:xfrm>
            <a:off x="1572768" y="4695444"/>
            <a:ext cx="406908" cy="155448"/>
          </a:xfrm>
          <a:prstGeom prst="rect">
            <a:avLst/>
          </a:prstGeom>
          <a:noFill/>
          <a:ln/>
        </p:spPr>
        <p:txBody>
          <a:bodyPr wrap="square" lIns="0" tIns="0" rIns="0" bIns="0" rtlCol="0" anchor="ctr"/>
          <a:lstStyle/>
          <a:p>
            <a:pPr algn="ctr" indent="0" marL="0">
              <a:buNone/>
            </a:pPr>
            <a:r>
              <a:rPr lang="en-US" sz="700" b="1" dirty="0">
                <a:solidFill>
                  <a:srgbClr val="007D8A"/>
                </a:solidFill>
                <a:latin typeface="Calibri" pitchFamily="34" charset="0"/>
                <a:ea typeface="Calibri" pitchFamily="34" charset="-122"/>
                <a:cs typeface="Calibri" pitchFamily="34" charset="-120"/>
              </a:rPr>
              <a:t>A.8.8</a:t>
            </a:r>
            <a:endParaRPr lang="en-US" sz="700" dirty="0"/>
          </a:p>
        </p:txBody>
      </p:sp>
      <p:sp>
        <p:nvSpPr>
          <p:cNvPr id="39" name="Shape 37"/>
          <p:cNvSpPr/>
          <p:nvPr/>
        </p:nvSpPr>
        <p:spPr>
          <a:xfrm>
            <a:off x="3355848" y="1243584"/>
            <a:ext cx="822960" cy="20117"/>
          </a:xfrm>
          <a:prstGeom prst="rect">
            <a:avLst/>
          </a:prstGeom>
          <a:solidFill>
            <a:srgbClr val="E8A01E"/>
          </a:solidFill>
          <a:ln w="12700">
            <a:solidFill>
              <a:srgbClr val="E8A01E"/>
            </a:solidFill>
            <a:prstDash val="solid"/>
          </a:ln>
        </p:spPr>
      </p:sp>
      <p:sp>
        <p:nvSpPr>
          <p:cNvPr id="40" name="Text 38"/>
          <p:cNvSpPr/>
          <p:nvPr/>
        </p:nvSpPr>
        <p:spPr>
          <a:xfrm>
            <a:off x="3355848" y="1115568"/>
            <a:ext cx="1828800" cy="146304"/>
          </a:xfrm>
          <a:prstGeom prst="rect">
            <a:avLst/>
          </a:prstGeom>
          <a:noFill/>
          <a:ln/>
        </p:spPr>
        <p:txBody>
          <a:bodyPr wrap="square" lIns="0" tIns="0" rIns="0" bIns="0" rtlCol="0" anchor="ctr"/>
          <a:lstStyle/>
          <a:p>
            <a:pPr indent="0" marL="0">
              <a:buNone/>
            </a:pPr>
            <a:r>
              <a:rPr lang="en-US" sz="750" b="1" spc="250" kern="0" dirty="0">
                <a:solidFill>
                  <a:srgbClr val="E8A01E"/>
                </a:solidFill>
                <a:latin typeface="Calibri" pitchFamily="34" charset="0"/>
                <a:ea typeface="Calibri" pitchFamily="34" charset="-122"/>
                <a:cs typeface="Calibri" pitchFamily="34" charset="-120"/>
              </a:rPr>
              <a:t>HOW WE FIX IT</a:t>
            </a:r>
            <a:endParaRPr lang="en-US" sz="750" dirty="0"/>
          </a:p>
        </p:txBody>
      </p:sp>
      <p:sp>
        <p:nvSpPr>
          <p:cNvPr id="41" name="Shape 39"/>
          <p:cNvSpPr/>
          <p:nvPr/>
        </p:nvSpPr>
        <p:spPr>
          <a:xfrm>
            <a:off x="3355848" y="1316736"/>
            <a:ext cx="3611880" cy="2656332"/>
          </a:xfrm>
          <a:prstGeom prst="rect">
            <a:avLst/>
          </a:prstGeom>
          <a:solidFill>
            <a:srgbClr val="FFFAEE"/>
          </a:solidFill>
          <a:ln w="12700">
            <a:solidFill>
              <a:srgbClr val="E8A01E"/>
            </a:solidFill>
            <a:prstDash val="solid"/>
          </a:ln>
        </p:spPr>
      </p:sp>
      <p:sp>
        <p:nvSpPr>
          <p:cNvPr id="42" name="Shape 40"/>
          <p:cNvSpPr/>
          <p:nvPr/>
        </p:nvSpPr>
        <p:spPr>
          <a:xfrm>
            <a:off x="3355848" y="1316736"/>
            <a:ext cx="41148" cy="2656332"/>
          </a:xfrm>
          <a:prstGeom prst="rect">
            <a:avLst/>
          </a:prstGeom>
          <a:solidFill>
            <a:srgbClr val="E8A01E"/>
          </a:solidFill>
          <a:ln w="12700">
            <a:solidFill>
              <a:srgbClr val="E8A01E"/>
            </a:solidFill>
            <a:prstDash val="solid"/>
          </a:ln>
        </p:spPr>
      </p:sp>
      <p:sp>
        <p:nvSpPr>
          <p:cNvPr id="43" name="Text 41"/>
          <p:cNvSpPr/>
          <p:nvPr/>
        </p:nvSpPr>
        <p:spPr>
          <a:xfrm>
            <a:off x="3447288" y="1426464"/>
            <a:ext cx="3429000" cy="2308860"/>
          </a:xfrm>
          <a:prstGeom prst="rect">
            <a:avLst/>
          </a:prstGeom>
          <a:noFill/>
          <a:ln/>
        </p:spPr>
        <p:txBody>
          <a:bodyPr wrap="square" lIns="0" tIns="0" rIns="0" bIns="0" rtlCol="0" anchor="t"/>
          <a:lstStyle/>
          <a:p>
            <a:pPr>
              <a:spcAft>
                <a:spcPts val="300"/>
              </a:spcAft>
            </a:pPr>
            <a:r>
              <a:rPr lang="en-US" sz="900" dirty="0">
                <a:solidFill>
                  <a:srgbClr val="1A2640"/>
                </a:solidFill>
                <a:latin typeface="Calibri" pitchFamily="34" charset="0"/>
                <a:ea typeface="Calibri" pitchFamily="34" charset="-122"/>
                <a:cs typeface="Calibri" pitchFamily="34" charset="-120"/>
              </a:rPr>
              <a:t>Deploy DLP (e.g. Microsoft Purview) — enforce data loss prevention across endpoint, network, and cloud; base policies on Phase 1 classification framework</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Software Composition Analysis (SCA) — open-source dependency scanning, container image scanning, SBOM generation for all deployed applications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BCDR &amp; Incident Response Plan — develop tested BCDR plans with defined RTO/RPO; document IRP with RACI and escalation paths; quarterly tabletop exercises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Annual CREST Penetration Testing — external/internal tests covering web application, API, and cloud infrastructure scope</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Security metrics &amp; ARC dashboard — executive KPIs/KRIs: patch SLAs, incident response times, training completion rates</a:t>
            </a:r>
            <a:endParaRPr lang="en-US" sz="900" dirty="0"/>
          </a:p>
          <a:p>
            <a:pPr>
              <a:spcAft>
                <a:spcPts val="300"/>
              </a:spcAft>
            </a:pPr>
            <a:r>
              <a:rPr lang="en-US" sz="900" dirty="0">
                <a:solidFill>
                  <a:srgbClr val="1A2640"/>
                </a:solidFill>
                <a:latin typeface="Calibri" pitchFamily="34" charset="0"/>
                <a:ea typeface="Calibri" pitchFamily="34" charset="-122"/>
                <a:cs typeface="Calibri" pitchFamily="34" charset="-120"/>
              </a:rPr>
              <a:t>Supplier risk management — security questionnaires, contractual security requirements, periodic reviews, supplier risk register</a:t>
            </a:r>
            <a:endParaRPr lang="en-US" sz="900" dirty="0"/>
          </a:p>
        </p:txBody>
      </p:sp>
      <p:sp>
        <p:nvSpPr>
          <p:cNvPr id="44" name="Shape 42"/>
          <p:cNvSpPr/>
          <p:nvPr/>
        </p:nvSpPr>
        <p:spPr>
          <a:xfrm>
            <a:off x="3355848" y="4046220"/>
            <a:ext cx="3611880" cy="699516"/>
          </a:xfrm>
          <a:prstGeom prst="rect">
            <a:avLst/>
          </a:prstGeom>
          <a:solidFill>
            <a:srgbClr val="F6F7FA"/>
          </a:solidFill>
          <a:ln w="12700">
            <a:solidFill>
              <a:srgbClr val="E8EBF0"/>
            </a:solidFill>
            <a:prstDash val="solid"/>
          </a:ln>
        </p:spPr>
      </p:sp>
      <p:sp>
        <p:nvSpPr>
          <p:cNvPr id="45" name="Text 43"/>
          <p:cNvSpPr/>
          <p:nvPr/>
        </p:nvSpPr>
        <p:spPr>
          <a:xfrm>
            <a:off x="3465576" y="4110228"/>
            <a:ext cx="3474720" cy="137160"/>
          </a:xfrm>
          <a:prstGeom prst="rect">
            <a:avLst/>
          </a:prstGeom>
          <a:noFill/>
          <a:ln/>
        </p:spPr>
        <p:txBody>
          <a:bodyPr wrap="square" lIns="0" tIns="0" rIns="0" bIns="0" rtlCol="0" anchor="ctr"/>
          <a:lstStyle/>
          <a:p>
            <a:pPr indent="0" marL="0">
              <a:buNone/>
            </a:pPr>
            <a:r>
              <a:rPr lang="en-US" sz="700" b="1" spc="200" kern="0" dirty="0">
                <a:solidFill>
                  <a:srgbClr val="6B7A96"/>
                </a:solidFill>
                <a:latin typeface="Calibri" pitchFamily="34" charset="0"/>
                <a:ea typeface="Calibri" pitchFamily="34" charset="-122"/>
                <a:cs typeface="Calibri" pitchFamily="34" charset="-120"/>
              </a:rPr>
              <a:t>DELIVERABLES</a:t>
            </a:r>
            <a:endParaRPr lang="en-US" sz="700" dirty="0"/>
          </a:p>
        </p:txBody>
      </p:sp>
      <p:sp>
        <p:nvSpPr>
          <p:cNvPr id="46" name="Text 44"/>
          <p:cNvSpPr/>
          <p:nvPr/>
        </p:nvSpPr>
        <p:spPr>
          <a:xfrm>
            <a:off x="3465576"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DLP active across all channels</a:t>
            </a:r>
            <a:endParaRPr lang="en-US" sz="850" dirty="0"/>
          </a:p>
        </p:txBody>
      </p:sp>
      <p:sp>
        <p:nvSpPr>
          <p:cNvPr id="47" name="Text 45"/>
          <p:cNvSpPr/>
          <p:nvPr/>
        </p:nvSpPr>
        <p:spPr>
          <a:xfrm>
            <a:off x="5216652" y="422910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SCA in deployment pipeline</a:t>
            </a:r>
            <a:endParaRPr lang="en-US" sz="850" dirty="0"/>
          </a:p>
        </p:txBody>
      </p:sp>
      <p:sp>
        <p:nvSpPr>
          <p:cNvPr id="48" name="Text 46"/>
          <p:cNvSpPr/>
          <p:nvPr/>
        </p:nvSpPr>
        <p:spPr>
          <a:xfrm>
            <a:off x="3465576"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BCDR plan tested</a:t>
            </a:r>
            <a:endParaRPr lang="en-US" sz="850" dirty="0"/>
          </a:p>
        </p:txBody>
      </p:sp>
      <p:sp>
        <p:nvSpPr>
          <p:cNvPr id="49" name="Text 47"/>
          <p:cNvSpPr/>
          <p:nvPr/>
        </p:nvSpPr>
        <p:spPr>
          <a:xfrm>
            <a:off x="5216652" y="438912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IRP documented &amp; rehearsed</a:t>
            </a:r>
            <a:endParaRPr lang="en-US" sz="850" dirty="0"/>
          </a:p>
        </p:txBody>
      </p:sp>
      <p:sp>
        <p:nvSpPr>
          <p:cNvPr id="50" name="Text 48"/>
          <p:cNvSpPr/>
          <p:nvPr/>
        </p:nvSpPr>
        <p:spPr>
          <a:xfrm>
            <a:off x="3465576"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Pen test completed</a:t>
            </a:r>
            <a:endParaRPr lang="en-US" sz="850" dirty="0"/>
          </a:p>
        </p:txBody>
      </p:sp>
      <p:sp>
        <p:nvSpPr>
          <p:cNvPr id="51" name="Text 49"/>
          <p:cNvSpPr/>
          <p:nvPr/>
        </p:nvSpPr>
        <p:spPr>
          <a:xfrm>
            <a:off x="5216652" y="4549140"/>
            <a:ext cx="1641348" cy="150876"/>
          </a:xfrm>
          <a:prstGeom prst="rect">
            <a:avLst/>
          </a:prstGeom>
          <a:noFill/>
          <a:ln/>
        </p:spPr>
        <p:txBody>
          <a:bodyPr wrap="square" lIns="0" tIns="0" rIns="0" bIns="0" rtlCol="0" anchor="ctr"/>
          <a:lstStyle/>
          <a:p>
            <a:pPr indent="0" marL="0">
              <a:buNone/>
            </a:pPr>
            <a:r>
              <a:rPr lang="en-US" sz="850" dirty="0">
                <a:solidFill>
                  <a:srgbClr val="1A2640"/>
                </a:solidFill>
                <a:latin typeface="Calibri" pitchFamily="34" charset="0"/>
                <a:ea typeface="Calibri" pitchFamily="34" charset="-122"/>
                <a:cs typeface="Calibri" pitchFamily="34" charset="-120"/>
              </a:rPr>
              <a:t>✓  Security dashboard live</a:t>
            </a:r>
            <a:endParaRPr lang="en-US" sz="850" dirty="0"/>
          </a:p>
        </p:txBody>
      </p:sp>
      <p:sp>
        <p:nvSpPr>
          <p:cNvPr id="52" name="Shape 50"/>
          <p:cNvSpPr/>
          <p:nvPr/>
        </p:nvSpPr>
        <p:spPr>
          <a:xfrm>
            <a:off x="7077456" y="1115568"/>
            <a:ext cx="1737360" cy="3863340"/>
          </a:xfrm>
          <a:prstGeom prst="rect">
            <a:avLst/>
          </a:prstGeom>
          <a:solidFill>
            <a:srgbClr val="F6F7FA"/>
          </a:solidFill>
          <a:ln w="12700">
            <a:solidFill>
              <a:srgbClr val="E8EBF0"/>
            </a:solidFill>
            <a:prstDash val="solid"/>
          </a:ln>
        </p:spPr>
      </p:sp>
      <p:sp>
        <p:nvSpPr>
          <p:cNvPr id="53" name="Shape 51"/>
          <p:cNvSpPr/>
          <p:nvPr/>
        </p:nvSpPr>
        <p:spPr>
          <a:xfrm>
            <a:off x="7168896" y="1298448"/>
            <a:ext cx="822960" cy="20117"/>
          </a:xfrm>
          <a:prstGeom prst="rect">
            <a:avLst/>
          </a:prstGeom>
          <a:solidFill>
            <a:srgbClr val="007D8A"/>
          </a:solidFill>
          <a:ln w="12700">
            <a:solidFill>
              <a:srgbClr val="007D8A"/>
            </a:solidFill>
            <a:prstDash val="solid"/>
          </a:ln>
        </p:spPr>
      </p:sp>
      <p:sp>
        <p:nvSpPr>
          <p:cNvPr id="54" name="Text 52"/>
          <p:cNvSpPr/>
          <p:nvPr/>
        </p:nvSpPr>
        <p:spPr>
          <a:xfrm>
            <a:off x="7168896" y="1170432"/>
            <a:ext cx="1828800" cy="146304"/>
          </a:xfrm>
          <a:prstGeom prst="rect">
            <a:avLst/>
          </a:prstGeom>
          <a:noFill/>
          <a:ln/>
        </p:spPr>
        <p:txBody>
          <a:bodyPr wrap="square" lIns="0" tIns="0" rIns="0" bIns="0" rtlCol="0" anchor="ctr"/>
          <a:lstStyle/>
          <a:p>
            <a:pPr indent="0" marL="0">
              <a:buNone/>
            </a:pPr>
            <a:r>
              <a:rPr lang="en-US" sz="750" b="1" spc="250" kern="0" dirty="0">
                <a:solidFill>
                  <a:srgbClr val="007D8A"/>
                </a:solidFill>
                <a:latin typeface="Calibri" pitchFamily="34" charset="0"/>
                <a:ea typeface="Calibri" pitchFamily="34" charset="-122"/>
                <a:cs typeface="Calibri" pitchFamily="34" charset="-120"/>
              </a:rPr>
              <a:t>ISO CONTROLS</a:t>
            </a:r>
            <a:endParaRPr lang="en-US" sz="750" dirty="0"/>
          </a:p>
        </p:txBody>
      </p:sp>
      <p:sp>
        <p:nvSpPr>
          <p:cNvPr id="55" name="Shape 53"/>
          <p:cNvSpPr/>
          <p:nvPr/>
        </p:nvSpPr>
        <p:spPr>
          <a:xfrm>
            <a:off x="7168896" y="1389888"/>
            <a:ext cx="501091" cy="164592"/>
          </a:xfrm>
          <a:prstGeom prst="roundRect">
            <a:avLst>
              <a:gd name="adj" fmla="val 22222"/>
            </a:avLst>
          </a:prstGeom>
          <a:solidFill>
            <a:srgbClr val="E0F5F7"/>
          </a:solidFill>
          <a:ln w="12700">
            <a:solidFill>
              <a:srgbClr val="B3E8EC"/>
            </a:solidFill>
            <a:prstDash val="solid"/>
          </a:ln>
        </p:spPr>
      </p:sp>
      <p:sp>
        <p:nvSpPr>
          <p:cNvPr id="56" name="Text 54"/>
          <p:cNvSpPr/>
          <p:nvPr/>
        </p:nvSpPr>
        <p:spPr>
          <a:xfrm>
            <a:off x="7168896" y="1389888"/>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A.5.14</a:t>
            </a:r>
            <a:endParaRPr lang="en-US" sz="750" dirty="0"/>
          </a:p>
        </p:txBody>
      </p:sp>
      <p:sp>
        <p:nvSpPr>
          <p:cNvPr id="57" name="Shape 55"/>
          <p:cNvSpPr/>
          <p:nvPr/>
        </p:nvSpPr>
        <p:spPr>
          <a:xfrm>
            <a:off x="7715707" y="1389888"/>
            <a:ext cx="501091" cy="164592"/>
          </a:xfrm>
          <a:prstGeom prst="roundRect">
            <a:avLst>
              <a:gd name="adj" fmla="val 22222"/>
            </a:avLst>
          </a:prstGeom>
          <a:solidFill>
            <a:srgbClr val="E0F5F7"/>
          </a:solidFill>
          <a:ln w="12700">
            <a:solidFill>
              <a:srgbClr val="B3E8EC"/>
            </a:solidFill>
            <a:prstDash val="solid"/>
          </a:ln>
        </p:spPr>
      </p:sp>
      <p:sp>
        <p:nvSpPr>
          <p:cNvPr id="58" name="Text 56"/>
          <p:cNvSpPr/>
          <p:nvPr/>
        </p:nvSpPr>
        <p:spPr>
          <a:xfrm>
            <a:off x="7715707" y="1389888"/>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A.5.19</a:t>
            </a:r>
            <a:endParaRPr lang="en-US" sz="750" dirty="0"/>
          </a:p>
        </p:txBody>
      </p:sp>
      <p:sp>
        <p:nvSpPr>
          <p:cNvPr id="59" name="Shape 57"/>
          <p:cNvSpPr/>
          <p:nvPr/>
        </p:nvSpPr>
        <p:spPr>
          <a:xfrm>
            <a:off x="8262518" y="1389888"/>
            <a:ext cx="501091" cy="164592"/>
          </a:xfrm>
          <a:prstGeom prst="roundRect">
            <a:avLst>
              <a:gd name="adj" fmla="val 22222"/>
            </a:avLst>
          </a:prstGeom>
          <a:solidFill>
            <a:srgbClr val="E0F5F7"/>
          </a:solidFill>
          <a:ln w="12700">
            <a:solidFill>
              <a:srgbClr val="B3E8EC"/>
            </a:solidFill>
            <a:prstDash val="solid"/>
          </a:ln>
        </p:spPr>
      </p:sp>
      <p:sp>
        <p:nvSpPr>
          <p:cNvPr id="60" name="Text 58"/>
          <p:cNvSpPr/>
          <p:nvPr/>
        </p:nvSpPr>
        <p:spPr>
          <a:xfrm>
            <a:off x="8262518" y="1389888"/>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A.5.23</a:t>
            </a:r>
            <a:endParaRPr lang="en-US" sz="750" dirty="0"/>
          </a:p>
        </p:txBody>
      </p:sp>
      <p:sp>
        <p:nvSpPr>
          <p:cNvPr id="61" name="Shape 59"/>
          <p:cNvSpPr/>
          <p:nvPr/>
        </p:nvSpPr>
        <p:spPr>
          <a:xfrm>
            <a:off x="7168896" y="1591056"/>
            <a:ext cx="501091" cy="164592"/>
          </a:xfrm>
          <a:prstGeom prst="roundRect">
            <a:avLst>
              <a:gd name="adj" fmla="val 22222"/>
            </a:avLst>
          </a:prstGeom>
          <a:solidFill>
            <a:srgbClr val="E0F5F7"/>
          </a:solidFill>
          <a:ln w="12700">
            <a:solidFill>
              <a:srgbClr val="B3E8EC"/>
            </a:solidFill>
            <a:prstDash val="solid"/>
          </a:ln>
        </p:spPr>
      </p:sp>
      <p:sp>
        <p:nvSpPr>
          <p:cNvPr id="62" name="Text 60"/>
          <p:cNvSpPr/>
          <p:nvPr/>
        </p:nvSpPr>
        <p:spPr>
          <a:xfrm>
            <a:off x="7168896" y="1591056"/>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A.5.24</a:t>
            </a:r>
            <a:endParaRPr lang="en-US" sz="750" dirty="0"/>
          </a:p>
        </p:txBody>
      </p:sp>
      <p:sp>
        <p:nvSpPr>
          <p:cNvPr id="63" name="Shape 61"/>
          <p:cNvSpPr/>
          <p:nvPr/>
        </p:nvSpPr>
        <p:spPr>
          <a:xfrm>
            <a:off x="7715707" y="1591056"/>
            <a:ext cx="501091" cy="164592"/>
          </a:xfrm>
          <a:prstGeom prst="roundRect">
            <a:avLst>
              <a:gd name="adj" fmla="val 22222"/>
            </a:avLst>
          </a:prstGeom>
          <a:solidFill>
            <a:srgbClr val="E0F5F7"/>
          </a:solidFill>
          <a:ln w="12700">
            <a:solidFill>
              <a:srgbClr val="B3E8EC"/>
            </a:solidFill>
            <a:prstDash val="solid"/>
          </a:ln>
        </p:spPr>
      </p:sp>
      <p:sp>
        <p:nvSpPr>
          <p:cNvPr id="64" name="Text 62"/>
          <p:cNvSpPr/>
          <p:nvPr/>
        </p:nvSpPr>
        <p:spPr>
          <a:xfrm>
            <a:off x="7715707" y="1591056"/>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A.5.25</a:t>
            </a:r>
            <a:endParaRPr lang="en-US" sz="750" dirty="0"/>
          </a:p>
        </p:txBody>
      </p:sp>
      <p:sp>
        <p:nvSpPr>
          <p:cNvPr id="65" name="Shape 63"/>
          <p:cNvSpPr/>
          <p:nvPr/>
        </p:nvSpPr>
        <p:spPr>
          <a:xfrm>
            <a:off x="8262518" y="1591056"/>
            <a:ext cx="501091" cy="164592"/>
          </a:xfrm>
          <a:prstGeom prst="roundRect">
            <a:avLst>
              <a:gd name="adj" fmla="val 22222"/>
            </a:avLst>
          </a:prstGeom>
          <a:solidFill>
            <a:srgbClr val="E0F5F7"/>
          </a:solidFill>
          <a:ln w="12700">
            <a:solidFill>
              <a:srgbClr val="B3E8EC"/>
            </a:solidFill>
            <a:prstDash val="solid"/>
          </a:ln>
        </p:spPr>
      </p:sp>
      <p:sp>
        <p:nvSpPr>
          <p:cNvPr id="66" name="Text 64"/>
          <p:cNvSpPr/>
          <p:nvPr/>
        </p:nvSpPr>
        <p:spPr>
          <a:xfrm>
            <a:off x="8262518" y="1591056"/>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A.5.29</a:t>
            </a:r>
            <a:endParaRPr lang="en-US" sz="750" dirty="0"/>
          </a:p>
        </p:txBody>
      </p:sp>
      <p:sp>
        <p:nvSpPr>
          <p:cNvPr id="67" name="Shape 65"/>
          <p:cNvSpPr/>
          <p:nvPr/>
        </p:nvSpPr>
        <p:spPr>
          <a:xfrm>
            <a:off x="7168896" y="1792224"/>
            <a:ext cx="501091" cy="164592"/>
          </a:xfrm>
          <a:prstGeom prst="roundRect">
            <a:avLst>
              <a:gd name="adj" fmla="val 22222"/>
            </a:avLst>
          </a:prstGeom>
          <a:solidFill>
            <a:srgbClr val="E0F5F7"/>
          </a:solidFill>
          <a:ln w="12700">
            <a:solidFill>
              <a:srgbClr val="B3E8EC"/>
            </a:solidFill>
            <a:prstDash val="solid"/>
          </a:ln>
        </p:spPr>
      </p:sp>
      <p:sp>
        <p:nvSpPr>
          <p:cNvPr id="68" name="Text 66"/>
          <p:cNvSpPr/>
          <p:nvPr/>
        </p:nvSpPr>
        <p:spPr>
          <a:xfrm>
            <a:off x="7168896"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A.5.30</a:t>
            </a:r>
            <a:endParaRPr lang="en-US" sz="750" dirty="0"/>
          </a:p>
        </p:txBody>
      </p:sp>
      <p:sp>
        <p:nvSpPr>
          <p:cNvPr id="69" name="Shape 67"/>
          <p:cNvSpPr/>
          <p:nvPr/>
        </p:nvSpPr>
        <p:spPr>
          <a:xfrm>
            <a:off x="7715707" y="1792224"/>
            <a:ext cx="501091" cy="164592"/>
          </a:xfrm>
          <a:prstGeom prst="roundRect">
            <a:avLst>
              <a:gd name="adj" fmla="val 22222"/>
            </a:avLst>
          </a:prstGeom>
          <a:solidFill>
            <a:srgbClr val="E0F5F7"/>
          </a:solidFill>
          <a:ln w="12700">
            <a:solidFill>
              <a:srgbClr val="B3E8EC"/>
            </a:solidFill>
            <a:prstDash val="solid"/>
          </a:ln>
        </p:spPr>
      </p:sp>
      <p:sp>
        <p:nvSpPr>
          <p:cNvPr id="70" name="Text 68"/>
          <p:cNvSpPr/>
          <p:nvPr/>
        </p:nvSpPr>
        <p:spPr>
          <a:xfrm>
            <a:off x="7715707"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A.5.35</a:t>
            </a:r>
            <a:endParaRPr lang="en-US" sz="750" dirty="0"/>
          </a:p>
        </p:txBody>
      </p:sp>
      <p:sp>
        <p:nvSpPr>
          <p:cNvPr id="71" name="Shape 69"/>
          <p:cNvSpPr/>
          <p:nvPr/>
        </p:nvSpPr>
        <p:spPr>
          <a:xfrm>
            <a:off x="8262518" y="1792224"/>
            <a:ext cx="501091" cy="164592"/>
          </a:xfrm>
          <a:prstGeom prst="roundRect">
            <a:avLst>
              <a:gd name="adj" fmla="val 22222"/>
            </a:avLst>
          </a:prstGeom>
          <a:solidFill>
            <a:srgbClr val="E0F5F7"/>
          </a:solidFill>
          <a:ln w="12700">
            <a:solidFill>
              <a:srgbClr val="B3E8EC"/>
            </a:solidFill>
            <a:prstDash val="solid"/>
          </a:ln>
        </p:spPr>
      </p:sp>
      <p:sp>
        <p:nvSpPr>
          <p:cNvPr id="72" name="Text 70"/>
          <p:cNvSpPr/>
          <p:nvPr/>
        </p:nvSpPr>
        <p:spPr>
          <a:xfrm>
            <a:off x="8262518" y="1792224"/>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A.5.36</a:t>
            </a:r>
            <a:endParaRPr lang="en-US" sz="750" dirty="0"/>
          </a:p>
        </p:txBody>
      </p:sp>
      <p:sp>
        <p:nvSpPr>
          <p:cNvPr id="73" name="Shape 71"/>
          <p:cNvSpPr/>
          <p:nvPr/>
        </p:nvSpPr>
        <p:spPr>
          <a:xfrm>
            <a:off x="7168896" y="1993392"/>
            <a:ext cx="501091" cy="164592"/>
          </a:xfrm>
          <a:prstGeom prst="roundRect">
            <a:avLst>
              <a:gd name="adj" fmla="val 22222"/>
            </a:avLst>
          </a:prstGeom>
          <a:solidFill>
            <a:srgbClr val="E0F5F7"/>
          </a:solidFill>
          <a:ln w="12700">
            <a:solidFill>
              <a:srgbClr val="B3E8EC"/>
            </a:solidFill>
            <a:prstDash val="solid"/>
          </a:ln>
        </p:spPr>
      </p:sp>
      <p:sp>
        <p:nvSpPr>
          <p:cNvPr id="74" name="Text 72"/>
          <p:cNvSpPr/>
          <p:nvPr/>
        </p:nvSpPr>
        <p:spPr>
          <a:xfrm>
            <a:off x="7168896"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A.8.10</a:t>
            </a:r>
            <a:endParaRPr lang="en-US" sz="750" dirty="0"/>
          </a:p>
        </p:txBody>
      </p:sp>
      <p:sp>
        <p:nvSpPr>
          <p:cNvPr id="75" name="Shape 73"/>
          <p:cNvSpPr/>
          <p:nvPr/>
        </p:nvSpPr>
        <p:spPr>
          <a:xfrm>
            <a:off x="7715707" y="1993392"/>
            <a:ext cx="501091" cy="164592"/>
          </a:xfrm>
          <a:prstGeom prst="roundRect">
            <a:avLst>
              <a:gd name="adj" fmla="val 22222"/>
            </a:avLst>
          </a:prstGeom>
          <a:solidFill>
            <a:srgbClr val="E0F5F7"/>
          </a:solidFill>
          <a:ln w="12700">
            <a:solidFill>
              <a:srgbClr val="B3E8EC"/>
            </a:solidFill>
            <a:prstDash val="solid"/>
          </a:ln>
        </p:spPr>
      </p:sp>
      <p:sp>
        <p:nvSpPr>
          <p:cNvPr id="76" name="Text 74"/>
          <p:cNvSpPr/>
          <p:nvPr/>
        </p:nvSpPr>
        <p:spPr>
          <a:xfrm>
            <a:off x="7715707"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A.8.12</a:t>
            </a:r>
            <a:endParaRPr lang="en-US" sz="750" dirty="0"/>
          </a:p>
        </p:txBody>
      </p:sp>
      <p:sp>
        <p:nvSpPr>
          <p:cNvPr id="77" name="Shape 75"/>
          <p:cNvSpPr/>
          <p:nvPr/>
        </p:nvSpPr>
        <p:spPr>
          <a:xfrm>
            <a:off x="8262518" y="1993392"/>
            <a:ext cx="501091" cy="164592"/>
          </a:xfrm>
          <a:prstGeom prst="roundRect">
            <a:avLst>
              <a:gd name="adj" fmla="val 22222"/>
            </a:avLst>
          </a:prstGeom>
          <a:solidFill>
            <a:srgbClr val="E0F5F7"/>
          </a:solidFill>
          <a:ln w="12700">
            <a:solidFill>
              <a:srgbClr val="B3E8EC"/>
            </a:solidFill>
            <a:prstDash val="solid"/>
          </a:ln>
        </p:spPr>
      </p:sp>
      <p:sp>
        <p:nvSpPr>
          <p:cNvPr id="78" name="Text 76"/>
          <p:cNvSpPr/>
          <p:nvPr/>
        </p:nvSpPr>
        <p:spPr>
          <a:xfrm>
            <a:off x="8262518" y="1993392"/>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A.8.13</a:t>
            </a:r>
            <a:endParaRPr lang="en-US" sz="750" dirty="0"/>
          </a:p>
        </p:txBody>
      </p:sp>
      <p:sp>
        <p:nvSpPr>
          <p:cNvPr id="79" name="Shape 77"/>
          <p:cNvSpPr/>
          <p:nvPr/>
        </p:nvSpPr>
        <p:spPr>
          <a:xfrm>
            <a:off x="7168896" y="2194560"/>
            <a:ext cx="501091" cy="164592"/>
          </a:xfrm>
          <a:prstGeom prst="roundRect">
            <a:avLst>
              <a:gd name="adj" fmla="val 22222"/>
            </a:avLst>
          </a:prstGeom>
          <a:solidFill>
            <a:srgbClr val="E0F5F7"/>
          </a:solidFill>
          <a:ln w="12700">
            <a:solidFill>
              <a:srgbClr val="B3E8EC"/>
            </a:solidFill>
            <a:prstDash val="solid"/>
          </a:ln>
        </p:spPr>
      </p:sp>
      <p:sp>
        <p:nvSpPr>
          <p:cNvPr id="80" name="Text 78"/>
          <p:cNvSpPr/>
          <p:nvPr/>
        </p:nvSpPr>
        <p:spPr>
          <a:xfrm>
            <a:off x="7168896" y="2194560"/>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A.8.25</a:t>
            </a:r>
            <a:endParaRPr lang="en-US" sz="750" dirty="0"/>
          </a:p>
        </p:txBody>
      </p:sp>
      <p:sp>
        <p:nvSpPr>
          <p:cNvPr id="81" name="Shape 79"/>
          <p:cNvSpPr/>
          <p:nvPr/>
        </p:nvSpPr>
        <p:spPr>
          <a:xfrm>
            <a:off x="7715707" y="2194560"/>
            <a:ext cx="501091" cy="164592"/>
          </a:xfrm>
          <a:prstGeom prst="roundRect">
            <a:avLst>
              <a:gd name="adj" fmla="val 22222"/>
            </a:avLst>
          </a:prstGeom>
          <a:solidFill>
            <a:srgbClr val="E0F5F7"/>
          </a:solidFill>
          <a:ln w="12700">
            <a:solidFill>
              <a:srgbClr val="B3E8EC"/>
            </a:solidFill>
            <a:prstDash val="solid"/>
          </a:ln>
        </p:spPr>
      </p:sp>
      <p:sp>
        <p:nvSpPr>
          <p:cNvPr id="82" name="Text 80"/>
          <p:cNvSpPr/>
          <p:nvPr/>
        </p:nvSpPr>
        <p:spPr>
          <a:xfrm>
            <a:off x="7715707" y="2194560"/>
            <a:ext cx="501091" cy="164592"/>
          </a:xfrm>
          <a:prstGeom prst="rect">
            <a:avLst/>
          </a:prstGeom>
          <a:noFill/>
          <a:ln/>
        </p:spPr>
        <p:txBody>
          <a:bodyPr wrap="square" lIns="0" tIns="0" rIns="0" bIns="0" rtlCol="0" anchor="ctr"/>
          <a:lstStyle/>
          <a:p>
            <a:pPr algn="ctr" indent="0" marL="0">
              <a:buNone/>
            </a:pPr>
            <a:r>
              <a:rPr lang="en-US" sz="750" b="1" dirty="0">
                <a:solidFill>
                  <a:srgbClr val="007D8A"/>
                </a:solidFill>
                <a:latin typeface="Calibri" pitchFamily="34" charset="0"/>
                <a:ea typeface="Calibri" pitchFamily="34" charset="-122"/>
                <a:cs typeface="Calibri" pitchFamily="34" charset="-120"/>
              </a:rPr>
              <a:t>A.8.29</a:t>
            </a:r>
            <a:endParaRPr lang="en-US" sz="750" dirty="0"/>
          </a:p>
        </p:txBody>
      </p:sp>
      <p:sp>
        <p:nvSpPr>
          <p:cNvPr id="83" name="Shape 81"/>
          <p:cNvSpPr/>
          <p:nvPr/>
        </p:nvSpPr>
        <p:spPr>
          <a:xfrm>
            <a:off x="0" y="5093208"/>
            <a:ext cx="9144000" cy="50292"/>
          </a:xfrm>
          <a:prstGeom prst="rect">
            <a:avLst/>
          </a:prstGeom>
          <a:solidFill>
            <a:srgbClr val="E8A01E"/>
          </a:solidFill>
          <a:ln w="12700">
            <a:solidFill>
              <a:srgbClr val="E8A01E"/>
            </a:solidFill>
            <a:prstDash val="solid"/>
          </a:ln>
        </p:spPr>
      </p:sp>
      <p:sp>
        <p:nvSpPr>
          <p:cNvPr id="84" name="Shape 82"/>
          <p:cNvSpPr/>
          <p:nvPr/>
        </p:nvSpPr>
        <p:spPr>
          <a:xfrm>
            <a:off x="8503920" y="4549140"/>
            <a:ext cx="384048" cy="384048"/>
          </a:xfrm>
          <a:prstGeom prst="ellipse">
            <a:avLst/>
          </a:prstGeom>
          <a:solidFill>
            <a:srgbClr val="E8EBF0"/>
          </a:solidFill>
          <a:ln w="12700">
            <a:solidFill>
              <a:srgbClr val="B0B8C8"/>
            </a:solidFill>
            <a:prstDash val="solid"/>
          </a:ln>
        </p:spPr>
      </p:sp>
      <p:sp>
        <p:nvSpPr>
          <p:cNvPr id="85" name="Text 83"/>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86" name="Text 84"/>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C35"/>
          </a:solidFill>
          <a:ln w="12700">
            <a:solidFill>
              <a:srgbClr val="0F1C35"/>
            </a:solidFill>
            <a:prstDash val="solid"/>
          </a:ln>
        </p:spPr>
      </p:sp>
      <p:sp>
        <p:nvSpPr>
          <p:cNvPr id="3" name="Text 1"/>
          <p:cNvSpPr/>
          <p:nvPr/>
        </p:nvSpPr>
        <p:spPr>
          <a:xfrm>
            <a:off x="457200" y="137160"/>
            <a:ext cx="8686800" cy="201168"/>
          </a:xfrm>
          <a:prstGeom prst="rect">
            <a:avLst/>
          </a:prstGeom>
          <a:noFill/>
          <a:ln/>
        </p:spPr>
        <p:txBody>
          <a:bodyPr wrap="square" lIns="0" tIns="0" rIns="0" bIns="0" rtlCol="0" anchor="ctr"/>
          <a:lstStyle/>
          <a:p>
            <a:pPr indent="0" marL="0">
              <a:buNone/>
            </a:pPr>
            <a:r>
              <a:rPr lang="en-US" sz="850" b="1" spc="350" kern="0" dirty="0">
                <a:solidFill>
                  <a:srgbClr val="00A5B5"/>
                </a:solidFill>
                <a:latin typeface="Calibri" pitchFamily="34" charset="0"/>
                <a:ea typeface="Calibri" pitchFamily="34" charset="-122"/>
                <a:cs typeface="Calibri" pitchFamily="34" charset="-120"/>
              </a:rPr>
              <a:t>EXPECTED OUTCOMES · BY SEP 2027</a:t>
            </a:r>
            <a:endParaRPr lang="en-US" sz="850" dirty="0"/>
          </a:p>
        </p:txBody>
      </p:sp>
      <p:sp>
        <p:nvSpPr>
          <p:cNvPr id="4" name="Text 2"/>
          <p:cNvSpPr/>
          <p:nvPr/>
        </p:nvSpPr>
        <p:spPr>
          <a:xfrm>
            <a:off x="457200" y="347472"/>
            <a:ext cx="8412480" cy="56692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By completing all four phases, FleetPartners will transform from a reactive security posture to a defensible, audit-ready ISO 27001:2022 organisation</a:t>
            </a:r>
            <a:endParaRPr lang="en-US" sz="1700" dirty="0"/>
          </a:p>
        </p:txBody>
      </p:sp>
      <p:sp>
        <p:nvSpPr>
          <p:cNvPr id="5" name="Shape 3"/>
          <p:cNvSpPr/>
          <p:nvPr/>
        </p:nvSpPr>
        <p:spPr>
          <a:xfrm>
            <a:off x="457200" y="1115568"/>
            <a:ext cx="2926080" cy="3817620"/>
          </a:xfrm>
          <a:prstGeom prst="rect">
            <a:avLst/>
          </a:prstGeom>
          <a:solidFill>
            <a:srgbClr val="FDF3F2"/>
          </a:solidFill>
          <a:ln w="12700">
            <a:solidFill>
              <a:srgbClr val="F5C5BF"/>
            </a:solidFill>
            <a:prstDash val="solid"/>
          </a:ln>
        </p:spPr>
      </p:sp>
      <p:sp>
        <p:nvSpPr>
          <p:cNvPr id="6" name="Text 4"/>
          <p:cNvSpPr/>
          <p:nvPr/>
        </p:nvSpPr>
        <p:spPr>
          <a:xfrm>
            <a:off x="566928" y="1207008"/>
            <a:ext cx="2788920" cy="182880"/>
          </a:xfrm>
          <a:prstGeom prst="rect">
            <a:avLst/>
          </a:prstGeom>
          <a:noFill/>
          <a:ln/>
        </p:spPr>
        <p:txBody>
          <a:bodyPr wrap="square" lIns="0" tIns="0" rIns="0" bIns="0" rtlCol="0" anchor="ctr"/>
          <a:lstStyle/>
          <a:p>
            <a:pPr indent="0" marL="0">
              <a:buNone/>
            </a:pPr>
            <a:r>
              <a:rPr lang="en-US" sz="800" b="1" spc="200" kern="0" dirty="0">
                <a:solidFill>
                  <a:srgbClr val="D94F3D"/>
                </a:solidFill>
                <a:latin typeface="Calibri" pitchFamily="34" charset="0"/>
                <a:ea typeface="Calibri" pitchFamily="34" charset="-122"/>
                <a:cs typeface="Calibri" pitchFamily="34" charset="-120"/>
              </a:rPr>
              <a:t>CURRENT STATE</a:t>
            </a:r>
            <a:endParaRPr lang="en-US" sz="800" dirty="0"/>
          </a:p>
        </p:txBody>
      </p:sp>
      <p:sp>
        <p:nvSpPr>
          <p:cNvPr id="7" name="Text 5"/>
          <p:cNvSpPr/>
          <p:nvPr/>
        </p:nvSpPr>
        <p:spPr>
          <a:xfrm>
            <a:off x="566928" y="1444752"/>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Essential 8 Maturity: 0.95 / 3.0</a:t>
            </a:r>
            <a:endParaRPr lang="en-US" sz="950" dirty="0"/>
          </a:p>
        </p:txBody>
      </p:sp>
      <p:sp>
        <p:nvSpPr>
          <p:cNvPr id="8" name="Text 6"/>
          <p:cNvSpPr/>
          <p:nvPr/>
        </p:nvSpPr>
        <p:spPr>
          <a:xfrm>
            <a:off x="566928" y="1737360"/>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ISO 27001 gaps: 22+ controls</a:t>
            </a:r>
            <a:endParaRPr lang="en-US" sz="950" dirty="0"/>
          </a:p>
        </p:txBody>
      </p:sp>
      <p:sp>
        <p:nvSpPr>
          <p:cNvPr id="9" name="Text 7"/>
          <p:cNvSpPr/>
          <p:nvPr/>
        </p:nvSpPr>
        <p:spPr>
          <a:xfrm>
            <a:off x="566928" y="2029968"/>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Risk Register: dormant since 2019</a:t>
            </a:r>
            <a:endParaRPr lang="en-US" sz="950" dirty="0"/>
          </a:p>
        </p:txBody>
      </p:sp>
      <p:sp>
        <p:nvSpPr>
          <p:cNvPr id="10" name="Text 8"/>
          <p:cNvSpPr/>
          <p:nvPr/>
        </p:nvSpPr>
        <p:spPr>
          <a:xfrm>
            <a:off x="566928" y="2322576"/>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Privileged access: uncontrolled</a:t>
            </a:r>
            <a:endParaRPr lang="en-US" sz="950" dirty="0"/>
          </a:p>
        </p:txBody>
      </p:sp>
      <p:sp>
        <p:nvSpPr>
          <p:cNvPr id="11" name="Text 9"/>
          <p:cNvSpPr/>
          <p:nvPr/>
        </p:nvSpPr>
        <p:spPr>
          <a:xfrm>
            <a:off x="566928" y="2615184"/>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Detection capability: none</a:t>
            </a:r>
            <a:endParaRPr lang="en-US" sz="950" dirty="0"/>
          </a:p>
        </p:txBody>
      </p:sp>
      <p:sp>
        <p:nvSpPr>
          <p:cNvPr id="12" name="Text 10"/>
          <p:cNvSpPr/>
          <p:nvPr/>
        </p:nvSpPr>
        <p:spPr>
          <a:xfrm>
            <a:off x="566928" y="2907792"/>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Data exfiltration visibility: zero</a:t>
            </a:r>
            <a:endParaRPr lang="en-US" sz="950" dirty="0"/>
          </a:p>
        </p:txBody>
      </p:sp>
      <p:sp>
        <p:nvSpPr>
          <p:cNvPr id="13" name="Text 11"/>
          <p:cNvSpPr/>
          <p:nvPr/>
        </p:nvSpPr>
        <p:spPr>
          <a:xfrm>
            <a:off x="566928" y="3200400"/>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Remote access logging: absent</a:t>
            </a:r>
            <a:endParaRPr lang="en-US" sz="950" dirty="0"/>
          </a:p>
        </p:txBody>
      </p:sp>
      <p:sp>
        <p:nvSpPr>
          <p:cNvPr id="14" name="Text 12"/>
          <p:cNvSpPr/>
          <p:nvPr/>
        </p:nvSpPr>
        <p:spPr>
          <a:xfrm>
            <a:off x="566928" y="3493008"/>
            <a:ext cx="2761488" cy="256032"/>
          </a:xfrm>
          <a:prstGeom prst="rect">
            <a:avLst/>
          </a:prstGeom>
          <a:noFill/>
          <a:ln/>
        </p:spPr>
        <p:txBody>
          <a:bodyPr wrap="square" lIns="0" tIns="0" rIns="0" bIns="0" rtlCol="0" anchor="ctr"/>
          <a:lstStyle/>
          <a:p>
            <a:pPr indent="0" marL="0">
              <a:buNone/>
            </a:pPr>
            <a:r>
              <a:rPr lang="en-US" sz="950" dirty="0">
                <a:solidFill>
                  <a:srgbClr val="8B2020"/>
                </a:solidFill>
                <a:latin typeface="Calibri" pitchFamily="34" charset="0"/>
                <a:ea typeface="Calibri" pitchFamily="34" charset="-122"/>
                <a:cs typeface="Calibri" pitchFamily="34" charset="-120"/>
              </a:rPr>
              <a:t>✗  Customer compliance evidence: unable to provide</a:t>
            </a:r>
            <a:endParaRPr lang="en-US" sz="950" dirty="0"/>
          </a:p>
        </p:txBody>
      </p:sp>
      <p:sp>
        <p:nvSpPr>
          <p:cNvPr id="15" name="Text 13"/>
          <p:cNvSpPr/>
          <p:nvPr/>
        </p:nvSpPr>
        <p:spPr>
          <a:xfrm>
            <a:off x="3410712" y="2841498"/>
            <a:ext cx="228600" cy="365760"/>
          </a:xfrm>
          <a:prstGeom prst="rect">
            <a:avLst/>
          </a:prstGeom>
          <a:noFill/>
          <a:ln/>
        </p:spPr>
        <p:txBody>
          <a:bodyPr wrap="square" lIns="0" tIns="0" rIns="0" bIns="0" rtlCol="0" anchor="ctr"/>
          <a:lstStyle/>
          <a:p>
            <a:pPr algn="ctr" indent="0" marL="0">
              <a:buNone/>
            </a:pPr>
            <a:r>
              <a:rPr lang="en-US" sz="2200" b="1" dirty="0">
                <a:solidFill>
                  <a:srgbClr val="00A5B5"/>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3611880" y="1115568"/>
            <a:ext cx="2926080" cy="3817620"/>
          </a:xfrm>
          <a:prstGeom prst="rect">
            <a:avLst/>
          </a:prstGeom>
          <a:solidFill>
            <a:srgbClr val="E6F4EC"/>
          </a:solidFill>
          <a:ln w="12700">
            <a:solidFill>
              <a:srgbClr val="A3D9B8"/>
            </a:solidFill>
            <a:prstDash val="solid"/>
          </a:ln>
        </p:spPr>
      </p:sp>
      <p:sp>
        <p:nvSpPr>
          <p:cNvPr id="17" name="Text 15"/>
          <p:cNvSpPr/>
          <p:nvPr/>
        </p:nvSpPr>
        <p:spPr>
          <a:xfrm>
            <a:off x="3721608" y="1207008"/>
            <a:ext cx="2788920" cy="182880"/>
          </a:xfrm>
          <a:prstGeom prst="rect">
            <a:avLst/>
          </a:prstGeom>
          <a:noFill/>
          <a:ln/>
        </p:spPr>
        <p:txBody>
          <a:bodyPr wrap="square" lIns="0" tIns="0" rIns="0" bIns="0" rtlCol="0" anchor="ctr"/>
          <a:lstStyle/>
          <a:p>
            <a:pPr indent="0" marL="0">
              <a:buNone/>
            </a:pPr>
            <a:r>
              <a:rPr lang="en-US" sz="800" b="1" spc="200" kern="0" dirty="0">
                <a:solidFill>
                  <a:srgbClr val="2E8B57"/>
                </a:solidFill>
                <a:latin typeface="Calibri" pitchFamily="34" charset="0"/>
                <a:ea typeface="Calibri" pitchFamily="34" charset="-122"/>
                <a:cs typeface="Calibri" pitchFamily="34" charset="-120"/>
              </a:rPr>
              <a:t>FY27 TARGET STATE</a:t>
            </a:r>
            <a:endParaRPr lang="en-US" sz="800" dirty="0"/>
          </a:p>
        </p:txBody>
      </p:sp>
      <p:sp>
        <p:nvSpPr>
          <p:cNvPr id="18" name="Text 16"/>
          <p:cNvSpPr/>
          <p:nvPr/>
        </p:nvSpPr>
        <p:spPr>
          <a:xfrm>
            <a:off x="3721608" y="1444752"/>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Essential 8 Maturity: Target 2.0+</a:t>
            </a:r>
            <a:endParaRPr lang="en-US" sz="950" dirty="0"/>
          </a:p>
        </p:txBody>
      </p:sp>
      <p:sp>
        <p:nvSpPr>
          <p:cNvPr id="19" name="Text 17"/>
          <p:cNvSpPr/>
          <p:nvPr/>
        </p:nvSpPr>
        <p:spPr>
          <a:xfrm>
            <a:off x="3721608" y="1737360"/>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ISO 27001 gaps: remediated</a:t>
            </a:r>
            <a:endParaRPr lang="en-US" sz="950" dirty="0"/>
          </a:p>
        </p:txBody>
      </p:sp>
      <p:sp>
        <p:nvSpPr>
          <p:cNvPr id="20" name="Text 18"/>
          <p:cNvSpPr/>
          <p:nvPr/>
        </p:nvSpPr>
        <p:spPr>
          <a:xfrm>
            <a:off x="3721608" y="2029968"/>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Risk Register: active, reported monthly</a:t>
            </a:r>
            <a:endParaRPr lang="en-US" sz="950" dirty="0"/>
          </a:p>
        </p:txBody>
      </p:sp>
      <p:sp>
        <p:nvSpPr>
          <p:cNvPr id="21" name="Text 19"/>
          <p:cNvSpPr/>
          <p:nvPr/>
        </p:nvSpPr>
        <p:spPr>
          <a:xfrm>
            <a:off x="3721608" y="2322576"/>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Privileged access: vaulted, audited, recorded</a:t>
            </a:r>
            <a:endParaRPr lang="en-US" sz="950" dirty="0"/>
          </a:p>
        </p:txBody>
      </p:sp>
      <p:sp>
        <p:nvSpPr>
          <p:cNvPr id="22" name="Text 20"/>
          <p:cNvSpPr/>
          <p:nvPr/>
        </p:nvSpPr>
        <p:spPr>
          <a:xfrm>
            <a:off x="3721608" y="2615184"/>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Detection: SIEM live with 24/7 alerting</a:t>
            </a:r>
            <a:endParaRPr lang="en-US" sz="950" dirty="0"/>
          </a:p>
        </p:txBody>
      </p:sp>
      <p:sp>
        <p:nvSpPr>
          <p:cNvPr id="23" name="Text 21"/>
          <p:cNvSpPr/>
          <p:nvPr/>
        </p:nvSpPr>
        <p:spPr>
          <a:xfrm>
            <a:off x="3721608" y="2907792"/>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DLP: endpoint, network &amp; cloud covered</a:t>
            </a:r>
            <a:endParaRPr lang="en-US" sz="950" dirty="0"/>
          </a:p>
        </p:txBody>
      </p:sp>
      <p:sp>
        <p:nvSpPr>
          <p:cNvPr id="24" name="Text 22"/>
          <p:cNvSpPr/>
          <p:nvPr/>
        </p:nvSpPr>
        <p:spPr>
          <a:xfrm>
            <a:off x="3721608" y="3200400"/>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Remote access: 100% via audited Jumphost</a:t>
            </a:r>
            <a:endParaRPr lang="en-US" sz="950" dirty="0"/>
          </a:p>
        </p:txBody>
      </p:sp>
      <p:sp>
        <p:nvSpPr>
          <p:cNvPr id="25" name="Text 23"/>
          <p:cNvSpPr/>
          <p:nvPr/>
        </p:nvSpPr>
        <p:spPr>
          <a:xfrm>
            <a:off x="3721608" y="3493008"/>
            <a:ext cx="2761488" cy="256032"/>
          </a:xfrm>
          <a:prstGeom prst="rect">
            <a:avLst/>
          </a:prstGeom>
          <a:noFill/>
          <a:ln/>
        </p:spPr>
        <p:txBody>
          <a:bodyPr wrap="square" lIns="0" tIns="0" rIns="0" bIns="0" rtlCol="0" anchor="ctr"/>
          <a:lstStyle/>
          <a:p>
            <a:pPr indent="0" marL="0">
              <a:buNone/>
            </a:pPr>
            <a:r>
              <a:rPr lang="en-US" sz="950" dirty="0">
                <a:solidFill>
                  <a:srgbClr val="1A5C38"/>
                </a:solidFill>
                <a:latin typeface="Calibri" pitchFamily="34" charset="0"/>
                <a:ea typeface="Calibri" pitchFamily="34" charset="-122"/>
                <a:cs typeface="Calibri" pitchFamily="34" charset="-120"/>
              </a:rPr>
              <a:t>✓  Customer compliance: full evidence pack ready</a:t>
            </a:r>
            <a:endParaRPr lang="en-US" sz="950" dirty="0"/>
          </a:p>
        </p:txBody>
      </p:sp>
      <p:sp>
        <p:nvSpPr>
          <p:cNvPr id="26" name="Shape 24"/>
          <p:cNvSpPr/>
          <p:nvPr/>
        </p:nvSpPr>
        <p:spPr>
          <a:xfrm>
            <a:off x="6766560" y="1115568"/>
            <a:ext cx="1965960" cy="3817620"/>
          </a:xfrm>
          <a:prstGeom prst="rect">
            <a:avLst/>
          </a:prstGeom>
          <a:solidFill>
            <a:srgbClr val="0F1C35"/>
          </a:solidFill>
          <a:ln w="12700">
            <a:solidFill>
              <a:srgbClr val="0F1C35"/>
            </a:solidFill>
            <a:prstDash val="solid"/>
          </a:ln>
        </p:spPr>
      </p:sp>
      <p:sp>
        <p:nvSpPr>
          <p:cNvPr id="27" name="Text 25"/>
          <p:cNvSpPr/>
          <p:nvPr/>
        </p:nvSpPr>
        <p:spPr>
          <a:xfrm>
            <a:off x="6876288" y="1207008"/>
            <a:ext cx="2011680" cy="164592"/>
          </a:xfrm>
          <a:prstGeom prst="rect">
            <a:avLst/>
          </a:prstGeom>
          <a:noFill/>
          <a:ln/>
        </p:spPr>
        <p:txBody>
          <a:bodyPr wrap="square" lIns="0" tIns="0" rIns="0" bIns="0" rtlCol="0" anchor="ctr"/>
          <a:lstStyle/>
          <a:p>
            <a:pPr indent="0" marL="0">
              <a:buNone/>
            </a:pPr>
            <a:r>
              <a:rPr lang="en-US" sz="700" b="1" spc="150" kern="0" dirty="0">
                <a:solidFill>
                  <a:srgbClr val="00A5B5"/>
                </a:solidFill>
                <a:latin typeface="Calibri" pitchFamily="34" charset="0"/>
                <a:ea typeface="Calibri" pitchFamily="34" charset="-122"/>
                <a:cs typeface="Calibri" pitchFamily="34" charset="-120"/>
              </a:rPr>
              <a:t>STRATEGIC VALUE UNLOCKED</a:t>
            </a:r>
            <a:endParaRPr lang="en-US" sz="700" dirty="0"/>
          </a:p>
        </p:txBody>
      </p:sp>
      <p:sp>
        <p:nvSpPr>
          <p:cNvPr id="28" name="Text 26"/>
          <p:cNvSpPr/>
          <p:nvPr/>
        </p:nvSpPr>
        <p:spPr>
          <a:xfrm>
            <a:off x="6876288" y="1463040"/>
            <a:ext cx="256032" cy="256032"/>
          </a:xfrm>
          <a:prstGeom prst="rect">
            <a:avLst/>
          </a:prstGeom>
          <a:noFill/>
          <a:ln/>
        </p:spPr>
        <p:txBody>
          <a:bodyPr wrap="square" lIns="0" tIns="0" rIns="0" bIns="0" rtlCol="0" anchor="ctr"/>
          <a:lstStyle/>
          <a:p>
            <a:pPr indent="0" marL="0">
              <a:buNone/>
            </a:pPr>
            <a:endParaRPr lang="en-US" sz="1600" dirty="0"/>
          </a:p>
        </p:txBody>
      </p:sp>
      <p:sp>
        <p:nvSpPr>
          <p:cNvPr id="29" name="Text 27"/>
          <p:cNvSpPr/>
          <p:nvPr/>
        </p:nvSpPr>
        <p:spPr>
          <a:xfrm>
            <a:off x="7168896" y="1463040"/>
            <a:ext cx="182880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ISO 27001:2022 Readiness</a:t>
            </a:r>
            <a:endParaRPr lang="en-US" sz="950" dirty="0"/>
          </a:p>
        </p:txBody>
      </p:sp>
      <p:sp>
        <p:nvSpPr>
          <p:cNvPr id="30" name="Text 28"/>
          <p:cNvSpPr/>
          <p:nvPr/>
        </p:nvSpPr>
        <p:spPr>
          <a:xfrm>
            <a:off x="7168896" y="1682496"/>
            <a:ext cx="1828800" cy="384048"/>
          </a:xfrm>
          <a:prstGeom prst="rect">
            <a:avLst/>
          </a:prstGeom>
          <a:noFill/>
          <a:ln/>
        </p:spPr>
        <p:txBody>
          <a:bodyPr wrap="square" lIns="0" tIns="0" rIns="0" bIns="0" rtlCol="0" anchor="t"/>
          <a:lstStyle/>
          <a:p>
            <a:pPr indent="0" marL="0">
              <a:buNone/>
            </a:pPr>
            <a:r>
              <a:rPr lang="en-US" sz="850" dirty="0">
                <a:solidFill>
                  <a:srgbClr val="AABBCC"/>
                </a:solidFill>
                <a:latin typeface="Calibri" pitchFamily="34" charset="0"/>
                <a:ea typeface="Calibri" pitchFamily="34" charset="-122"/>
                <a:cs typeface="Calibri" pitchFamily="34" charset="-120"/>
              </a:rPr>
              <a:t>Audit-ready posture to pursue ISO certification and win enterprise customer requirements</a:t>
            </a:r>
            <a:endParaRPr lang="en-US" sz="850" dirty="0"/>
          </a:p>
        </p:txBody>
      </p:sp>
      <p:sp>
        <p:nvSpPr>
          <p:cNvPr id="31" name="Text 29"/>
          <p:cNvSpPr/>
          <p:nvPr/>
        </p:nvSpPr>
        <p:spPr>
          <a:xfrm>
            <a:off x="6876288" y="2176272"/>
            <a:ext cx="256032" cy="256032"/>
          </a:xfrm>
          <a:prstGeom prst="rect">
            <a:avLst/>
          </a:prstGeom>
          <a:noFill/>
          <a:ln/>
        </p:spPr>
        <p:txBody>
          <a:bodyPr wrap="square" lIns="0" tIns="0" rIns="0" bIns="0" rtlCol="0" anchor="ctr"/>
          <a:lstStyle/>
          <a:p>
            <a:pPr indent="0" marL="0">
              <a:buNone/>
            </a:pPr>
            <a:endParaRPr lang="en-US" sz="1600" dirty="0"/>
          </a:p>
        </p:txBody>
      </p:sp>
      <p:sp>
        <p:nvSpPr>
          <p:cNvPr id="32" name="Text 30"/>
          <p:cNvSpPr/>
          <p:nvPr/>
        </p:nvSpPr>
        <p:spPr>
          <a:xfrm>
            <a:off x="7168896" y="2176272"/>
            <a:ext cx="182880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Customer RFP Wins</a:t>
            </a:r>
            <a:endParaRPr lang="en-US" sz="950" dirty="0"/>
          </a:p>
        </p:txBody>
      </p:sp>
      <p:sp>
        <p:nvSpPr>
          <p:cNvPr id="33" name="Text 31"/>
          <p:cNvSpPr/>
          <p:nvPr/>
        </p:nvSpPr>
        <p:spPr>
          <a:xfrm>
            <a:off x="7168896" y="2395728"/>
            <a:ext cx="1828800" cy="384048"/>
          </a:xfrm>
          <a:prstGeom prst="rect">
            <a:avLst/>
          </a:prstGeom>
          <a:noFill/>
          <a:ln/>
        </p:spPr>
        <p:txBody>
          <a:bodyPr wrap="square" lIns="0" tIns="0" rIns="0" bIns="0" rtlCol="0" anchor="t"/>
          <a:lstStyle/>
          <a:p>
            <a:pPr indent="0" marL="0">
              <a:buNone/>
            </a:pPr>
            <a:r>
              <a:rPr lang="en-US" sz="850" dirty="0">
                <a:solidFill>
                  <a:srgbClr val="AABBCC"/>
                </a:solidFill>
                <a:latin typeface="Calibri" pitchFamily="34" charset="0"/>
                <a:ea typeface="Calibri" pitchFamily="34" charset="-122"/>
                <a:cs typeface="Calibri" pitchFamily="34" charset="-120"/>
              </a:rPr>
              <a:t>Complete security questionnaires and pass vendor due diligence for enterprise clients</a:t>
            </a:r>
            <a:endParaRPr lang="en-US" sz="850" dirty="0"/>
          </a:p>
        </p:txBody>
      </p:sp>
      <p:sp>
        <p:nvSpPr>
          <p:cNvPr id="34" name="Text 32"/>
          <p:cNvSpPr/>
          <p:nvPr/>
        </p:nvSpPr>
        <p:spPr>
          <a:xfrm>
            <a:off x="6876288" y="2889504"/>
            <a:ext cx="256032" cy="256032"/>
          </a:xfrm>
          <a:prstGeom prst="rect">
            <a:avLst/>
          </a:prstGeom>
          <a:noFill/>
          <a:ln/>
        </p:spPr>
        <p:txBody>
          <a:bodyPr wrap="square" lIns="0" tIns="0" rIns="0" bIns="0" rtlCol="0" anchor="ctr"/>
          <a:lstStyle/>
          <a:p>
            <a:pPr indent="0" marL="0">
              <a:buNone/>
            </a:pPr>
            <a:endParaRPr lang="en-US" sz="1600" dirty="0"/>
          </a:p>
        </p:txBody>
      </p:sp>
      <p:sp>
        <p:nvSpPr>
          <p:cNvPr id="35" name="Text 33"/>
          <p:cNvSpPr/>
          <p:nvPr/>
        </p:nvSpPr>
        <p:spPr>
          <a:xfrm>
            <a:off x="7168896" y="2889504"/>
            <a:ext cx="182880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Breach Cost Reduction</a:t>
            </a:r>
            <a:endParaRPr lang="en-US" sz="950" dirty="0"/>
          </a:p>
        </p:txBody>
      </p:sp>
      <p:sp>
        <p:nvSpPr>
          <p:cNvPr id="36" name="Text 34"/>
          <p:cNvSpPr/>
          <p:nvPr/>
        </p:nvSpPr>
        <p:spPr>
          <a:xfrm>
            <a:off x="7168896" y="3108960"/>
            <a:ext cx="1828800" cy="384048"/>
          </a:xfrm>
          <a:prstGeom prst="rect">
            <a:avLst/>
          </a:prstGeom>
          <a:noFill/>
          <a:ln/>
        </p:spPr>
        <p:txBody>
          <a:bodyPr wrap="square" lIns="0" tIns="0" rIns="0" bIns="0" rtlCol="0" anchor="t"/>
          <a:lstStyle/>
          <a:p>
            <a:pPr indent="0" marL="0">
              <a:buNone/>
            </a:pPr>
            <a:r>
              <a:rPr lang="en-US" sz="850" dirty="0">
                <a:solidFill>
                  <a:srgbClr val="AABBCC"/>
                </a:solidFill>
                <a:latin typeface="Calibri" pitchFamily="34" charset="0"/>
                <a:ea typeface="Calibri" pitchFamily="34" charset="-122"/>
                <a:cs typeface="Calibri" pitchFamily="34" charset="-120"/>
              </a:rPr>
              <a:t>Organisations with security AI &amp; automation detect and contain breaches significantly faster</a:t>
            </a:r>
            <a:endParaRPr lang="en-US" sz="850" dirty="0"/>
          </a:p>
        </p:txBody>
      </p:sp>
      <p:sp>
        <p:nvSpPr>
          <p:cNvPr id="37" name="Text 35"/>
          <p:cNvSpPr/>
          <p:nvPr/>
        </p:nvSpPr>
        <p:spPr>
          <a:xfrm>
            <a:off x="6876288" y="3602736"/>
            <a:ext cx="256032" cy="256032"/>
          </a:xfrm>
          <a:prstGeom prst="rect">
            <a:avLst/>
          </a:prstGeom>
          <a:noFill/>
          <a:ln/>
        </p:spPr>
        <p:txBody>
          <a:bodyPr wrap="square" lIns="0" tIns="0" rIns="0" bIns="0" rtlCol="0" anchor="ctr"/>
          <a:lstStyle/>
          <a:p>
            <a:pPr indent="0" marL="0">
              <a:buNone/>
            </a:pPr>
            <a:endParaRPr lang="en-US" sz="1600" dirty="0"/>
          </a:p>
        </p:txBody>
      </p:sp>
      <p:sp>
        <p:nvSpPr>
          <p:cNvPr id="38" name="Text 36"/>
          <p:cNvSpPr/>
          <p:nvPr/>
        </p:nvSpPr>
        <p:spPr>
          <a:xfrm>
            <a:off x="7168896" y="3602736"/>
            <a:ext cx="182880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Insurance Premiums</a:t>
            </a:r>
            <a:endParaRPr lang="en-US" sz="950" dirty="0"/>
          </a:p>
        </p:txBody>
      </p:sp>
      <p:sp>
        <p:nvSpPr>
          <p:cNvPr id="39" name="Text 37"/>
          <p:cNvSpPr/>
          <p:nvPr/>
        </p:nvSpPr>
        <p:spPr>
          <a:xfrm>
            <a:off x="7168896" y="3822192"/>
            <a:ext cx="1828800" cy="384048"/>
          </a:xfrm>
          <a:prstGeom prst="rect">
            <a:avLst/>
          </a:prstGeom>
          <a:noFill/>
          <a:ln/>
        </p:spPr>
        <p:txBody>
          <a:bodyPr wrap="square" lIns="0" tIns="0" rIns="0" bIns="0" rtlCol="0" anchor="t"/>
          <a:lstStyle/>
          <a:p>
            <a:pPr indent="0" marL="0">
              <a:buNone/>
            </a:pPr>
            <a:r>
              <a:rPr lang="en-US" sz="850" dirty="0">
                <a:solidFill>
                  <a:srgbClr val="AABBCC"/>
                </a:solidFill>
                <a:latin typeface="Calibri" pitchFamily="34" charset="0"/>
                <a:ea typeface="Calibri" pitchFamily="34" charset="-122"/>
                <a:cs typeface="Calibri" pitchFamily="34" charset="-120"/>
              </a:rPr>
              <a:t>Demonstrated cyber maturity enables negotiation of lower cyber insurance premiums</a:t>
            </a:r>
            <a:endParaRPr lang="en-US" sz="850" dirty="0"/>
          </a:p>
        </p:txBody>
      </p:sp>
      <p:sp>
        <p:nvSpPr>
          <p:cNvPr id="40" name="Shape 38"/>
          <p:cNvSpPr/>
          <p:nvPr/>
        </p:nvSpPr>
        <p:spPr>
          <a:xfrm>
            <a:off x="0" y="5093208"/>
            <a:ext cx="9144000" cy="50292"/>
          </a:xfrm>
          <a:prstGeom prst="rect">
            <a:avLst/>
          </a:prstGeom>
          <a:solidFill>
            <a:srgbClr val="00A5B5"/>
          </a:solidFill>
          <a:ln w="12700">
            <a:solidFill>
              <a:srgbClr val="00A5B5"/>
            </a:solidFill>
            <a:prstDash val="solid"/>
          </a:ln>
        </p:spPr>
      </p:sp>
      <p:sp>
        <p:nvSpPr>
          <p:cNvPr id="41" name="Shape 39"/>
          <p:cNvSpPr/>
          <p:nvPr/>
        </p:nvSpPr>
        <p:spPr>
          <a:xfrm>
            <a:off x="8503920" y="4549140"/>
            <a:ext cx="384048" cy="384048"/>
          </a:xfrm>
          <a:prstGeom prst="ellipse">
            <a:avLst/>
          </a:prstGeom>
          <a:solidFill>
            <a:srgbClr val="E8EBF0"/>
          </a:solidFill>
          <a:ln w="12700">
            <a:solidFill>
              <a:srgbClr val="B0B8C8"/>
            </a:solidFill>
            <a:prstDash val="solid"/>
          </a:ln>
        </p:spPr>
      </p:sp>
      <p:sp>
        <p:nvSpPr>
          <p:cNvPr id="42" name="Text 40"/>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43" name="Text 41"/>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57200" y="64008"/>
            <a:ext cx="7315200" cy="164592"/>
          </a:xfrm>
          <a:prstGeom prst="rect">
            <a:avLst/>
          </a:prstGeom>
          <a:noFill/>
          <a:ln/>
        </p:spPr>
        <p:txBody>
          <a:bodyPr wrap="square" lIns="0" tIns="0" rIns="0" bIns="0" rtlCol="0" anchor="ctr"/>
          <a:lstStyle/>
          <a:p>
            <a:pPr indent="0" marL="0">
              <a:buNone/>
            </a:pPr>
            <a:r>
              <a:rPr lang="en-US" sz="800" b="1" spc="300" kern="0" dirty="0">
                <a:solidFill>
                  <a:srgbClr val="00A5B5"/>
                </a:solidFill>
                <a:latin typeface="Calibri" pitchFamily="34" charset="0"/>
                <a:ea typeface="Calibri" pitchFamily="34" charset="-122"/>
                <a:cs typeface="Calibri" pitchFamily="34" charset="-120"/>
              </a:rPr>
              <a:t>APPENDIX A</a:t>
            </a:r>
            <a:endParaRPr lang="en-US" sz="800" dirty="0"/>
          </a:p>
        </p:txBody>
      </p:sp>
      <p:sp>
        <p:nvSpPr>
          <p:cNvPr id="4" name="Text 2"/>
          <p:cNvSpPr/>
          <p:nvPr/>
        </p:nvSpPr>
        <p:spPr>
          <a:xfrm>
            <a:off x="457200" y="246888"/>
            <a:ext cx="8229600" cy="40233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ISO 27001:2022 Annex A Controls — Gap-to-Control Mapping by Phase</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8229600" cy="3657600"/>
        </p:xfrm>
        <a:graphic>
          <a:graphicData uri="http://schemas.openxmlformats.org/drawingml/2006/table">
            <a:tbl>
              <a:tblPr/>
              <a:tblGrid>
                <a:gridCol w="1691640"/>
                <a:gridCol w="4663440"/>
                <a:gridCol w="685800"/>
                <a:gridCol w="1097280"/>
              </a:tblGrid>
              <a:tr h="332509">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Security Capability</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ISO 27001:2022 Annex A Controls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Domain</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Documentation &amp; Governance</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A.5.1 Policies, A.5.2 Roles, A.5.3 Segregation, A.5.13 Labelling, A.5.20 Supply Chain, A.6.1 Screening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Org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Data Classification</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A.5.12 Classification, A.5.13 Labelling, A.8.10 Deletion, A.8.11 Masking, A.8.12 Leakage Prevention, A.5.14 Transfer</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Tech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Risk Management &amp; BIA</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A.5.5 Threat Intelligence, A.5.6 Contact Authorities, A.5.7 Threat Sharing, A.5.29 ICT Continuity, A.5.30 Readiness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Org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Identity &amp; Access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A.5.15 Access Control, A.5.16 Identity Mgmt, A.5.17 Auth Info, A.5.18 Access Rights, A.8.2 Privileged Access, A.8.5 Secure Auth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P2 / P3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Org / Tech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Logging &amp; Monitoring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A.8.15 Logging, A.8.16 Monitoring Activities, A.8.17 Clock Sync, A.5.25 Security Events Assessment</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Tech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Vuln &amp; Config Management</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A.8.8 Technical Vulnerabilities, A.8.9 Configuration Management, A.8.32 Change Management</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Tech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Secure Development</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A.8.25 Secure Dev Policy, A.8.26 App Security, A.8.27 Secure Architecture, A.8.28 Secure Coding, A.8.29 Security Testing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Tech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Network Security</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A.8.20 Network Security, A.8.21 Web Filtering, A.8.22 Segregation in Networks, A.8.23 Web Filtering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Tech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Cloud &amp; Continuity</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A.5.23 Cloud Security, A.5.29–A.5.30 ICT Continuity, A.8.13 Info Backup, A.8.14 Redundancy</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P3 / P4</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Org / Tech</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32509">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Incident &amp; Supplier Mgmt</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A.5.24–A.5.28 Incident Management, A.5.19–A.5.23 Supplier Security Requirements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Org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6" name="Text 3"/>
          <p:cNvSpPr/>
          <p:nvPr/>
        </p:nvSpPr>
        <p:spPr>
          <a:xfrm>
            <a:off x="457200" y="4942332"/>
            <a:ext cx="8686800" cy="146304"/>
          </a:xfrm>
          <a:prstGeom prst="rect">
            <a:avLst/>
          </a:prstGeom>
          <a:noFill/>
          <a:ln/>
        </p:spPr>
        <p:txBody>
          <a:bodyPr wrap="square" lIns="0" tIns="0" rIns="0" bIns="0" rtlCol="0" anchor="ctr"/>
          <a:lstStyle/>
          <a:p>
            <a:pPr indent="0" marL="0">
              <a:buNone/>
            </a:pPr>
            <a:r>
              <a:rPr lang="en-US" sz="750" i="1" dirty="0">
                <a:solidFill>
                  <a:srgbClr val="6B7A96"/>
                </a:solidFill>
                <a:latin typeface="Calibri" pitchFamily="34" charset="0"/>
                <a:ea typeface="Calibri" pitchFamily="34" charset="-122"/>
                <a:cs typeface="Calibri" pitchFamily="34" charset="-120"/>
              </a:rPr>
              <a:t>Reference: ISO 27001:2022 Annex A (93 controls, 4 themes) · https://www.isms.online/iso-27001</a:t>
            </a:r>
            <a:endParaRPr lang="en-US" sz="750" dirty="0"/>
          </a:p>
        </p:txBody>
      </p:sp>
      <p:sp>
        <p:nvSpPr>
          <p:cNvPr id="7" name="Shape 4"/>
          <p:cNvSpPr/>
          <p:nvPr/>
        </p:nvSpPr>
        <p:spPr>
          <a:xfrm>
            <a:off x="0" y="5093208"/>
            <a:ext cx="9144000" cy="50292"/>
          </a:xfrm>
          <a:prstGeom prst="rect">
            <a:avLst/>
          </a:prstGeom>
          <a:solidFill>
            <a:srgbClr val="00A5B5"/>
          </a:solidFill>
          <a:ln w="12700">
            <a:solidFill>
              <a:srgbClr val="00A5B5"/>
            </a:solidFill>
            <a:prstDash val="solid"/>
          </a:ln>
        </p:spPr>
      </p:sp>
      <p:sp>
        <p:nvSpPr>
          <p:cNvPr id="8" name="Shape 5"/>
          <p:cNvSpPr/>
          <p:nvPr/>
        </p:nvSpPr>
        <p:spPr>
          <a:xfrm>
            <a:off x="8503920" y="4549140"/>
            <a:ext cx="384048" cy="384048"/>
          </a:xfrm>
          <a:prstGeom prst="ellipse">
            <a:avLst/>
          </a:prstGeom>
          <a:solidFill>
            <a:srgbClr val="E8EBF0"/>
          </a:solidFill>
          <a:ln w="12700">
            <a:solidFill>
              <a:srgbClr val="B0B8C8"/>
            </a:solidFill>
            <a:prstDash val="solid"/>
          </a:ln>
        </p:spPr>
      </p:sp>
      <p:sp>
        <p:nvSpPr>
          <p:cNvPr id="9" name="Text 6"/>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10" name="Text 7"/>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A-1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457200" y="64008"/>
            <a:ext cx="7315200" cy="164592"/>
          </a:xfrm>
          <a:prstGeom prst="rect">
            <a:avLst/>
          </a:prstGeom>
          <a:noFill/>
          <a:ln/>
        </p:spPr>
        <p:txBody>
          <a:bodyPr wrap="square" lIns="0" tIns="0" rIns="0" bIns="0" rtlCol="0" anchor="ctr"/>
          <a:lstStyle/>
          <a:p>
            <a:pPr indent="0" marL="0">
              <a:buNone/>
            </a:pPr>
            <a:r>
              <a:rPr lang="en-US" sz="800" b="1" spc="300" kern="0" dirty="0">
                <a:solidFill>
                  <a:srgbClr val="00A5B5"/>
                </a:solidFill>
                <a:latin typeface="Calibri" pitchFamily="34" charset="0"/>
                <a:ea typeface="Calibri" pitchFamily="34" charset="-122"/>
                <a:cs typeface="Calibri" pitchFamily="34" charset="-120"/>
              </a:rPr>
              <a:t>APPENDIX B</a:t>
            </a:r>
            <a:endParaRPr lang="en-US" sz="800" dirty="0"/>
          </a:p>
        </p:txBody>
      </p:sp>
      <p:sp>
        <p:nvSpPr>
          <p:cNvPr id="4" name="Text 2"/>
          <p:cNvSpPr/>
          <p:nvPr/>
        </p:nvSpPr>
        <p:spPr>
          <a:xfrm>
            <a:off x="457200" y="246888"/>
            <a:ext cx="8229600" cy="40233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ACSC Essential Eight — Deficiency Summary &amp; Roadmap Alignment</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5852160" cy="3566160"/>
        </p:xfrm>
        <a:graphic>
          <a:graphicData uri="http://schemas.openxmlformats.org/drawingml/2006/table">
            <a:tbl>
              <a:tblPr/>
              <a:tblGrid>
                <a:gridCol w="1828800"/>
                <a:gridCol w="2468880"/>
                <a:gridCol w="640080"/>
                <a:gridCol w="868680"/>
              </a:tblGrid>
              <a:tr h="3962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Mitigation Strategy</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Identified Gap</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ISO Control</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0F1C35"/>
                    </a:solidFill>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Application Control</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 application whitelisting enforced</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A.8.1</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Patch Applications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Inconsistent patching cadence</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A.8.8</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Office Macro Configuration</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Macro controls not enforced</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A.8.1</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User App Hardening</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Browser hardening not standardised</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A.8.26</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Restrict Admin Privileges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PAM absent — admin usage uncontrolled</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A.8.2</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Patch Operating Systems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Inconsistent across server &amp; endpoint fleets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A.8.8</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Multi-Factor Authentication</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Not uniformly enforced across all systems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A.8.5</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9624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Regular Backups</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Backup testing &amp; validation not formalised</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A.8.13</a:t>
                      </a:r>
                      <a:endParaRPr lang="en-US" sz="1200" dirty="0">
                        <a:latin typeface="Calibri" charset="0"/>
                        <a:ea typeface="Calibri" charset="0"/>
                        <a:cs typeface="Calibri"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6" name="Text 3"/>
          <p:cNvSpPr/>
          <p:nvPr/>
        </p:nvSpPr>
        <p:spPr>
          <a:xfrm>
            <a:off x="6492240" y="868680"/>
            <a:ext cx="2331720" cy="182880"/>
          </a:xfrm>
          <a:prstGeom prst="rect">
            <a:avLst/>
          </a:prstGeom>
          <a:noFill/>
          <a:ln/>
        </p:spPr>
        <p:txBody>
          <a:bodyPr wrap="square" lIns="0" tIns="0" rIns="0" bIns="0" rtlCol="0" anchor="ctr"/>
          <a:lstStyle/>
          <a:p>
            <a:pPr indent="0" marL="0">
              <a:buNone/>
            </a:pPr>
            <a:r>
              <a:rPr lang="en-US" sz="700" b="1" spc="150" kern="0" dirty="0">
                <a:solidFill>
                  <a:srgbClr val="007D8A"/>
                </a:solidFill>
                <a:latin typeface="Calibri" pitchFamily="34" charset="0"/>
                <a:ea typeface="Calibri" pitchFamily="34" charset="-122"/>
                <a:cs typeface="Calibri" pitchFamily="34" charset="-120"/>
              </a:rPr>
              <a:t>MATURITY SCORE BY STRATEGY</a:t>
            </a:r>
            <a:endParaRPr lang="en-US" sz="700" dirty="0"/>
          </a:p>
        </p:txBody>
      </p:sp>
      <p:sp>
        <p:nvSpPr>
          <p:cNvPr id="7" name="Shape 4"/>
          <p:cNvSpPr/>
          <p:nvPr/>
        </p:nvSpPr>
        <p:spPr>
          <a:xfrm>
            <a:off x="6492240" y="1051560"/>
            <a:ext cx="2331720" cy="20117"/>
          </a:xfrm>
          <a:prstGeom prst="rect">
            <a:avLst/>
          </a:prstGeom>
          <a:solidFill>
            <a:srgbClr val="00A5B5"/>
          </a:solidFill>
          <a:ln w="12700">
            <a:solidFill>
              <a:srgbClr val="00A5B5"/>
            </a:solidFill>
            <a:prstDash val="solid"/>
          </a:ln>
        </p:spPr>
      </p:sp>
      <p:sp>
        <p:nvSpPr>
          <p:cNvPr id="8" name="Text 5"/>
          <p:cNvSpPr/>
          <p:nvPr/>
        </p:nvSpPr>
        <p:spPr>
          <a:xfrm>
            <a:off x="6492240" y="1115568"/>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Application Control</a:t>
            </a:r>
            <a:endParaRPr lang="en-US" sz="800" dirty="0"/>
          </a:p>
        </p:txBody>
      </p:sp>
      <p:sp>
        <p:nvSpPr>
          <p:cNvPr id="9" name="Shape 6"/>
          <p:cNvSpPr/>
          <p:nvPr/>
        </p:nvSpPr>
        <p:spPr>
          <a:xfrm>
            <a:off x="6492240" y="1271016"/>
            <a:ext cx="2331720" cy="91440"/>
          </a:xfrm>
          <a:prstGeom prst="rect">
            <a:avLst/>
          </a:prstGeom>
          <a:solidFill>
            <a:srgbClr val="E8EBF0"/>
          </a:solidFill>
          <a:ln w="12700">
            <a:solidFill>
              <a:srgbClr val="E8EBF0"/>
            </a:solidFill>
            <a:prstDash val="solid"/>
          </a:ln>
        </p:spPr>
      </p:sp>
      <p:sp>
        <p:nvSpPr>
          <p:cNvPr id="10" name="Text 7"/>
          <p:cNvSpPr/>
          <p:nvPr/>
        </p:nvSpPr>
        <p:spPr>
          <a:xfrm>
            <a:off x="8878824" y="1234440"/>
            <a:ext cx="182880" cy="146304"/>
          </a:xfrm>
          <a:prstGeom prst="rect">
            <a:avLst/>
          </a:prstGeom>
          <a:noFill/>
          <a:ln/>
        </p:spPr>
        <p:txBody>
          <a:bodyPr wrap="square" lIns="0" tIns="0" rIns="0" bIns="0" rtlCol="0" anchor="ctr"/>
          <a:lstStyle/>
          <a:p>
            <a:pPr indent="0" marL="0">
              <a:buNone/>
            </a:pPr>
            <a:r>
              <a:rPr lang="en-US" sz="900" b="1" dirty="0">
                <a:solidFill>
                  <a:srgbClr val="D94F3D"/>
                </a:solidFill>
                <a:latin typeface="Calibri" pitchFamily="34" charset="0"/>
                <a:ea typeface="Calibri" pitchFamily="34" charset="-122"/>
                <a:cs typeface="Calibri" pitchFamily="34" charset="-120"/>
              </a:rPr>
              <a:t>0</a:t>
            </a:r>
            <a:endParaRPr lang="en-US" sz="900" dirty="0"/>
          </a:p>
        </p:txBody>
      </p:sp>
      <p:sp>
        <p:nvSpPr>
          <p:cNvPr id="11" name="Text 8"/>
          <p:cNvSpPr/>
          <p:nvPr/>
        </p:nvSpPr>
        <p:spPr>
          <a:xfrm>
            <a:off x="6492240" y="1453896"/>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Patch Applications</a:t>
            </a:r>
            <a:endParaRPr lang="en-US" sz="800" dirty="0"/>
          </a:p>
        </p:txBody>
      </p:sp>
      <p:sp>
        <p:nvSpPr>
          <p:cNvPr id="12" name="Shape 9"/>
          <p:cNvSpPr/>
          <p:nvPr/>
        </p:nvSpPr>
        <p:spPr>
          <a:xfrm>
            <a:off x="6492240" y="1609344"/>
            <a:ext cx="2331720" cy="91440"/>
          </a:xfrm>
          <a:prstGeom prst="rect">
            <a:avLst/>
          </a:prstGeom>
          <a:solidFill>
            <a:srgbClr val="E8EBF0"/>
          </a:solidFill>
          <a:ln w="12700">
            <a:solidFill>
              <a:srgbClr val="E8EBF0"/>
            </a:solidFill>
            <a:prstDash val="solid"/>
          </a:ln>
        </p:spPr>
      </p:sp>
      <p:sp>
        <p:nvSpPr>
          <p:cNvPr id="13" name="Shape 10"/>
          <p:cNvSpPr/>
          <p:nvPr/>
        </p:nvSpPr>
        <p:spPr>
          <a:xfrm>
            <a:off x="6492240" y="1609344"/>
            <a:ext cx="777240" cy="91440"/>
          </a:xfrm>
          <a:prstGeom prst="rect">
            <a:avLst/>
          </a:prstGeom>
          <a:solidFill>
            <a:srgbClr val="E8A01E"/>
          </a:solidFill>
          <a:ln w="12700">
            <a:solidFill>
              <a:srgbClr val="E8A01E"/>
            </a:solidFill>
            <a:prstDash val="solid"/>
          </a:ln>
        </p:spPr>
      </p:sp>
      <p:sp>
        <p:nvSpPr>
          <p:cNvPr id="14" name="Text 11"/>
          <p:cNvSpPr/>
          <p:nvPr/>
        </p:nvSpPr>
        <p:spPr>
          <a:xfrm>
            <a:off x="8878824" y="1572768"/>
            <a:ext cx="182880" cy="146304"/>
          </a:xfrm>
          <a:prstGeom prst="rect">
            <a:avLst/>
          </a:prstGeom>
          <a:noFill/>
          <a:ln/>
        </p:spPr>
        <p:txBody>
          <a:bodyPr wrap="square" lIns="0" tIns="0" rIns="0" bIns="0" rtlCol="0" anchor="ctr"/>
          <a:lstStyle/>
          <a:p>
            <a:pPr indent="0" marL="0">
              <a:buNone/>
            </a:pPr>
            <a:r>
              <a:rPr lang="en-US" sz="900" b="1" dirty="0">
                <a:solidFill>
                  <a:srgbClr val="E8A01E"/>
                </a:solidFill>
                <a:latin typeface="Calibri" pitchFamily="34" charset="0"/>
                <a:ea typeface="Calibri" pitchFamily="34" charset="-122"/>
                <a:cs typeface="Calibri" pitchFamily="34" charset="-120"/>
              </a:rPr>
              <a:t>1</a:t>
            </a:r>
            <a:endParaRPr lang="en-US" sz="900" dirty="0"/>
          </a:p>
        </p:txBody>
      </p:sp>
      <p:sp>
        <p:nvSpPr>
          <p:cNvPr id="15" name="Text 12"/>
          <p:cNvSpPr/>
          <p:nvPr/>
        </p:nvSpPr>
        <p:spPr>
          <a:xfrm>
            <a:off x="6492240" y="1792224"/>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Office Macro Configuration</a:t>
            </a:r>
            <a:endParaRPr lang="en-US" sz="800" dirty="0"/>
          </a:p>
        </p:txBody>
      </p:sp>
      <p:sp>
        <p:nvSpPr>
          <p:cNvPr id="16" name="Shape 13"/>
          <p:cNvSpPr/>
          <p:nvPr/>
        </p:nvSpPr>
        <p:spPr>
          <a:xfrm>
            <a:off x="6492240" y="1947672"/>
            <a:ext cx="2331720" cy="91440"/>
          </a:xfrm>
          <a:prstGeom prst="rect">
            <a:avLst/>
          </a:prstGeom>
          <a:solidFill>
            <a:srgbClr val="E8EBF0"/>
          </a:solidFill>
          <a:ln w="12700">
            <a:solidFill>
              <a:srgbClr val="E8EBF0"/>
            </a:solidFill>
            <a:prstDash val="solid"/>
          </a:ln>
        </p:spPr>
      </p:sp>
      <p:sp>
        <p:nvSpPr>
          <p:cNvPr id="17" name="Shape 14"/>
          <p:cNvSpPr/>
          <p:nvPr/>
        </p:nvSpPr>
        <p:spPr>
          <a:xfrm>
            <a:off x="6492240" y="1947672"/>
            <a:ext cx="777240" cy="91440"/>
          </a:xfrm>
          <a:prstGeom prst="rect">
            <a:avLst/>
          </a:prstGeom>
          <a:solidFill>
            <a:srgbClr val="E8A01E"/>
          </a:solidFill>
          <a:ln w="12700">
            <a:solidFill>
              <a:srgbClr val="E8A01E"/>
            </a:solidFill>
            <a:prstDash val="solid"/>
          </a:ln>
        </p:spPr>
      </p:sp>
      <p:sp>
        <p:nvSpPr>
          <p:cNvPr id="18" name="Text 15"/>
          <p:cNvSpPr/>
          <p:nvPr/>
        </p:nvSpPr>
        <p:spPr>
          <a:xfrm>
            <a:off x="8878824" y="1911096"/>
            <a:ext cx="182880" cy="146304"/>
          </a:xfrm>
          <a:prstGeom prst="rect">
            <a:avLst/>
          </a:prstGeom>
          <a:noFill/>
          <a:ln/>
        </p:spPr>
        <p:txBody>
          <a:bodyPr wrap="square" lIns="0" tIns="0" rIns="0" bIns="0" rtlCol="0" anchor="ctr"/>
          <a:lstStyle/>
          <a:p>
            <a:pPr indent="0" marL="0">
              <a:buNone/>
            </a:pPr>
            <a:r>
              <a:rPr lang="en-US" sz="900" b="1" dirty="0">
                <a:solidFill>
                  <a:srgbClr val="E8A01E"/>
                </a:solidFill>
                <a:latin typeface="Calibri" pitchFamily="34" charset="0"/>
                <a:ea typeface="Calibri" pitchFamily="34" charset="-122"/>
                <a:cs typeface="Calibri" pitchFamily="34" charset="-120"/>
              </a:rPr>
              <a:t>1</a:t>
            </a:r>
            <a:endParaRPr lang="en-US" sz="900" dirty="0"/>
          </a:p>
        </p:txBody>
      </p:sp>
      <p:sp>
        <p:nvSpPr>
          <p:cNvPr id="19" name="Text 16"/>
          <p:cNvSpPr/>
          <p:nvPr/>
        </p:nvSpPr>
        <p:spPr>
          <a:xfrm>
            <a:off x="6492240" y="2130552"/>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User App Hardening</a:t>
            </a:r>
            <a:endParaRPr lang="en-US" sz="800" dirty="0"/>
          </a:p>
        </p:txBody>
      </p:sp>
      <p:sp>
        <p:nvSpPr>
          <p:cNvPr id="20" name="Shape 17"/>
          <p:cNvSpPr/>
          <p:nvPr/>
        </p:nvSpPr>
        <p:spPr>
          <a:xfrm>
            <a:off x="6492240" y="2286000"/>
            <a:ext cx="2331720" cy="91440"/>
          </a:xfrm>
          <a:prstGeom prst="rect">
            <a:avLst/>
          </a:prstGeom>
          <a:solidFill>
            <a:srgbClr val="E8EBF0"/>
          </a:solidFill>
          <a:ln w="12700">
            <a:solidFill>
              <a:srgbClr val="E8EBF0"/>
            </a:solidFill>
            <a:prstDash val="solid"/>
          </a:ln>
        </p:spPr>
      </p:sp>
      <p:sp>
        <p:nvSpPr>
          <p:cNvPr id="21" name="Shape 18"/>
          <p:cNvSpPr/>
          <p:nvPr/>
        </p:nvSpPr>
        <p:spPr>
          <a:xfrm>
            <a:off x="6492240" y="2286000"/>
            <a:ext cx="777240" cy="91440"/>
          </a:xfrm>
          <a:prstGeom prst="rect">
            <a:avLst/>
          </a:prstGeom>
          <a:solidFill>
            <a:srgbClr val="E8A01E"/>
          </a:solidFill>
          <a:ln w="12700">
            <a:solidFill>
              <a:srgbClr val="E8A01E"/>
            </a:solidFill>
            <a:prstDash val="solid"/>
          </a:ln>
        </p:spPr>
      </p:sp>
      <p:sp>
        <p:nvSpPr>
          <p:cNvPr id="22" name="Text 19"/>
          <p:cNvSpPr/>
          <p:nvPr/>
        </p:nvSpPr>
        <p:spPr>
          <a:xfrm>
            <a:off x="8878824" y="2249424"/>
            <a:ext cx="182880" cy="146304"/>
          </a:xfrm>
          <a:prstGeom prst="rect">
            <a:avLst/>
          </a:prstGeom>
          <a:noFill/>
          <a:ln/>
        </p:spPr>
        <p:txBody>
          <a:bodyPr wrap="square" lIns="0" tIns="0" rIns="0" bIns="0" rtlCol="0" anchor="ctr"/>
          <a:lstStyle/>
          <a:p>
            <a:pPr indent="0" marL="0">
              <a:buNone/>
            </a:pPr>
            <a:r>
              <a:rPr lang="en-US" sz="900" b="1" dirty="0">
                <a:solidFill>
                  <a:srgbClr val="E8A01E"/>
                </a:solidFill>
                <a:latin typeface="Calibri" pitchFamily="34" charset="0"/>
                <a:ea typeface="Calibri" pitchFamily="34" charset="-122"/>
                <a:cs typeface="Calibri" pitchFamily="34" charset="-120"/>
              </a:rPr>
              <a:t>1</a:t>
            </a:r>
            <a:endParaRPr lang="en-US" sz="900" dirty="0"/>
          </a:p>
        </p:txBody>
      </p:sp>
      <p:sp>
        <p:nvSpPr>
          <p:cNvPr id="23" name="Text 20"/>
          <p:cNvSpPr/>
          <p:nvPr/>
        </p:nvSpPr>
        <p:spPr>
          <a:xfrm>
            <a:off x="6492240" y="2468880"/>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Restrict Admin Privileges</a:t>
            </a:r>
            <a:endParaRPr lang="en-US" sz="800" dirty="0"/>
          </a:p>
        </p:txBody>
      </p:sp>
      <p:sp>
        <p:nvSpPr>
          <p:cNvPr id="24" name="Shape 21"/>
          <p:cNvSpPr/>
          <p:nvPr/>
        </p:nvSpPr>
        <p:spPr>
          <a:xfrm>
            <a:off x="6492240" y="2624328"/>
            <a:ext cx="2331720" cy="91440"/>
          </a:xfrm>
          <a:prstGeom prst="rect">
            <a:avLst/>
          </a:prstGeom>
          <a:solidFill>
            <a:srgbClr val="E8EBF0"/>
          </a:solidFill>
          <a:ln w="12700">
            <a:solidFill>
              <a:srgbClr val="E8EBF0"/>
            </a:solidFill>
            <a:prstDash val="solid"/>
          </a:ln>
        </p:spPr>
      </p:sp>
      <p:sp>
        <p:nvSpPr>
          <p:cNvPr id="25" name="Text 22"/>
          <p:cNvSpPr/>
          <p:nvPr/>
        </p:nvSpPr>
        <p:spPr>
          <a:xfrm>
            <a:off x="8878824" y="2587752"/>
            <a:ext cx="182880" cy="146304"/>
          </a:xfrm>
          <a:prstGeom prst="rect">
            <a:avLst/>
          </a:prstGeom>
          <a:noFill/>
          <a:ln/>
        </p:spPr>
        <p:txBody>
          <a:bodyPr wrap="square" lIns="0" tIns="0" rIns="0" bIns="0" rtlCol="0" anchor="ctr"/>
          <a:lstStyle/>
          <a:p>
            <a:pPr indent="0" marL="0">
              <a:buNone/>
            </a:pPr>
            <a:r>
              <a:rPr lang="en-US" sz="900" b="1" dirty="0">
                <a:solidFill>
                  <a:srgbClr val="D94F3D"/>
                </a:solidFill>
                <a:latin typeface="Calibri" pitchFamily="34" charset="0"/>
                <a:ea typeface="Calibri" pitchFamily="34" charset="-122"/>
                <a:cs typeface="Calibri" pitchFamily="34" charset="-120"/>
              </a:rPr>
              <a:t>0</a:t>
            </a:r>
            <a:endParaRPr lang="en-US" sz="900" dirty="0"/>
          </a:p>
        </p:txBody>
      </p:sp>
      <p:sp>
        <p:nvSpPr>
          <p:cNvPr id="26" name="Text 23"/>
          <p:cNvSpPr/>
          <p:nvPr/>
        </p:nvSpPr>
        <p:spPr>
          <a:xfrm>
            <a:off x="6492240" y="2807208"/>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Patch Operating Systems</a:t>
            </a:r>
            <a:endParaRPr lang="en-US" sz="800" dirty="0"/>
          </a:p>
        </p:txBody>
      </p:sp>
      <p:sp>
        <p:nvSpPr>
          <p:cNvPr id="27" name="Shape 24"/>
          <p:cNvSpPr/>
          <p:nvPr/>
        </p:nvSpPr>
        <p:spPr>
          <a:xfrm>
            <a:off x="6492240" y="2962656"/>
            <a:ext cx="2331720" cy="91440"/>
          </a:xfrm>
          <a:prstGeom prst="rect">
            <a:avLst/>
          </a:prstGeom>
          <a:solidFill>
            <a:srgbClr val="E8EBF0"/>
          </a:solidFill>
          <a:ln w="12700">
            <a:solidFill>
              <a:srgbClr val="E8EBF0"/>
            </a:solidFill>
            <a:prstDash val="solid"/>
          </a:ln>
        </p:spPr>
      </p:sp>
      <p:sp>
        <p:nvSpPr>
          <p:cNvPr id="28" name="Shape 25"/>
          <p:cNvSpPr/>
          <p:nvPr/>
        </p:nvSpPr>
        <p:spPr>
          <a:xfrm>
            <a:off x="6492240" y="2962656"/>
            <a:ext cx="777240" cy="91440"/>
          </a:xfrm>
          <a:prstGeom prst="rect">
            <a:avLst/>
          </a:prstGeom>
          <a:solidFill>
            <a:srgbClr val="E8A01E"/>
          </a:solidFill>
          <a:ln w="12700">
            <a:solidFill>
              <a:srgbClr val="E8A01E"/>
            </a:solidFill>
            <a:prstDash val="solid"/>
          </a:ln>
        </p:spPr>
      </p:sp>
      <p:sp>
        <p:nvSpPr>
          <p:cNvPr id="29" name="Text 26"/>
          <p:cNvSpPr/>
          <p:nvPr/>
        </p:nvSpPr>
        <p:spPr>
          <a:xfrm>
            <a:off x="8878824" y="2926080"/>
            <a:ext cx="182880" cy="146304"/>
          </a:xfrm>
          <a:prstGeom prst="rect">
            <a:avLst/>
          </a:prstGeom>
          <a:noFill/>
          <a:ln/>
        </p:spPr>
        <p:txBody>
          <a:bodyPr wrap="square" lIns="0" tIns="0" rIns="0" bIns="0" rtlCol="0" anchor="ctr"/>
          <a:lstStyle/>
          <a:p>
            <a:pPr indent="0" marL="0">
              <a:buNone/>
            </a:pPr>
            <a:r>
              <a:rPr lang="en-US" sz="900" b="1" dirty="0">
                <a:solidFill>
                  <a:srgbClr val="E8A01E"/>
                </a:solidFill>
                <a:latin typeface="Calibri" pitchFamily="34" charset="0"/>
                <a:ea typeface="Calibri" pitchFamily="34" charset="-122"/>
                <a:cs typeface="Calibri" pitchFamily="34" charset="-120"/>
              </a:rPr>
              <a:t>1</a:t>
            </a:r>
            <a:endParaRPr lang="en-US" sz="900" dirty="0"/>
          </a:p>
        </p:txBody>
      </p:sp>
      <p:sp>
        <p:nvSpPr>
          <p:cNvPr id="30" name="Text 27"/>
          <p:cNvSpPr/>
          <p:nvPr/>
        </p:nvSpPr>
        <p:spPr>
          <a:xfrm>
            <a:off x="6492240" y="3145536"/>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Multi-Factor Authentication</a:t>
            </a:r>
            <a:endParaRPr lang="en-US" sz="800" dirty="0"/>
          </a:p>
        </p:txBody>
      </p:sp>
      <p:sp>
        <p:nvSpPr>
          <p:cNvPr id="31" name="Shape 28"/>
          <p:cNvSpPr/>
          <p:nvPr/>
        </p:nvSpPr>
        <p:spPr>
          <a:xfrm>
            <a:off x="6492240" y="3300984"/>
            <a:ext cx="2331720" cy="91440"/>
          </a:xfrm>
          <a:prstGeom prst="rect">
            <a:avLst/>
          </a:prstGeom>
          <a:solidFill>
            <a:srgbClr val="E8EBF0"/>
          </a:solidFill>
          <a:ln w="12700">
            <a:solidFill>
              <a:srgbClr val="E8EBF0"/>
            </a:solidFill>
            <a:prstDash val="solid"/>
          </a:ln>
        </p:spPr>
      </p:sp>
      <p:sp>
        <p:nvSpPr>
          <p:cNvPr id="32" name="Shape 29"/>
          <p:cNvSpPr/>
          <p:nvPr/>
        </p:nvSpPr>
        <p:spPr>
          <a:xfrm>
            <a:off x="6492240" y="3300984"/>
            <a:ext cx="777240" cy="91440"/>
          </a:xfrm>
          <a:prstGeom prst="rect">
            <a:avLst/>
          </a:prstGeom>
          <a:solidFill>
            <a:srgbClr val="E8A01E"/>
          </a:solidFill>
          <a:ln w="12700">
            <a:solidFill>
              <a:srgbClr val="E8A01E"/>
            </a:solidFill>
            <a:prstDash val="solid"/>
          </a:ln>
        </p:spPr>
      </p:sp>
      <p:sp>
        <p:nvSpPr>
          <p:cNvPr id="33" name="Text 30"/>
          <p:cNvSpPr/>
          <p:nvPr/>
        </p:nvSpPr>
        <p:spPr>
          <a:xfrm>
            <a:off x="8878824" y="3264408"/>
            <a:ext cx="182880" cy="146304"/>
          </a:xfrm>
          <a:prstGeom prst="rect">
            <a:avLst/>
          </a:prstGeom>
          <a:noFill/>
          <a:ln/>
        </p:spPr>
        <p:txBody>
          <a:bodyPr wrap="square" lIns="0" tIns="0" rIns="0" bIns="0" rtlCol="0" anchor="ctr"/>
          <a:lstStyle/>
          <a:p>
            <a:pPr indent="0" marL="0">
              <a:buNone/>
            </a:pPr>
            <a:r>
              <a:rPr lang="en-US" sz="900" b="1" dirty="0">
                <a:solidFill>
                  <a:srgbClr val="E8A01E"/>
                </a:solidFill>
                <a:latin typeface="Calibri" pitchFamily="34" charset="0"/>
                <a:ea typeface="Calibri" pitchFamily="34" charset="-122"/>
                <a:cs typeface="Calibri" pitchFamily="34" charset="-120"/>
              </a:rPr>
              <a:t>1</a:t>
            </a:r>
            <a:endParaRPr lang="en-US" sz="900" dirty="0"/>
          </a:p>
        </p:txBody>
      </p:sp>
      <p:sp>
        <p:nvSpPr>
          <p:cNvPr id="34" name="Text 31"/>
          <p:cNvSpPr/>
          <p:nvPr/>
        </p:nvSpPr>
        <p:spPr>
          <a:xfrm>
            <a:off x="6492240" y="3483864"/>
            <a:ext cx="2331720" cy="146304"/>
          </a:xfrm>
          <a:prstGeom prst="rect">
            <a:avLst/>
          </a:prstGeom>
          <a:noFill/>
          <a:ln/>
        </p:spPr>
        <p:txBody>
          <a:bodyPr wrap="square" lIns="0" tIns="0" rIns="0" bIns="0" rtlCol="0" anchor="ctr"/>
          <a:lstStyle/>
          <a:p>
            <a:pPr indent="0" marL="0">
              <a:buNone/>
            </a:pPr>
            <a:r>
              <a:rPr lang="en-US" sz="800" dirty="0">
                <a:solidFill>
                  <a:srgbClr val="1A2640"/>
                </a:solidFill>
                <a:latin typeface="Calibri" pitchFamily="34" charset="0"/>
                <a:ea typeface="Calibri" pitchFamily="34" charset="-122"/>
                <a:cs typeface="Calibri" pitchFamily="34" charset="-120"/>
              </a:rPr>
              <a:t>Regular Backups</a:t>
            </a:r>
            <a:endParaRPr lang="en-US" sz="800" dirty="0"/>
          </a:p>
        </p:txBody>
      </p:sp>
      <p:sp>
        <p:nvSpPr>
          <p:cNvPr id="35" name="Shape 32"/>
          <p:cNvSpPr/>
          <p:nvPr/>
        </p:nvSpPr>
        <p:spPr>
          <a:xfrm>
            <a:off x="6492240" y="3639312"/>
            <a:ext cx="2331720" cy="91440"/>
          </a:xfrm>
          <a:prstGeom prst="rect">
            <a:avLst/>
          </a:prstGeom>
          <a:solidFill>
            <a:srgbClr val="E8EBF0"/>
          </a:solidFill>
          <a:ln w="12700">
            <a:solidFill>
              <a:srgbClr val="E8EBF0"/>
            </a:solidFill>
            <a:prstDash val="solid"/>
          </a:ln>
        </p:spPr>
      </p:sp>
      <p:sp>
        <p:nvSpPr>
          <p:cNvPr id="36" name="Shape 33"/>
          <p:cNvSpPr/>
          <p:nvPr/>
        </p:nvSpPr>
        <p:spPr>
          <a:xfrm>
            <a:off x="6492240" y="3639312"/>
            <a:ext cx="777240" cy="91440"/>
          </a:xfrm>
          <a:prstGeom prst="rect">
            <a:avLst/>
          </a:prstGeom>
          <a:solidFill>
            <a:srgbClr val="E8A01E"/>
          </a:solidFill>
          <a:ln w="12700">
            <a:solidFill>
              <a:srgbClr val="E8A01E"/>
            </a:solidFill>
            <a:prstDash val="solid"/>
          </a:ln>
        </p:spPr>
      </p:sp>
      <p:sp>
        <p:nvSpPr>
          <p:cNvPr id="37" name="Text 34"/>
          <p:cNvSpPr/>
          <p:nvPr/>
        </p:nvSpPr>
        <p:spPr>
          <a:xfrm>
            <a:off x="8878824" y="3602736"/>
            <a:ext cx="182880" cy="146304"/>
          </a:xfrm>
          <a:prstGeom prst="rect">
            <a:avLst/>
          </a:prstGeom>
          <a:noFill/>
          <a:ln/>
        </p:spPr>
        <p:txBody>
          <a:bodyPr wrap="square" lIns="0" tIns="0" rIns="0" bIns="0" rtlCol="0" anchor="ctr"/>
          <a:lstStyle/>
          <a:p>
            <a:pPr indent="0" marL="0">
              <a:buNone/>
            </a:pPr>
            <a:r>
              <a:rPr lang="en-US" sz="900" b="1" dirty="0">
                <a:solidFill>
                  <a:srgbClr val="E8A01E"/>
                </a:solidFill>
                <a:latin typeface="Calibri" pitchFamily="34" charset="0"/>
                <a:ea typeface="Calibri" pitchFamily="34" charset="-122"/>
                <a:cs typeface="Calibri" pitchFamily="34" charset="-120"/>
              </a:rPr>
              <a:t>1</a:t>
            </a:r>
            <a:endParaRPr lang="en-US" sz="900" dirty="0"/>
          </a:p>
        </p:txBody>
      </p:sp>
      <p:sp>
        <p:nvSpPr>
          <p:cNvPr id="38" name="Text 35"/>
          <p:cNvSpPr/>
          <p:nvPr/>
        </p:nvSpPr>
        <p:spPr>
          <a:xfrm>
            <a:off x="6492240" y="3840480"/>
            <a:ext cx="1554480" cy="201168"/>
          </a:xfrm>
          <a:prstGeom prst="rect">
            <a:avLst/>
          </a:prstGeom>
          <a:noFill/>
          <a:ln/>
        </p:spPr>
        <p:txBody>
          <a:bodyPr wrap="square" lIns="0" tIns="0" rIns="0" bIns="0" rtlCol="0" anchor="ctr"/>
          <a:lstStyle/>
          <a:p>
            <a:pPr indent="0" marL="0">
              <a:buNone/>
            </a:pPr>
            <a:r>
              <a:rPr lang="en-US" sz="1000" b="1" dirty="0">
                <a:solidFill>
                  <a:srgbClr val="0F1C35"/>
                </a:solidFill>
                <a:latin typeface="Calibri" pitchFamily="34" charset="0"/>
                <a:ea typeface="Calibri" pitchFamily="34" charset="-122"/>
                <a:cs typeface="Calibri" pitchFamily="34" charset="-120"/>
              </a:rPr>
              <a:t>Overall Maturity</a:t>
            </a:r>
            <a:endParaRPr lang="en-US" sz="1000" dirty="0"/>
          </a:p>
        </p:txBody>
      </p:sp>
      <p:sp>
        <p:nvSpPr>
          <p:cNvPr id="39" name="Text 36"/>
          <p:cNvSpPr/>
          <p:nvPr/>
        </p:nvSpPr>
        <p:spPr>
          <a:xfrm>
            <a:off x="8046720" y="3813048"/>
            <a:ext cx="777240" cy="237744"/>
          </a:xfrm>
          <a:prstGeom prst="rect">
            <a:avLst/>
          </a:prstGeom>
          <a:noFill/>
          <a:ln/>
        </p:spPr>
        <p:txBody>
          <a:bodyPr wrap="square" lIns="0" tIns="0" rIns="0" bIns="0" rtlCol="0" anchor="ctr"/>
          <a:lstStyle/>
          <a:p>
            <a:pPr algn="r" indent="0" marL="0">
              <a:buNone/>
            </a:pPr>
            <a:r>
              <a:rPr lang="en-US" sz="1400" b="1" dirty="0">
                <a:solidFill>
                  <a:srgbClr val="D94F3D"/>
                </a:solidFill>
                <a:latin typeface="Calibri" pitchFamily="34" charset="0"/>
                <a:ea typeface="Calibri" pitchFamily="34" charset="-122"/>
                <a:cs typeface="Calibri" pitchFamily="34" charset="-120"/>
              </a:rPr>
              <a:t>0.95 / 3.0</a:t>
            </a:r>
            <a:endParaRPr lang="en-US" sz="1400" dirty="0"/>
          </a:p>
        </p:txBody>
      </p:sp>
      <p:sp>
        <p:nvSpPr>
          <p:cNvPr id="40" name="Text 37"/>
          <p:cNvSpPr/>
          <p:nvPr/>
        </p:nvSpPr>
        <p:spPr>
          <a:xfrm>
            <a:off x="6492240" y="4041648"/>
            <a:ext cx="2331720" cy="164592"/>
          </a:xfrm>
          <a:prstGeom prst="rect">
            <a:avLst/>
          </a:prstGeom>
          <a:noFill/>
          <a:ln/>
        </p:spPr>
        <p:txBody>
          <a:bodyPr wrap="square" lIns="0" tIns="0" rIns="0" bIns="0" rtlCol="0" anchor="ctr"/>
          <a:lstStyle/>
          <a:p>
            <a:pPr algn="r" indent="0" marL="0">
              <a:buNone/>
            </a:pPr>
            <a:r>
              <a:rPr lang="en-US" sz="800" i="1" dirty="0">
                <a:solidFill>
                  <a:srgbClr val="6B7A96"/>
                </a:solidFill>
                <a:latin typeface="Calibri" pitchFamily="34" charset="0"/>
                <a:ea typeface="Calibri" pitchFamily="34" charset="-122"/>
                <a:cs typeface="Calibri" pitchFamily="34" charset="-120"/>
              </a:rPr>
              <a:t>Target: ≥ 2.0 by Sep 2027</a:t>
            </a:r>
            <a:endParaRPr lang="en-US" sz="800" dirty="0"/>
          </a:p>
        </p:txBody>
      </p:sp>
      <p:sp>
        <p:nvSpPr>
          <p:cNvPr id="41" name="Text 38"/>
          <p:cNvSpPr/>
          <p:nvPr/>
        </p:nvSpPr>
        <p:spPr>
          <a:xfrm>
            <a:off x="457200" y="4942332"/>
            <a:ext cx="8686800" cy="146304"/>
          </a:xfrm>
          <a:prstGeom prst="rect">
            <a:avLst/>
          </a:prstGeom>
          <a:noFill/>
          <a:ln/>
        </p:spPr>
        <p:txBody>
          <a:bodyPr wrap="square" lIns="0" tIns="0" rIns="0" bIns="0" rtlCol="0" anchor="ctr"/>
          <a:lstStyle/>
          <a:p>
            <a:pPr indent="0" marL="0">
              <a:buNone/>
            </a:pPr>
            <a:r>
              <a:rPr lang="en-US" sz="750" i="1" dirty="0">
                <a:solidFill>
                  <a:srgbClr val="6B7A96"/>
                </a:solidFill>
                <a:latin typeface="Calibri" pitchFamily="34" charset="0"/>
                <a:ea typeface="Calibri" pitchFamily="34" charset="-122"/>
                <a:cs typeface="Calibri" pitchFamily="34" charset="-120"/>
              </a:rPr>
              <a:t>Ref: https://www.cyber.gov.au/resources-business-and-government/essential-cybersecurity/essential-eight</a:t>
            </a:r>
            <a:endParaRPr lang="en-US" sz="750" dirty="0"/>
          </a:p>
        </p:txBody>
      </p:sp>
      <p:sp>
        <p:nvSpPr>
          <p:cNvPr id="42" name="Shape 39"/>
          <p:cNvSpPr/>
          <p:nvPr/>
        </p:nvSpPr>
        <p:spPr>
          <a:xfrm>
            <a:off x="0" y="5093208"/>
            <a:ext cx="9144000" cy="50292"/>
          </a:xfrm>
          <a:prstGeom prst="rect">
            <a:avLst/>
          </a:prstGeom>
          <a:solidFill>
            <a:srgbClr val="00A5B5"/>
          </a:solidFill>
          <a:ln w="12700">
            <a:solidFill>
              <a:srgbClr val="00A5B5"/>
            </a:solidFill>
            <a:prstDash val="solid"/>
          </a:ln>
        </p:spPr>
      </p:sp>
      <p:sp>
        <p:nvSpPr>
          <p:cNvPr id="43" name="Shape 40"/>
          <p:cNvSpPr/>
          <p:nvPr/>
        </p:nvSpPr>
        <p:spPr>
          <a:xfrm>
            <a:off x="8503920" y="4549140"/>
            <a:ext cx="384048" cy="384048"/>
          </a:xfrm>
          <a:prstGeom prst="ellipse">
            <a:avLst/>
          </a:prstGeom>
          <a:solidFill>
            <a:srgbClr val="E8EBF0"/>
          </a:solidFill>
          <a:ln w="12700">
            <a:solidFill>
              <a:srgbClr val="B0B8C8"/>
            </a:solidFill>
            <a:prstDash val="solid"/>
          </a:ln>
        </p:spPr>
      </p:sp>
      <p:sp>
        <p:nvSpPr>
          <p:cNvPr id="44" name="Text 41"/>
          <p:cNvSpPr/>
          <p:nvPr/>
        </p:nvSpPr>
        <p:spPr>
          <a:xfrm>
            <a:off x="8503920" y="4549140"/>
            <a:ext cx="384048" cy="384048"/>
          </a:xfrm>
          <a:prstGeom prst="rect">
            <a:avLst/>
          </a:prstGeom>
          <a:noFill/>
          <a:ln/>
        </p:spPr>
        <p:txBody>
          <a:bodyPr wrap="square" lIns="0" tIns="0" rIns="0" bIns="0" rtlCol="0" anchor="ctr"/>
          <a:lstStyle/>
          <a:p>
            <a:pPr algn="ctr" indent="0" marL="0">
              <a:buNone/>
            </a:pPr>
            <a:r>
              <a:rPr lang="en-US" sz="1600" b="1" dirty="0">
                <a:solidFill>
                  <a:srgbClr val="1B2A4A"/>
                </a:solidFill>
                <a:latin typeface="Calibri" pitchFamily="34" charset="0"/>
                <a:ea typeface="Calibri" pitchFamily="34" charset="-122"/>
                <a:cs typeface="Calibri" pitchFamily="34" charset="-120"/>
              </a:rPr>
              <a:t>P</a:t>
            </a:r>
            <a:endParaRPr lang="en-US" sz="1600" dirty="0"/>
          </a:p>
        </p:txBody>
      </p:sp>
      <p:sp>
        <p:nvSpPr>
          <p:cNvPr id="45" name="Text 42"/>
          <p:cNvSpPr/>
          <p:nvPr/>
        </p:nvSpPr>
        <p:spPr>
          <a:xfrm>
            <a:off x="8641080" y="4887468"/>
            <a:ext cx="365760" cy="182880"/>
          </a:xfrm>
          <a:prstGeom prst="rect">
            <a:avLst/>
          </a:prstGeom>
          <a:noFill/>
          <a:ln/>
        </p:spPr>
        <p:txBody>
          <a:bodyPr wrap="square" lIns="0" tIns="0" rIns="0" bIns="0" rtlCol="0" anchor="ctr"/>
          <a:lstStyle/>
          <a:p>
            <a:pPr algn="r" indent="0" marL="0">
              <a:buNone/>
            </a:pPr>
            <a:r>
              <a:rPr lang="en-US" sz="900" b="1" dirty="0">
                <a:solidFill>
                  <a:srgbClr val="B0B8C8"/>
                </a:solidFill>
                <a:latin typeface="Calibri" pitchFamily="34" charset="0"/>
                <a:ea typeface="Calibri" pitchFamily="34" charset="-122"/>
                <a:cs typeface="Calibri" pitchFamily="34" charset="-120"/>
              </a:rPr>
              <a:t>A-2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FleetPartners Cybersecurity Strategy Roadmap FY27</dc:title>
  <dc:subject>PptxGenJS Presentation</dc:subject>
  <dc:creator>PptxGenJS</dc:creator>
  <cp:lastModifiedBy>PptxGenJS</cp:lastModifiedBy>
  <cp:revision>1</cp:revision>
  <dcterms:created xsi:type="dcterms:W3CDTF">2026-04-16T01:03:56Z</dcterms:created>
  <dcterms:modified xsi:type="dcterms:W3CDTF">2026-04-16T01:03:56Z</dcterms:modified>
</cp:coreProperties>
</file>